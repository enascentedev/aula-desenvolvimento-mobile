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76" r:id="rId27"/>
    <p:sldId id="263" r:id="rId9"/>
    <p:sldId id="264" r:id="rId10"/>
    <p:sldId id="265" r:id="rId11"/>
    <p:sldId id="266" r:id="rId12"/>
    <p:sldId id="277" r:id="rId28"/>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slide" Target="slides/slide20.xml"/><Relationship Id="rId20" Type="http://schemas.openxmlformats.org/officeDocument/2006/relationships/slide" Target="slides/slide21.xml"/><Relationship Id="rId21" Type="http://schemas.openxmlformats.org/officeDocument/2006/relationships/slide" Target="slides/slide22.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8.xml"/><Relationship Id="rId2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400" b="1"/>
              <a:t>SLIDE 01 · Desenvolvimento Mobile</a:t>
            </a:r>
            <a:endParaRPr lang="en-US" dirty="0"/>
          </a:p>
          <a:p>
            <a:r>
              <a:rPr sz="1400" b="1"/>
              <a:t>[2 min] · Abertura</a:t>
            </a:r>
          </a:p>
          <a:p>
            <a:r>
              <a:rPr sz="1400"/>
              <a:t/>
            </a:r>
          </a:p>
          <a:p>
            <a:r>
              <a:rPr sz="1400" b="1"/>
              <a:t>FALA SUGERIDA:</a:t>
            </a:r>
          </a:p>
          <a:p>
            <a:r>
              <a:rPr sz="1400"/>
              <a:t>Boa noite, pessoal. Eu sou o Emanuel Nascente e vou acompanhar vocês na disciplina de Desenvolvimento Mobile. Hoje eu não quero que vocês saiam daqui decorando código. Quero que saiam entendendo o que é desenvolvimento mobile e quais caminhos podemos usar para construir um aplicativo.</a:t>
            </a:r>
          </a:p>
          <a:p>
            <a:r>
              <a:rPr sz="1400"/>
              <a:t/>
            </a:r>
          </a:p>
          <a:p>
            <a:r>
              <a:rPr sz="1400" b="1"/>
              <a:t>FOCO:</a:t>
            </a:r>
          </a:p>
          <a:p>
            <a:r>
              <a:rPr sz="1400"/>
              <a:t>Acolhimento · reduzir ansiedade · avisar que há prática sem cobrança de sintaxe.</a:t>
            </a:r>
          </a:p>
          <a:p>
            <a:r>
              <a:rPr sz="1400"/>
              <a:t/>
            </a:r>
          </a:p>
          <a:p>
            <a:r>
              <a:rPr sz="1400" b="1"/>
              <a:t>TRANSIÇÃO:</a:t>
            </a:r>
          </a:p>
          <a:p>
            <a:r>
              <a:rPr sz="1400"/>
              <a:t>“Antes de falar de tecnologia, quero mostrar como organizei nosso primeiro encontro.”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400" b="1"/>
              <a:t>SLIDE 02 · Plano da primeira aula</a:t>
            </a:r>
            <a:endParaRPr lang="en-US" dirty="0"/>
          </a:p>
          <a:p>
            <a:r>
              <a:rPr sz="1400" b="1"/>
              <a:t>[3 min] · Abertura</a:t>
            </a:r>
          </a:p>
          <a:p>
            <a:r>
              <a:rPr sz="1400"/>
              <a:t/>
            </a:r>
          </a:p>
          <a:p>
            <a:r>
              <a:rPr sz="1400" b="1"/>
              <a:t>FALA SUGERIDA:</a:t>
            </a:r>
          </a:p>
          <a:p>
            <a:r>
              <a:rPr sz="1400"/>
              <a:t>A aula está dividida em duas partes. Na primeira, nos apresentamos e vemos as diferenças entre Web e Mobile, depois Nativo e Híbrido. Depois do intervalo entramos na parte prática.</a:t>
            </a:r>
          </a:p>
          <a:p>
            <a:r>
              <a:rPr sz="1400"/>
              <a:t/>
            </a:r>
          </a:p>
          <a:p>
            <a:r>
              <a:rPr sz="1400" b="1"/>
              <a:t>META DO ENCONTRO:</a:t>
            </a:r>
          </a:p>
          <a:p>
            <a:r>
              <a:rPr sz="1400"/>
              <a:t>“No final da aula eu quero perguntar a qualquer um de vocês qual a diferença entre Web, Mobile nativo e híbrido — e vocês conseguirem explicar com suas palavras.”</a:t>
            </a:r>
          </a:p>
          <a:p>
            <a:r>
              <a:rPr sz="1400"/>
              <a:t/>
            </a:r>
          </a:p>
          <a:p>
            <a:r>
              <a:rPr sz="1400" b="1"/>
              <a:t>EVITAR:</a:t>
            </a:r>
          </a:p>
          <a:p>
            <a:r>
              <a:rPr sz="1400"/>
              <a:t>Não explicar cada tecnologia do semestre aqui. O slide é só um mapa.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400" b="1"/>
              <a:t>SLIDE 03 · Apresentação do professor</a:t>
            </a:r>
            <a:endParaRPr lang="en-US" dirty="0"/>
          </a:p>
          <a:p>
            <a:r>
              <a:rPr sz="1400" b="1"/>
              <a:t>[6–8 min] · Abertura</a:t>
            </a:r>
          </a:p>
          <a:p>
            <a:r>
              <a:rPr sz="1400"/>
              <a:t/>
            </a:r>
          </a:p>
          <a:p>
            <a:r>
              <a:rPr sz="1400" b="1"/>
              <a:t>FALA SUGERIDA:</a:t>
            </a:r>
          </a:p>
          <a:p>
            <a:r>
              <a:rPr sz="1400"/>
              <a:t>Gosto de trabalhar a programação entendendo primeiro o problema que estamos resolvendo. Vocês vão perceber que eu não quero mostrar só qual código escrever, mas por que escolhemos determinada solução.</a:t>
            </a:r>
          </a:p>
          <a:p>
            <a:r>
              <a:rPr sz="1400"/>
              <a:t/>
            </a:r>
          </a:p>
          <a:p>
            <a:r>
              <a:rPr sz="1400" b="1"/>
              <a:t>FOCO:</a:t>
            </a:r>
          </a:p>
          <a:p>
            <a:r>
              <a:rPr sz="1400"/>
              <a:t>Fluxo das aulas: conceito → demonstração → prática. Errar faz parte.</a:t>
            </a:r>
          </a:p>
          <a:p>
            <a:r>
              <a:rPr sz="1400"/>
              <a:t/>
            </a:r>
          </a:p>
          <a:p>
            <a:r>
              <a:rPr sz="1400" b="1"/>
              <a:t>EVITAR:</a:t>
            </a:r>
          </a:p>
          <a:p>
            <a:r>
              <a:rPr sz="1400"/>
              <a:t>Transformar em currículo profissional longo.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400" b="1"/>
              <a:t>SLIDE 04 · Apresentação dos alunos</a:t>
            </a:r>
            <a:endParaRPr lang="en-US" dirty="0"/>
          </a:p>
          <a:p>
            <a:r>
              <a:rPr sz="1400" b="1"/>
              <a:t>[~30 min] · Diagnóstico</a:t>
            </a:r>
          </a:p>
          <a:p>
            <a:r>
              <a:rPr sz="1400"/>
              <a:t/>
            </a:r>
          </a:p>
          <a:p>
            <a:r>
              <a:rPr sz="1400" b="1"/>
              <a:t>FALA SUGERIDA:</a:t>
            </a:r>
          </a:p>
          <a:p>
            <a:r>
              <a:rPr sz="1400"/>
              <a:t>Vamos manter aproximadamente um minuto por pessoa. Não é entrevista e não existe resposta certa. Quero descobrir o que vocês já viram nos módulos anteriores.</a:t>
            </a:r>
          </a:p>
          <a:p>
            <a:r>
              <a:rPr sz="1400"/>
              <a:t/>
            </a:r>
          </a:p>
          <a:p>
            <a:r>
              <a:rPr sz="1400" b="1"/>
              <a:t>ANOTAR:</a:t>
            </a:r>
          </a:p>
          <a:p>
            <a:r>
              <a:rPr sz="1400"/>
              <a:t>Recorrências: Java · JavaScript · PHP · Python · HTML/CSS · banco de dados · OO · Git · APIs · quem já tentou criar apps.</a:t>
            </a:r>
          </a:p>
          <a:p>
            <a:r>
              <a:rPr sz="1400"/>
              <a:t/>
            </a:r>
          </a:p>
          <a:p>
            <a:r>
              <a:rPr sz="1400" b="1"/>
              <a:t>ATENÇÃO:</a:t>
            </a:r>
          </a:p>
          <a:p>
            <a:r>
              <a:rPr sz="1400"/>
              <a:t>O slide prevê 25 min. Conte com ~30 — alunos passam do minuto. Use o material “Mapa da Turma” para manter a turma ativa enquanto os colegas falam.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400" b="1"/>
              <a:t>SLIDE 05 · O que vamos aprender no semestre</a:t>
            </a:r>
            <a:endParaRPr lang="en-US" dirty="0"/>
          </a:p>
          <a:p>
            <a:r>
              <a:rPr sz="1400" b="1"/>
              <a:t>[6 min] · Panorama</a:t>
            </a:r>
          </a:p>
          <a:p>
            <a:r>
              <a:rPr sz="1400"/>
              <a:t/>
            </a:r>
          </a:p>
          <a:p>
            <a:r>
              <a:rPr sz="1400" b="1"/>
              <a:t>FALA SUGERIDA:</a:t>
            </a:r>
          </a:p>
          <a:p>
            <a:r>
              <a:rPr sz="1400"/>
              <a:t>Hoje começamos pelo primeiro bloco: entender o ecossistema mobile e as formas de construir uma aplicação. Mais adiante: Android nativo com Kotlin, o papel do Java, React Native e Flutter, UX, testes e publicação.</a:t>
            </a:r>
          </a:p>
          <a:p>
            <a:r>
              <a:rPr sz="1400"/>
              <a:t/>
            </a:r>
          </a:p>
          <a:p>
            <a:r>
              <a:rPr sz="1400" b="1"/>
              <a:t>FOCO:</a:t>
            </a:r>
          </a:p>
          <a:p>
            <a:r>
              <a:rPr sz="1400"/>
              <a:t>Mostrar continuidade sem aprofundar nenhum item.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400" b="1"/>
              <a:t>SLIDE 06 · Pergunta de partida</a:t>
            </a:r>
            <a:endParaRPr lang="en-US" dirty="0"/>
          </a:p>
          <a:p>
            <a:r>
              <a:rPr sz="1400" b="1"/>
              <a:t>[7–8 min] · Conceito</a:t>
            </a:r>
          </a:p>
          <a:p>
            <a:r>
              <a:rPr sz="1400"/>
              <a:t/>
            </a:r>
          </a:p>
          <a:p>
            <a:r>
              <a:rPr sz="1400" b="1"/>
              <a:t>FALA SUGERIDA:</a:t>
            </a:r>
          </a:p>
          <a:p>
            <a:r>
              <a:rPr sz="1400"/>
              <a:t>Um site aberto no celular é um aplicativo mobile? — Pare e espere. Peça dois ou três argumentos antes de seguir.</a:t>
            </a:r>
          </a:p>
          <a:p>
            <a:r>
              <a:rPr sz="1400"/>
              <a:t/>
            </a:r>
          </a:p>
          <a:p>
            <a:r>
              <a:rPr sz="1400" b="1"/>
              <a:t>FOCO:</a:t>
            </a:r>
          </a:p>
          <a:p>
            <a:r>
              <a:rPr sz="1400"/>
              <a:t>A pergunta separa duas coisas: o dispositivo onde o usuário está e a forma como o software foi construído e entregue.</a:t>
            </a:r>
          </a:p>
          <a:p>
            <a:r>
              <a:rPr sz="1400"/>
              <a:t/>
            </a:r>
          </a:p>
          <a:p>
            <a:r>
              <a:rPr sz="1400" b="1"/>
              <a:t>ATENÇÃO:</a:t>
            </a:r>
          </a:p>
          <a:p>
            <a:r>
              <a:rPr sz="1400"/>
              <a:t>Não diga que aplicações web “não acessam recursos do aparelho”. Navegadores modernos acessam vários. O ponto certo é que apps instalados têm integração mais direta e controlada pelo sistema.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400" b="1"/>
              <a:t>SLIDE 07 · Aplicação Web × Aplicação Mobile</a:t>
            </a:r>
            <a:endParaRPr lang="en-US" dirty="0"/>
          </a:p>
          <a:p>
            <a:r>
              <a:rPr sz="1400" b="1"/>
              <a:t>[10 min] · Conceito</a:t>
            </a:r>
          </a:p>
          <a:p>
            <a:r>
              <a:rPr sz="1400"/>
              <a:t/>
            </a:r>
          </a:p>
          <a:p>
            <a:r>
              <a:rPr sz="1400" b="1"/>
              <a:t>FALA SUGERIDA:</a:t>
            </a:r>
          </a:p>
          <a:p>
            <a:r>
              <a:rPr sz="1400"/>
              <a:t>Usuário → navegador → aplicação web → servidor/API. Quando falamos de app instalado, existe outra camada: ele executa dentro do Android ou iOS e segue as regras daquele sistema.</a:t>
            </a:r>
          </a:p>
          <a:p>
            <a:r>
              <a:rPr sz="1400"/>
              <a:t/>
            </a:r>
          </a:p>
          <a:p>
            <a:r>
              <a:rPr sz="1400" b="1"/>
              <a:t>PERGUNTA PARA A TURMA:</a:t>
            </a:r>
          </a:p>
          <a:p>
            <a:r>
              <a:rPr sz="1400"/>
              <a:t>“Pensem em um app bancário. O que muda quando eu tenho o aplicativo instalado em vez de entrar pelo navegador?” — biometria, notificações, câmera para QR Code.</a:t>
            </a:r>
          </a:p>
          <a:p>
            <a:r>
              <a:rPr sz="1400"/>
              <a:t/>
            </a:r>
          </a:p>
          <a:p>
            <a:r>
              <a:rPr sz="1400" b="1"/>
              <a:t>FOCO:</a:t>
            </a:r>
          </a:p>
          <a:p>
            <a:r>
              <a:rPr sz="1400"/>
              <a:t>Não é que Web seja inferior. São ambientes de execução e distribuição diferentes.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400" b="1"/>
              <a:t>SLIDE 09 · Recursos que tornam o mobile diferente</a:t>
            </a:r>
            <a:endParaRPr lang="en-US" dirty="0"/>
          </a:p>
          <a:p>
            <a:r>
              <a:rPr sz="1400" b="1"/>
              <a:t>[7 min] · Conceito</a:t>
            </a:r>
          </a:p>
          <a:p>
            <a:r>
              <a:rPr sz="1400"/>
              <a:t/>
            </a:r>
          </a:p>
          <a:p>
            <a:r>
              <a:rPr sz="1400" b="1"/>
              <a:t>FALA SUGERIDA:</a:t>
            </a:r>
          </a:p>
          <a:p>
            <a:r>
              <a:rPr sz="1400"/>
              <a:t>Quando desenvolvemos para mobile, olhamos o aparelho como parte da aplicação: câmera, GPS, biometria, Bluetooth, notificações, sensores.</a:t>
            </a:r>
          </a:p>
          <a:p>
            <a:r>
              <a:rPr sz="1400"/>
              <a:t/>
            </a:r>
          </a:p>
          <a:p>
            <a:r>
              <a:rPr sz="1400" b="1"/>
              <a:t>PERGUNTA PARA A TURMA:</a:t>
            </a:r>
          </a:p>
          <a:p>
            <a:r>
              <a:rPr sz="1400"/>
              <a:t>“Qual desses recursos vocês usaram hoje?” — WhatsApp, Uber, banco, fones.</a:t>
            </a:r>
          </a:p>
          <a:p>
            <a:r>
              <a:rPr sz="1400"/>
              <a:t/>
            </a:r>
          </a:p>
          <a:p>
            <a:r>
              <a:rPr sz="1400" b="1"/>
              <a:t>FOCO:</a:t>
            </a:r>
          </a:p>
          <a:p>
            <a:r>
              <a:rPr sz="1400"/>
              <a:t>Preparar a ideia: quanto mais o projeto depende de integração específica, mais isso influencia a escolha tecnológica.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400" b="1"/>
              <a:t>SLIDE 10 · Aplicativo nativo</a:t>
            </a:r>
            <a:endParaRPr lang="en-US" dirty="0"/>
          </a:p>
          <a:p>
            <a:r>
              <a:rPr sz="1400" b="1"/>
              <a:t>[8 min] · Conceito</a:t>
            </a:r>
          </a:p>
          <a:p>
            <a:r>
              <a:rPr sz="1400"/>
              <a:t/>
            </a:r>
          </a:p>
          <a:p>
            <a:r>
              <a:rPr sz="1400" b="1"/>
              <a:t>FALA SUGERIDA:</a:t>
            </a:r>
          </a:p>
          <a:p>
            <a:r>
              <a:rPr sz="1400"/>
              <a:t>Nativo é construir com tecnologias diretamente ligadas à plataforma. No Android, Kotlin é a principal hoje, com Java ainda presente em muitos projetos. No iOS, Swift.</a:t>
            </a:r>
          </a:p>
          <a:p>
            <a:r>
              <a:rPr sz="1400"/>
              <a:t/>
            </a:r>
          </a:p>
          <a:p>
            <a:r>
              <a:rPr sz="1400" b="1"/>
              <a:t>MENSAGEM-CHAVE:</a:t>
            </a:r>
          </a:p>
          <a:p>
            <a:r>
              <a:rPr sz="1400"/>
              <a:t>“Nativo não significa automaticamente melhor. Significa que estou trabalhando diretamente com o ecossistema daquela plataforma.”</a:t>
            </a:r>
          </a:p>
          <a:p>
            <a:r>
              <a:rPr sz="1400"/>
              <a:t/>
            </a:r>
          </a:p>
          <a:p>
            <a:r>
              <a:rPr sz="1400" b="1"/>
              <a:t>DESIGN:</a:t>
            </a:r>
          </a:p>
          <a:p>
            <a:r>
              <a:rPr sz="1400"/>
              <a:t>Os ícones de Kotlin, Android e Apple estão nas telas dos aparelhos — ajudam o aluno a associar marca e plataforma.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400" b="1"/>
              <a:t>SLIDE 11 · Aplicativo híbrido / multiplataforma</a:t>
            </a:r>
            <a:endParaRPr lang="en-US" dirty="0"/>
          </a:p>
          <a:p>
            <a:r>
              <a:rPr sz="1400" b="1"/>
              <a:t>[8 min] · Conceito</a:t>
            </a:r>
          </a:p>
          <a:p>
            <a:r>
              <a:rPr sz="1400"/>
              <a:t/>
            </a:r>
          </a:p>
          <a:p>
            <a:r>
              <a:rPr sz="1400" b="1"/>
              <a:t>FALA SUGERIDA:</a:t>
            </a:r>
          </a:p>
          <a:p>
            <a:r>
              <a:rPr sz="1400"/>
              <a:t>Uma abordagem em que compartilhamos parte importante da base entre plataformas, em vez de manter um projeto totalmente separado para cada uma.</a:t>
            </a:r>
          </a:p>
          <a:p>
            <a:r>
              <a:rPr sz="1400"/>
              <a:t/>
            </a:r>
          </a:p>
          <a:p>
            <a:r>
              <a:rPr sz="1400" b="1"/>
              <a:t>MENSAGEM-CHAVE:</a:t>
            </a:r>
          </a:p>
          <a:p>
            <a:r>
              <a:rPr sz="1400"/>
              <a:t>“Compartilhar código não significa que tudo será 100% igual. Em projetos reais ainda existem adaptações por plataforma.”</a:t>
            </a:r>
          </a:p>
          <a:p>
            <a:r>
              <a:rPr sz="1400"/>
              <a:t/>
            </a:r>
          </a:p>
          <a:p>
            <a:r>
              <a:rPr sz="1400" b="1"/>
              <a:t>TRANSIÇÃO:</a:t>
            </a:r>
          </a:p>
          <a:p>
            <a:r>
              <a:rPr sz="1400"/>
              <a:t>“Então qual é melhor? Essa pergunta, do jeito que está, é a pergunta errada.”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400" b="1"/>
              <a:t>SLIDE 12 · Comparação simples</a:t>
            </a:r>
            <a:endParaRPr lang="en-US" dirty="0"/>
          </a:p>
          <a:p>
            <a:r>
              <a:rPr sz="1400" b="1"/>
              <a:t>[7 min] · Conceito</a:t>
            </a:r>
          </a:p>
          <a:p>
            <a:r>
              <a:rPr sz="1400"/>
              <a:t/>
            </a:r>
          </a:p>
          <a:p>
            <a:r>
              <a:rPr sz="1400" b="1"/>
              <a:t>FALA SUGERIDA:</a:t>
            </a:r>
          </a:p>
          <a:p>
            <a:r>
              <a:rPr sz="1400"/>
              <a:t>Não quero que vocês terminem dizendo “nativo é melhor” ou “React Native é melhor”. Quero que perguntem: melhor para qual problema?</a:t>
            </a:r>
          </a:p>
          <a:p>
            <a:r>
              <a:rPr sz="1400"/>
              <a:t/>
            </a:r>
          </a:p>
          <a:p>
            <a:r>
              <a:rPr sz="1400" b="1"/>
              <a:t>CRITÉRIOS:</a:t>
            </a:r>
          </a:p>
          <a:p>
            <a:r>
              <a:rPr sz="1400"/>
              <a:t>1. Plataformas · 2. Equipe · 3. Prazo · 4. Integração · 5. Manutenção</a:t>
            </a:r>
          </a:p>
          <a:p>
            <a:r>
              <a:rPr sz="1400"/>
              <a:t/>
            </a:r>
          </a:p>
          <a:p>
            <a:r>
              <a:rPr sz="1400" b="1"/>
              <a:t>ATENÇÃO:</a:t>
            </a:r>
          </a:p>
          <a:p>
            <a:r>
              <a:rPr sz="1400"/>
              <a:t>Não ensine como regra absoluta. São tendências e trade-offs, não leis.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400" b="1"/>
              <a:t>SLIDE 14 · Atividade relâmpago</a:t>
            </a:r>
            <a:endParaRPr lang="en-US" dirty="0"/>
          </a:p>
          <a:p>
            <a:r>
              <a:rPr sz="1400" b="1"/>
              <a:t>[5–7 min] · Prática</a:t>
            </a:r>
          </a:p>
          <a:p>
            <a:r>
              <a:rPr sz="1400"/>
              <a:t/>
            </a:r>
          </a:p>
          <a:p>
            <a:r>
              <a:rPr sz="1400" b="1"/>
              <a:t>FALA SUGERIDA:</a:t>
            </a:r>
          </a:p>
          <a:p>
            <a:r>
              <a:rPr sz="1400"/>
              <a:t>Cenário A: delivery para Android e iPhone, equipe pequena, pouco tempo. Depois mude: câmera, sensores, Bluetooth passam a ser centrais. Mantêm a escolha?</a:t>
            </a:r>
          </a:p>
          <a:p>
            <a:r>
              <a:rPr sz="1400"/>
              <a:t/>
            </a:r>
          </a:p>
          <a:p>
            <a:r>
              <a:rPr sz="1400" b="1"/>
              <a:t>FOCO:</a:t>
            </a:r>
          </a:p>
          <a:p>
            <a:r>
              <a:rPr sz="1400"/>
              <a:t>Pergunte sempre: “qual requisito fez você escolher isso?”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400" b="1"/>
              <a:t>SLIDE 15 · Intervalo</a:t>
            </a:r>
            <a:endParaRPr lang="en-US" dirty="0"/>
          </a:p>
          <a:p>
            <a:r>
              <a:rPr sz="1400" b="1"/>
              <a:t>[10–15 min] · Pausa</a:t>
            </a:r>
          </a:p>
          <a:p>
            <a:r>
              <a:rPr sz="1400"/>
              <a:t/>
            </a:r>
          </a:p>
          <a:p>
            <a:r>
              <a:rPr sz="1400" b="1"/>
              <a:t>SE FOR PLANO A:</a:t>
            </a:r>
          </a:p>
          <a:p>
            <a:r>
              <a:rPr sz="1400"/>
              <a:t>“Na volta vamos direto para os computadores. Primeiro uma verificação rápida do ambiente.”</a:t>
            </a:r>
          </a:p>
          <a:p>
            <a:r>
              <a:rPr sz="1400"/>
              <a:t/>
            </a:r>
          </a:p>
          <a:p>
            <a:r>
              <a:rPr sz="1400" b="1"/>
              <a:t>SE FOR PLANO B:</a:t>
            </a:r>
          </a:p>
          <a:p>
            <a:r>
              <a:rPr sz="1400"/>
              <a:t>“Na volta vocês vão trabalhar em equipes, cada uma com um cenário de projeto.”</a:t>
            </a:r>
          </a:p>
          <a:p>
            <a:r>
              <a:rPr sz="1400"/>
              <a:t/>
            </a:r>
          </a:p>
          <a:p>
            <a:r>
              <a:rPr sz="1400" b="1"/>
              <a:t>ATENÇÃO:</a:t>
            </a:r>
          </a:p>
          <a:p>
            <a:r>
              <a:rPr sz="1400"/>
              <a:t>Ponto de decisão. Faça o health check em no máximo 5 minutos.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400" b="1"/>
              <a:t>SLIDE 16 · Laboratório 01</a:t>
            </a:r>
            <a:endParaRPr lang="en-US" dirty="0"/>
          </a:p>
          <a:p>
            <a:r>
              <a:rPr sz="1400" b="1"/>
              <a:t>[5 min] · Plano A</a:t>
            </a:r>
          </a:p>
          <a:p>
            <a:r>
              <a:rPr sz="1400"/>
              <a:t/>
            </a:r>
          </a:p>
          <a:p>
            <a:r>
              <a:rPr sz="1400" b="1"/>
              <a:t>FALA SUGERIDA:</a:t>
            </a:r>
          </a:p>
          <a:p>
            <a:r>
              <a:rPr sz="1400"/>
              <a:t>Vamos criar dois projetos que mostram praticamente a mesma coisa na tela. A diferença está no caminho que usamos para chegar lá.</a:t>
            </a:r>
          </a:p>
          <a:p>
            <a:r>
              <a:rPr sz="1400"/>
              <a:t/>
            </a:r>
          </a:p>
          <a:p>
            <a:r>
              <a:rPr sz="1400" b="1"/>
              <a:t>FOCO:</a:t>
            </a:r>
          </a:p>
          <a:p>
            <a:r>
              <a:rPr sz="1400"/>
              <a:t>Não tentem entender cada arquivo. Observem ferramenta, linguagem, estrutura e forma de execução.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400" b="1"/>
              <a:t>SLIDE 17 · Antes de começar: checklist</a:t>
            </a:r>
            <a:endParaRPr lang="en-US" dirty="0"/>
          </a:p>
          <a:p>
            <a:r>
              <a:rPr sz="1400" b="1"/>
              <a:t>[5 min] · Plano A</a:t>
            </a:r>
          </a:p>
          <a:p>
            <a:r>
              <a:rPr sz="1400"/>
              <a:t/>
            </a:r>
          </a:p>
          <a:p>
            <a:r>
              <a:rPr sz="1400" b="1"/>
              <a:t>FALA SUGERIDA:</a:t>
            </a:r>
          </a:p>
          <a:p>
            <a:r>
              <a:rPr sz="1400"/>
              <a:t>Android Studio abre? Existe SDK? Temos emulador ou celular? node -v funciona? Temos internet?</a:t>
            </a:r>
          </a:p>
          <a:p>
            <a:r>
              <a:rPr sz="1400"/>
              <a:t/>
            </a:r>
          </a:p>
          <a:p>
            <a:r>
              <a:rPr sz="1400" b="1"/>
              <a:t>ATENÇÃO:</a:t>
            </a:r>
          </a:p>
          <a:p>
            <a:r>
              <a:rPr sz="1400"/>
              <a:t>Acrescente uma verificação que não está no slide: se ~/.gradle/caches estiver vazio, a primeira build leva ~15 minutos por máquina. Vazio na maioria → vá para o Plano B.</a:t>
            </a:r>
          </a:p>
          <a:p>
            <a:r>
              <a:rPr sz="1400"/>
              <a:t/>
            </a:r>
          </a:p>
          <a:p>
            <a:r>
              <a:rPr sz="1400" b="1"/>
              <a:t>EVITAR:</a:t>
            </a:r>
          </a:p>
          <a:p>
            <a:r>
              <a:rPr sz="1400"/>
              <a:t>Não comece a instalar Android Studio ou SDK durante a aula.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400" b="1"/>
              <a:t>SLIDE 18 · Parte A — Criando um app nativo</a:t>
            </a:r>
            <a:endParaRPr lang="en-US" dirty="0"/>
          </a:p>
          <a:p>
            <a:r>
              <a:rPr sz="1400" b="1"/>
              <a:t>[35 min] · Plano A</a:t>
            </a:r>
          </a:p>
          <a:p>
            <a:r>
              <a:rPr sz="1400"/>
              <a:t/>
            </a:r>
          </a:p>
          <a:p>
            <a:r>
              <a:rPr sz="1400" b="1"/>
              <a:t>FALA SUGERIDA:</a:t>
            </a:r>
          </a:p>
          <a:p>
            <a:r>
              <a:rPr sz="1400"/>
              <a:t>Neste momento quero que reconheçam duas coisas: isso é Kotlin, e a interface está sendo declarada com Jetpack Compose.</a:t>
            </a:r>
          </a:p>
          <a:p>
            <a:r>
              <a:rPr sz="1400"/>
              <a:t/>
            </a:r>
          </a:p>
          <a:p>
            <a:r>
              <a:rPr sz="1400" b="1"/>
              <a:t>ORDEM DE EXECUÇÃO:</a:t>
            </a:r>
          </a:p>
          <a:p>
            <a:r>
              <a:rPr sz="1400"/>
              <a:t>Execução: 1) emulador pronto · 2) celular autorizado · 3) Compose Preview, se estiver demorando.</a:t>
            </a:r>
          </a:p>
          <a:p>
            <a:r>
              <a:rPr sz="1400"/>
              <a:t/>
            </a:r>
          </a:p>
          <a:p>
            <a:r>
              <a:rPr sz="1400" b="1"/>
              <a:t>ATENÇÃO:</a:t>
            </a:r>
          </a:p>
          <a:p>
            <a:r>
              <a:rPr sz="1400"/>
              <a:t>Avise a turma que o slide é ilustrativo. A alteração real é trocar só o texto dentro da função Greeting gerada pelo template.</a:t>
            </a:r>
          </a:p>
          <a:p>
            <a:r>
              <a:rPr sz="1400"/>
              <a:t/>
            </a:r>
          </a:p>
          <a:p>
            <a:r>
              <a:rPr sz="1400" b="1"/>
              <a:t>CORREÇÃO APLICADA:</a:t>
            </a:r>
          </a:p>
          <a:p>
            <a:r>
              <a:rPr sz="1400"/>
              <a:t>O código deste slide foi corrigido. O trecho anterior mostrava a MainActivity inteira e não compilava — faltavam os imports do Compose.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400" b="1"/>
              <a:t>SLIDE 19 · Parte B — Criando um app híbrido</a:t>
            </a:r>
            <a:endParaRPr lang="en-US" dirty="0"/>
          </a:p>
          <a:p>
            <a:r>
              <a:rPr sz="1400" b="1"/>
              <a:t>[30 min] · Plano A</a:t>
            </a:r>
          </a:p>
          <a:p>
            <a:r>
              <a:rPr sz="1400"/>
              <a:t/>
            </a:r>
          </a:p>
          <a:p>
            <a:r>
              <a:rPr sz="1400" b="1"/>
              <a:t>FALA SUGERIDA:</a:t>
            </a:r>
          </a:p>
          <a:p>
            <a:r>
              <a:rPr sz="1400"/>
              <a:t>Aqui aparece JavaScript, componentes como View e Text, e uma estrutura completamente diferente da que acabamos de ver no Android Studio.</a:t>
            </a:r>
          </a:p>
          <a:p>
            <a:r>
              <a:rPr sz="1400"/>
              <a:t/>
            </a:r>
          </a:p>
          <a:p>
            <a:r>
              <a:rPr sz="1400" b="1"/>
              <a:t>PERGUNTA PARA A TURMA:</a:t>
            </a:r>
          </a:p>
          <a:p>
            <a:r>
              <a:rPr sz="1400"/>
              <a:t>“Onde está o Android Studio neste fluxo?” — é a pergunta mais importante do slide.</a:t>
            </a:r>
          </a:p>
          <a:p>
            <a:r>
              <a:rPr sz="1400"/>
              <a:t/>
            </a:r>
          </a:p>
          <a:p>
            <a:r>
              <a:rPr sz="1400" b="1"/>
              <a:t>DICA:</a:t>
            </a:r>
          </a:p>
          <a:p>
            <a:r>
              <a:rPr sz="1400"/>
              <a:t>Sem emulador e sem celular: npx expo start --web resolve a Parte B inteira no navegador.</a:t>
            </a:r>
          </a:p>
          <a:p>
            <a:r>
              <a:rPr sz="1400"/>
              <a:t/>
            </a:r>
          </a:p>
          <a:p>
            <a:r>
              <a:rPr sz="1400" b="1"/>
              <a:t>CORREÇÃO APLICADA:</a:t>
            </a:r>
          </a:p>
          <a:p>
            <a:r>
              <a:rPr sz="1400"/>
              <a:t>O comando foi corrigido para incluir --template blank. Sem ele, o Expo gera projeto com expo-router e o App.js que aparece no slide não existe.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400" b="1"/>
              <a:t>SLIDE 20 · Comparando os dois projetos</a:t>
            </a:r>
            <a:endParaRPr lang="en-US" dirty="0"/>
          </a:p>
          <a:p>
            <a:r>
              <a:rPr sz="1400" b="1"/>
              <a:t>[15 min] · Plano A</a:t>
            </a:r>
          </a:p>
          <a:p>
            <a:r>
              <a:rPr sz="1400"/>
              <a:t/>
            </a:r>
          </a:p>
          <a:p>
            <a:r>
              <a:rPr sz="1400" b="1"/>
              <a:t>FALA SUGERIDA:</a:t>
            </a:r>
          </a:p>
          <a:p>
            <a:r>
              <a:rPr sz="1400"/>
              <a:t>Para o usuário, as duas telas parecem iguais. Para nós, o caminho foi completamente diferente.</a:t>
            </a:r>
          </a:p>
          <a:p>
            <a:r>
              <a:rPr sz="1400"/>
              <a:t/>
            </a:r>
          </a:p>
          <a:p>
            <a:r>
              <a:rPr sz="1400" b="1"/>
              <a:t>PERGUNTA PARA A TURMA:</a:t>
            </a:r>
          </a:p>
          <a:p>
            <a:r>
              <a:rPr sz="1400"/>
              <a:t>“Se o resultado visual é parecido, onde está a diferença?”</a:t>
            </a:r>
          </a:p>
          <a:p>
            <a:r>
              <a:rPr sz="1400"/>
              <a:t/>
            </a:r>
          </a:p>
          <a:p>
            <a:r>
              <a:rPr sz="1400" b="1"/>
              <a:t>FOCO:</a:t>
            </a:r>
          </a:p>
          <a:p>
            <a:r>
              <a:rPr sz="1400"/>
              <a:t>A diferença de tempo eles acabaram de sentir esperando o Gradle. Nomear isso logo depois fixa mais que qualquer explicação teórica.</a:t>
            </a:r>
          </a:p>
          <a:p>
            <a:r>
              <a:rPr sz="1400"/>
              <a:t/>
            </a:r>
          </a:p>
          <a:p>
            <a:r>
              <a:rPr sz="1400" b="1"/>
              <a:t>NOVIDADE NESTA VERSÃO:</a:t>
            </a:r>
          </a:p>
          <a:p>
            <a:r>
              <a:rPr sz="1400"/>
              <a:t>Foi acrescentada a linha “tempo até a primeira tela”, que não existia.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400" b="1"/>
              <a:t>SLIDE 21 · Fechamento da aula</a:t>
            </a:r>
            <a:endParaRPr lang="en-US" dirty="0"/>
          </a:p>
          <a:p>
            <a:r>
              <a:rPr sz="1400" b="1"/>
              <a:t>[10 min] · Encerramento</a:t>
            </a:r>
          </a:p>
          <a:p>
            <a:r>
              <a:rPr sz="1400"/>
              <a:t/>
            </a:r>
          </a:p>
          <a:p>
            <a:r>
              <a:rPr sz="1400" b="1"/>
              <a:t>FALA SUGERIDA:</a:t>
            </a:r>
          </a:p>
          <a:p>
            <a:r>
              <a:rPr sz="1400"/>
              <a:t>Tentem explicar com as próprias palavras, sem definição de livro.</a:t>
            </a:r>
          </a:p>
          <a:p>
            <a:r>
              <a:rPr sz="1400"/>
              <a:t/>
            </a:r>
          </a:p>
          <a:p>
            <a:r>
              <a:rPr sz="1400" b="1"/>
              <a:t>DICA:</a:t>
            </a:r>
          </a:p>
          <a:p>
            <a:r>
              <a:rPr sz="1400"/>
              <a:t>Use a Folha de Fechamento impressa. Dita em voz alta, você ouve 3 alunos; impressa, você leva 25 diagnósticos para planejar a aula 02.</a:t>
            </a:r>
          </a:p>
          <a:p>
            <a:r>
              <a:rPr sz="1400"/>
              <a:t/>
            </a:r>
          </a:p>
          <a:p>
            <a:r>
              <a:rPr sz="1400" b="1"/>
              <a:t>ATENÇÃO:</a:t>
            </a:r>
          </a:p>
          <a:p>
            <a:r>
              <a:rPr sz="1400"/>
              <a:t>Se muitos ainda responderem “nativo é melhor porque é mais rápido”, retome a ideia de contexto antes de encerrar.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400" b="1"/>
              <a:t>SLIDE 22 · Obrigado + próxima aula</a:t>
            </a:r>
            <a:endParaRPr lang="en-US" dirty="0"/>
          </a:p>
          <a:p>
            <a:r>
              <a:rPr sz="1400" b="1"/>
              <a:t>[5 min] · Encerramento</a:t>
            </a:r>
          </a:p>
          <a:p>
            <a:r>
              <a:rPr sz="1400"/>
              <a:t/>
            </a:r>
          </a:p>
          <a:p>
            <a:r>
              <a:rPr sz="1400" b="1"/>
              <a:t>FALA SUGERIDA:</a:t>
            </a:r>
          </a:p>
          <a:p>
            <a:r>
              <a:rPr sz="1400"/>
              <a:t>Hoje o objetivo era abrir o mapa da disciplina. Na próxima aula avançamos na base técnica do ecossistema Android.</a:t>
            </a:r>
          </a:p>
          <a:p>
            <a:r>
              <a:rPr sz="1400"/>
              <a:t/>
            </a:r>
          </a:p>
          <a:p>
            <a:r>
              <a:rPr sz="1400" b="1"/>
              <a:t>FOCO:</a:t>
            </a:r>
          </a:p>
          <a:p>
            <a:r>
              <a:rPr sz="1400"/>
              <a:t>Este é o slide que fica projetado enquanto a turma guarda as coisas. Agora ele trabalha nesse tempo.</a:t>
            </a:r>
          </a:p>
          <a:p>
            <a:r>
              <a:rPr sz="1400"/>
              <a:t/>
            </a:r>
          </a:p>
          <a:p>
            <a:r>
              <a:rPr sz="1400" b="1"/>
              <a:t>NOVIDADE NESTA VERSÃO:</a:t>
            </a:r>
          </a:p>
          <a:p>
            <a:r>
              <a:rPr sz="1400"/>
              <a:t>O slide era só “Obrigado!”. Agora carrega a prévia da aula 02 e uma pergunta para levar para casa.</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b="1"/>
              <a:t>SLIDE 08 · Como funciona uma aplicação Mobile?</a:t>
            </a:r>
          </a:p>
          <a:p>
            <a:r>
              <a:rPr sz="1400" b="1"/>
              <a:t>[8 min] · Conceito</a:t>
            </a:r>
          </a:p>
          <a:p>
            <a:r>
              <a:rPr sz="1400"/>
              <a:t/>
            </a:r>
          </a:p>
          <a:p>
            <a:r>
              <a:rPr sz="1400" b="1"/>
              <a:t>FALA SUGERIDA:</a:t>
            </a:r>
          </a:p>
          <a:p>
            <a:r>
              <a:rPr sz="1400"/>
              <a:t>No slide anterior vimos o caminho de uma aplicação Web. No Mobile, o usuário toca no ícone de um aplicativo que já está instalado no aparelho. Esse app pode ser nativo, como um Android feito com Kotlin, ou multiplataforma, com React Native ou Flutter.</a:t>
            </a:r>
          </a:p>
          <a:p>
            <a:r>
              <a:rPr sz="1400"/>
              <a:t/>
            </a:r>
          </a:p>
          <a:p>
            <a:r>
              <a:rPr sz="1400" b="1"/>
              <a:t>MENSAGEM-CHAVE:</a:t>
            </a:r>
          </a:p>
          <a:p>
            <a:r>
              <a:rPr sz="1400"/>
              <a:t>“Não precisamos abrir um navegador. O software está instalado no dispositivo e pode se integrar diretamente aos recursos do sistema operacional.”</a:t>
            </a:r>
          </a:p>
          <a:p>
            <a:r>
              <a:rPr sz="1400"/>
              <a:t/>
            </a:r>
          </a:p>
          <a:p>
            <a:r>
              <a:rPr sz="1400" b="1"/>
              <a:t>FOCO:</a:t>
            </a:r>
          </a:p>
          <a:p>
            <a:r>
              <a:rPr sz="1400"/>
              <a:t>E isso não significa que o app tenha todos os dados dentro dele. Assim como na Web, ele consome uma API e busca informação em um servidor. A diferença está no ambiente onde a aplicação é executada.</a:t>
            </a:r>
          </a:p>
          <a:p>
            <a:r>
              <a:rPr sz="1400"/>
              <a:t/>
            </a:r>
          </a:p>
          <a:p>
            <a:r>
              <a:rPr sz="1400" b="1"/>
              <a:t>TRANSIÇÃO:</a:t>
            </a:r>
          </a:p>
          <a:p>
            <a:r>
              <a:rPr sz="1400"/>
              <a:t>“E o que significa estar integrado ao sistema operacional? É o que vamos ver agora: câmera, GPS, notificações, biometria, Bluetooth.”</a:t>
            </a:r>
          </a:p>
          <a:p>
            <a:r>
              <a:rPr sz="1400"/>
              <a:t/>
            </a:r>
          </a:p>
          <a:p>
            <a:r>
              <a:rPr sz="1400" b="1"/>
              <a:t>NOVIDADE NESTA VERSÃO:</a:t>
            </a:r>
          </a:p>
          <a:p>
            <a:r>
              <a:rPr sz="1400"/>
              <a:t>Slide novo. É o espelho estrutural do slide 07: lá o caminho era Usuário → Navegador → Web App → Servidor; aqui é Usuário → App instalado → Sistema Operacional → API → Servidor.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b="1"/>
              <a:t>SLIDE 13 · Mitos que vamos desfazer</a:t>
            </a:r>
          </a:p>
          <a:p>
            <a:r>
              <a:rPr sz="1400" b="1"/>
              <a:t>[6 min] · Conceito</a:t>
            </a:r>
          </a:p>
          <a:p>
            <a:r>
              <a:rPr sz="1400"/>
              <a:t/>
            </a:r>
          </a:p>
          <a:p>
            <a:r>
              <a:rPr sz="1400" b="1"/>
              <a:t>FALA SUGERIDA:</a:t>
            </a:r>
          </a:p>
          <a:p>
            <a:r>
              <a:rPr sz="1400"/>
              <a:t>Percorra os seis mitos. Pergunte se alguém já ouviu alguma dessas frases — provavelmente vários já ouviram.</a:t>
            </a:r>
          </a:p>
          <a:p>
            <a:r>
              <a:rPr sz="1400"/>
              <a:t/>
            </a:r>
          </a:p>
          <a:p>
            <a:r>
              <a:rPr sz="1400" b="1"/>
              <a:t>MENSAGEM-CHAVE:</a:t>
            </a:r>
          </a:p>
          <a:p>
            <a:r>
              <a:rPr sz="1400"/>
              <a:t>“Nenhuma dessas frases é regra. Todas são trade-offs que dependem do contexto.”</a:t>
            </a:r>
          </a:p>
          <a:p>
            <a:r>
              <a:rPr sz="1400"/>
              <a:t/>
            </a:r>
          </a:p>
          <a:p>
            <a:r>
              <a:rPr sz="1400" b="1"/>
              <a:t>FOCO:</a:t>
            </a:r>
          </a:p>
          <a:p>
            <a:r>
              <a:rPr sz="1400"/>
              <a:t>É o slide mais fotografável da aula. O aluno leva essas seis frases para a entrevista de estágio.</a:t>
            </a:r>
          </a:p>
          <a:p>
            <a:r>
              <a:rPr sz="1400"/>
              <a:t/>
            </a:r>
          </a:p>
          <a:p>
            <a:r>
              <a:rPr sz="1400" b="1"/>
              <a:t>NOVIDADE NESTA VERSÃO:</a:t>
            </a:r>
          </a:p>
          <a:p>
            <a:r>
              <a:rPr sz="1400"/>
              <a:t>Slide novo. Traz para a turma a seção 8 do roteiro, que até então existia só para o professor.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 Id="rId4" Type="http://schemas.openxmlformats.org/officeDocument/2006/relationships/image" Target="../media/image1.png"/><Relationship Id="rId5" Type="http://schemas.openxmlformats.org/officeDocument/2006/relationships/image" Target="../media/image2.png"/><Relationship Id="rId6"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 Id="rId4" Type="http://schemas.openxmlformats.org/officeDocument/2006/relationships/image" Target="../media/image1.png"/><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1.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 Id="rId4" Type="http://schemas.openxmlformats.org/officeDocument/2006/relationships/image" Target="../media/image4.png"/><Relationship Id="rId5"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22.xml"/></Relationships>
</file>

<file path=ppt/slides/_rels/slide14.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 Id="rId4" Type="http://schemas.openxmlformats.org/officeDocument/2006/relationships/image" Target="../media/image1.png"/><Relationship Id="rId5" Type="http://schemas.openxmlformats.org/officeDocument/2006/relationships/image" Target="../media/image2.png"/><Relationship Id="rId6"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D71920"/>
          </a:solidFill>
          <a:ln w="12700">
            <a:solidFill>
              <a:srgbClr val="D71920"/>
            </a:solidFill>
            <a:prstDash val="solid"/>
          </a:ln>
        </p:spPr>
        <p:txBody>
          <a:bodyPr/>
          <a:p/>
        </p:txBody>
      </p:sp>
      <p:sp>
        <p:nvSpPr>
          <p:cNvPr id="3" name="Shape 1"/>
          <p:cNvSpPr/>
          <p:nvPr/>
        </p:nvSpPr>
        <p:spPr>
          <a:xfrm>
            <a:off x="164592" y="0"/>
            <a:ext cx="54864" cy="6858000"/>
          </a:xfrm>
          <a:prstGeom prst="rect">
            <a:avLst/>
          </a:prstGeom>
          <a:solidFill>
            <a:srgbClr val="FFD322"/>
          </a:solidFill>
          <a:ln w="12700">
            <a:solidFill>
              <a:srgbClr val="FFD322"/>
            </a:solidFill>
            <a:prstDash val="solid"/>
          </a:ln>
        </p:spPr>
        <p:txBody>
          <a:bodyPr/>
          <a:p/>
        </p:txBody>
      </p:sp>
      <p:sp>
        <p:nvSpPr>
          <p:cNvPr id="4" name="Shape 2"/>
          <p:cNvSpPr/>
          <p:nvPr/>
        </p:nvSpPr>
        <p:spPr>
          <a:xfrm>
            <a:off x="0" y="0"/>
            <a:ext cx="347472" cy="6858000"/>
          </a:xfrm>
          <a:prstGeom prst="rect">
            <a:avLst/>
          </a:prstGeom>
          <a:solidFill>
            <a:srgbClr val="D71920"/>
          </a:solidFill>
          <a:ln w="12700">
            <a:solidFill>
              <a:srgbClr val="D71920"/>
            </a:solidFill>
            <a:prstDash val="solid"/>
          </a:ln>
        </p:spPr>
        <p:txBody>
          <a:bodyPr/>
          <a:p/>
        </p:txBody>
      </p:sp>
      <p:sp>
        <p:nvSpPr>
          <p:cNvPr id="5" name="Shape 3"/>
          <p:cNvSpPr/>
          <p:nvPr/>
        </p:nvSpPr>
        <p:spPr>
          <a:xfrm>
            <a:off x="347472" y="0"/>
            <a:ext cx="146304" cy="6858000"/>
          </a:xfrm>
          <a:prstGeom prst="rect">
            <a:avLst/>
          </a:prstGeom>
          <a:solidFill>
            <a:srgbClr val="FFD322"/>
          </a:solidFill>
          <a:ln w="12700">
            <a:solidFill>
              <a:srgbClr val="FFD322"/>
            </a:solidFill>
            <a:prstDash val="solid"/>
          </a:ln>
        </p:spPr>
        <p:txBody>
          <a:bodyPr/>
          <a:p/>
        </p:txBody>
      </p:sp>
      <p:pic>
        <p:nvPicPr>
          <p:cNvPr id="6" name="Image 0" descr="/mnt/data/logo_mesquita_stylized.png">    </p:cNvPr>
          <p:cNvPicPr>
            <a:picLocks noChangeAspect="1"/>
          </p:cNvPicPr>
          <p:nvPr/>
        </p:nvPicPr>
        <p:blipFill>
          <a:blip r:embed="rId1"/>
          <a:stretch>
            <a:fillRect/>
          </a:stretch>
        </p:blipFill>
        <p:spPr>
          <a:xfrm>
            <a:off x="8915400" y="438912"/>
            <a:ext cx="2240280" cy="1554480"/>
          </a:xfrm>
          <a:prstGeom prst="rect">
            <a:avLst/>
          </a:prstGeom>
        </p:spPr>
      </p:pic>
      <p:sp>
        <p:nvSpPr>
          <p:cNvPr id="7" name="Text 4"/>
          <p:cNvSpPr/>
          <p:nvPr/>
        </p:nvSpPr>
        <p:spPr>
          <a:xfrm>
            <a:off x="749808" y="1097280"/>
            <a:ext cx="5120640" cy="1463040"/>
          </a:xfrm>
          <a:prstGeom prst="rect">
            <a:avLst/>
          </a:prstGeom>
          <a:noFill/>
          <a:ln/>
        </p:spPr>
        <p:txBody>
          <a:bodyPr wrap="square" lIns="0" tIns="0" rIns="0" bIns="0" rtlCol="0" anchor="ctr">
            <a:normAutofit/>
          </a:bodyPr>
          <a:lstStyle/>
          <a:p>
            <a:pPr indent="0" marL="0">
              <a:buNone/>
            </a:pPr>
            <a:r>
              <a:rPr lang="en-US" sz="4800" b="1" dirty="0">
                <a:solidFill>
                  <a:srgbClr val="12161C"/>
                </a:solidFill>
                <a:latin typeface="Aptos Display" pitchFamily="34" charset="0"/>
                <a:ea typeface="Aptos Display" pitchFamily="34" charset="-122"/>
                <a:cs typeface="Aptos Display" pitchFamily="34" charset="-120"/>
              </a:rPr>
              <a:t>Desenvolvimento</a:t>
            </a:r>
            <a:endParaRPr lang="en-US" sz="4800" dirty="0"/>
          </a:p>
          <a:p>
            <a:pPr indent="0" marL="0">
              <a:buNone/>
            </a:pPr>
            <a:r>
              <a:rPr lang="en-US" sz="4800" b="1" dirty="0">
                <a:solidFill>
                  <a:srgbClr val="12161C"/>
                </a:solidFill>
                <a:latin typeface="Aptos Display" pitchFamily="34" charset="0"/>
                <a:ea typeface="Aptos Display" pitchFamily="34" charset="-122"/>
                <a:cs typeface="Aptos Display" pitchFamily="34" charset="-120"/>
              </a:rPr>
              <a:t>Mobile</a:t>
            </a:r>
            <a:endParaRPr lang="en-US" sz="4800" dirty="0"/>
          </a:p>
        </p:txBody>
      </p:sp>
      <p:sp>
        <p:nvSpPr>
          <p:cNvPr id="8" name="Text 5"/>
          <p:cNvSpPr/>
          <p:nvPr/>
        </p:nvSpPr>
        <p:spPr>
          <a:xfrm>
            <a:off x="804672" y="2788920"/>
            <a:ext cx="6126480" cy="411480"/>
          </a:xfrm>
          <a:prstGeom prst="rect">
            <a:avLst/>
          </a:prstGeom>
          <a:noFill/>
          <a:ln/>
        </p:spPr>
        <p:txBody>
          <a:bodyPr wrap="square" lIns="0" tIns="0" rIns="0" bIns="0" rtlCol="0" anchor="ctr">
            <a:normAutofit/>
          </a:bodyPr>
          <a:lstStyle/>
          <a:p>
            <a:pPr indent="0" marL="0">
              <a:buNone/>
            </a:pPr>
            <a:r>
              <a:rPr lang="en-US" sz="1600" dirty="0">
                <a:solidFill>
                  <a:srgbClr val="5A6472"/>
                </a:solidFill>
              </a:rPr>
              <a:t>Aula 01 — Introdução, apresentação da turma e primeiro laboratório</a:t>
            </a:r>
            <a:endParaRPr lang="en-US" sz="1600" dirty="0"/>
          </a:p>
        </p:txBody>
      </p:sp>
      <p:sp>
        <p:nvSpPr>
          <p:cNvPr id="9" name="Text 6"/>
          <p:cNvSpPr/>
          <p:nvPr/>
        </p:nvSpPr>
        <p:spPr>
          <a:xfrm>
            <a:off x="804672" y="5394960"/>
            <a:ext cx="4023360" cy="320040"/>
          </a:xfrm>
          <a:prstGeom prst="rect">
            <a:avLst/>
          </a:prstGeom>
          <a:noFill/>
          <a:ln/>
        </p:spPr>
        <p:txBody>
          <a:bodyPr wrap="square" lIns="0" tIns="0" rIns="0" bIns="0" rtlCol="0" anchor="ctr"/>
          <a:lstStyle/>
          <a:p>
            <a:pPr indent="0" marL="0">
              <a:buNone/>
            </a:pPr>
            <a:r>
              <a:rPr lang="en-US" sz="1400" b="1" dirty="0">
                <a:solidFill>
                  <a:srgbClr val="D71920"/>
                </a:solidFill>
              </a:rPr>
              <a:t>Professor: Emanuel Nascente</a:t>
            </a:r>
            <a:endParaRPr lang="en-US" sz="1400" dirty="0"/>
          </a:p>
        </p:txBody>
      </p:sp>
      <p:sp>
        <p:nvSpPr>
          <p:cNvPr id="10" name="Text 7"/>
          <p:cNvSpPr/>
          <p:nvPr/>
        </p:nvSpPr>
        <p:spPr>
          <a:xfrm>
            <a:off x="804672" y="5760720"/>
            <a:ext cx="4023360" cy="256032"/>
          </a:xfrm>
          <a:prstGeom prst="rect">
            <a:avLst/>
          </a:prstGeom>
          <a:noFill/>
          <a:ln/>
        </p:spPr>
        <p:txBody>
          <a:bodyPr wrap="square" lIns="0" tIns="0" rIns="0" bIns="0" rtlCol="0" anchor="ctr"/>
          <a:lstStyle/>
          <a:p>
            <a:pPr indent="0" marL="0">
              <a:buNone/>
            </a:pPr>
            <a:r>
              <a:rPr lang="en-US" sz="1100" dirty="0">
                <a:solidFill>
                  <a:srgbClr val="5A6472"/>
                </a:solidFill>
              </a:rPr>
              <a:t>Curso Técnico em Informática</a:t>
            </a:r>
            <a:endParaRPr lang="en-US" sz="1100" dirty="0"/>
          </a:p>
        </p:txBody>
      </p:sp>
      <p:sp>
        <p:nvSpPr>
          <p:cNvPr id="27" name="Shape 23"/>
          <p:cNvSpPr/>
          <p:nvPr/>
        </p:nvSpPr>
        <p:spPr>
          <a:xfrm>
            <a:off x="621792" y="6455664"/>
            <a:ext cx="11018520" cy="0"/>
          </a:xfrm>
          <a:prstGeom prst="line">
            <a:avLst/>
          </a:prstGeom>
          <a:noFill/>
          <a:ln w="12700">
            <a:solidFill>
              <a:srgbClr val="E7E4DE"/>
            </a:solidFill>
            <a:prstDash val="solid"/>
          </a:ln>
        </p:spPr>
        <p:txBody>
          <a:bodyPr/>
          <a:p/>
        </p:txBody>
      </p:sp>
      <p:sp>
        <p:nvSpPr>
          <p:cNvPr id="28" name="Text 24"/>
          <p:cNvSpPr/>
          <p:nvPr/>
        </p:nvSpPr>
        <p:spPr>
          <a:xfrm>
            <a:off x="621792" y="6537960"/>
            <a:ext cx="2194560" cy="182880"/>
          </a:xfrm>
          <a:prstGeom prst="rect">
            <a:avLst/>
          </a:prstGeom>
          <a:noFill/>
          <a:ln/>
        </p:spPr>
        <p:txBody>
          <a:bodyPr wrap="square" lIns="0" tIns="0" rIns="0" bIns="0" rtlCol="0" anchor="ctr"/>
          <a:lstStyle/>
          <a:p>
            <a:pPr indent="0" marL="0">
              <a:buNone/>
            </a:pPr>
            <a:r>
              <a:rPr lang="en-US" sz="850" dirty="0">
                <a:solidFill>
                  <a:srgbClr val="5A6472"/>
                </a:solidFill>
              </a:rPr>
              <a:t>Emanuel Nascente</a:t>
            </a:r>
            <a:endParaRPr lang="en-US" sz="850" dirty="0"/>
          </a:p>
        </p:txBody>
      </p:sp>
      <p:sp>
        <p:nvSpPr>
          <p:cNvPr id="29" name="Text 25"/>
          <p:cNvSpPr/>
          <p:nvPr/>
        </p:nvSpPr>
        <p:spPr>
          <a:xfrm>
            <a:off x="11064240" y="6519672"/>
            <a:ext cx="548640" cy="228600"/>
          </a:xfrm>
          <a:prstGeom prst="rect">
            <a:avLst/>
          </a:prstGeom>
          <a:noFill/>
          <a:ln/>
        </p:spPr>
        <p:txBody>
          <a:bodyPr wrap="square" lIns="0" tIns="0" rIns="0" bIns="0" rtlCol="0" anchor="ctr"/>
          <a:lstStyle/>
          <a:p>
            <a:pPr algn="r" indent="0" marL="0">
              <a:buNone/>
            </a:pPr>
            <a:r>
              <a:rPr sz="850" b="1">
                <a:solidFill>
                  <a:srgbClr val="5A6472"/>
                </a:solidFill>
              </a:rPr>
              <a:t>01</a:t>
            </a:r>
            <a:endParaRPr lang="en-US" sz="850" dirty="0"/>
          </a:p>
        </p:txBody>
      </p:sp>
      <p:sp>
        <p:nvSpPr>
          <p:cNvPr id="30" name="Rounded Rectangle 29"/>
          <p:cNvSpPr/>
          <p:nvPr/>
        </p:nvSpPr>
        <p:spPr>
          <a:xfrm>
            <a:off x="7591193" y="2423160"/>
            <a:ext cx="1048214" cy="2148840"/>
          </a:xfrm>
          <a:prstGeom prst="roundRect">
            <a:avLst>
              <a:gd name="adj" fmla="val 14000"/>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643603" y="2475570"/>
            <a:ext cx="943394" cy="2044020"/>
          </a:xfrm>
          <a:prstGeom prst="roundRect">
            <a:avLst>
              <a:gd name="adj" fmla="val 11000"/>
            </a:avLst>
          </a:prstGeom>
          <a:solidFill>
            <a:srgbClr val="202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958068" y="2512146"/>
            <a:ext cx="314464" cy="64008"/>
          </a:xfrm>
          <a:prstGeom prst="roundRect">
            <a:avLst>
              <a:gd name="adj" fmla="val 50000"/>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javascript.png"/>
          <p:cNvPicPr>
            <a:picLocks noChangeAspect="1"/>
          </p:cNvPicPr>
          <p:nvPr/>
        </p:nvPicPr>
        <p:blipFill>
          <a:blip r:embed="rId4"/>
          <a:stretch>
            <a:fillRect/>
          </a:stretch>
        </p:blipFill>
        <p:spPr>
          <a:xfrm>
            <a:off x="7863729" y="3024835"/>
            <a:ext cx="503142" cy="503142"/>
          </a:xfrm>
          <a:prstGeom prst="rect">
            <a:avLst/>
          </a:prstGeom>
        </p:spPr>
      </p:pic>
      <p:sp>
        <p:nvSpPr>
          <p:cNvPr id="34" name="TextBox 33"/>
          <p:cNvSpPr txBox="1"/>
          <p:nvPr/>
        </p:nvSpPr>
        <p:spPr>
          <a:xfrm>
            <a:off x="7499753" y="3647998"/>
            <a:ext cx="1231094" cy="219456"/>
          </a:xfrm>
          <a:prstGeom prst="rect">
            <a:avLst/>
          </a:prstGeom>
          <a:noFill/>
        </p:spPr>
        <p:txBody>
          <a:bodyPr wrap="none">
            <a:spAutoFit/>
          </a:bodyPr>
          <a:lstStyle/>
          <a:p>
            <a:pPr algn="ctr"/>
            <a:r>
              <a:rPr sz="1000" b="1">
                <a:solidFill>
                  <a:srgbClr val="FFFFFF"/>
                </a:solidFill>
                <a:latin typeface="Aptos"/>
              </a:rPr>
              <a:t>WEB</a:t>
            </a:r>
          </a:p>
        </p:txBody>
      </p:sp>
      <p:sp>
        <p:nvSpPr>
          <p:cNvPr id="35" name="TextBox 34"/>
          <p:cNvSpPr txBox="1"/>
          <p:nvPr/>
        </p:nvSpPr>
        <p:spPr>
          <a:xfrm>
            <a:off x="7499753" y="3927348"/>
            <a:ext cx="1231094" cy="182880"/>
          </a:xfrm>
          <a:prstGeom prst="rect">
            <a:avLst/>
          </a:prstGeom>
          <a:noFill/>
        </p:spPr>
        <p:txBody>
          <a:bodyPr wrap="none">
            <a:spAutoFit/>
          </a:bodyPr>
          <a:lstStyle/>
          <a:p>
            <a:pPr algn="ctr"/>
            <a:r>
              <a:rPr sz="750">
                <a:solidFill>
                  <a:srgbClr val="9AA4B2"/>
                </a:solidFill>
                <a:latin typeface="Cascadia Mono"/>
              </a:rPr>
              <a:t>Browser</a:t>
            </a:r>
          </a:p>
        </p:txBody>
      </p:sp>
      <p:sp>
        <p:nvSpPr>
          <p:cNvPr id="36" name="Rounded Rectangle 35"/>
          <p:cNvSpPr/>
          <p:nvPr/>
        </p:nvSpPr>
        <p:spPr>
          <a:xfrm>
            <a:off x="9026801" y="2423160"/>
            <a:ext cx="1048214" cy="2148840"/>
          </a:xfrm>
          <a:prstGeom prst="roundRect">
            <a:avLst>
              <a:gd name="adj" fmla="val 14000"/>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9079211" y="2475570"/>
            <a:ext cx="943394" cy="2044020"/>
          </a:xfrm>
          <a:prstGeom prst="roundRect">
            <a:avLst>
              <a:gd name="adj" fmla="val 11000"/>
            </a:avLst>
          </a:prstGeom>
          <a:solidFill>
            <a:srgbClr val="202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9393676" y="2512146"/>
            <a:ext cx="314464" cy="64008"/>
          </a:xfrm>
          <a:prstGeom prst="roundRect">
            <a:avLst>
              <a:gd name="adj" fmla="val 50000"/>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kotlin.png"/>
          <p:cNvPicPr>
            <a:picLocks noChangeAspect="1"/>
          </p:cNvPicPr>
          <p:nvPr/>
        </p:nvPicPr>
        <p:blipFill>
          <a:blip r:embed="rId5"/>
          <a:stretch>
            <a:fillRect/>
          </a:stretch>
        </p:blipFill>
        <p:spPr>
          <a:xfrm>
            <a:off x="9299337" y="3024835"/>
            <a:ext cx="503142" cy="503142"/>
          </a:xfrm>
          <a:prstGeom prst="rect">
            <a:avLst/>
          </a:prstGeom>
        </p:spPr>
      </p:pic>
      <p:sp>
        <p:nvSpPr>
          <p:cNvPr id="40" name="TextBox 39"/>
          <p:cNvSpPr txBox="1"/>
          <p:nvPr/>
        </p:nvSpPr>
        <p:spPr>
          <a:xfrm>
            <a:off x="8935361" y="3647998"/>
            <a:ext cx="1231094" cy="219456"/>
          </a:xfrm>
          <a:prstGeom prst="rect">
            <a:avLst/>
          </a:prstGeom>
          <a:noFill/>
        </p:spPr>
        <p:txBody>
          <a:bodyPr wrap="none">
            <a:spAutoFit/>
          </a:bodyPr>
          <a:lstStyle/>
          <a:p>
            <a:pPr algn="ctr"/>
            <a:r>
              <a:rPr sz="1000" b="1">
                <a:solidFill>
                  <a:srgbClr val="FFFFFF"/>
                </a:solidFill>
                <a:latin typeface="Aptos"/>
              </a:rPr>
              <a:t>NATIVO</a:t>
            </a:r>
          </a:p>
        </p:txBody>
      </p:sp>
      <p:sp>
        <p:nvSpPr>
          <p:cNvPr id="41" name="TextBox 40"/>
          <p:cNvSpPr txBox="1"/>
          <p:nvPr/>
        </p:nvSpPr>
        <p:spPr>
          <a:xfrm>
            <a:off x="8935361" y="3927348"/>
            <a:ext cx="1231094" cy="182880"/>
          </a:xfrm>
          <a:prstGeom prst="rect">
            <a:avLst/>
          </a:prstGeom>
          <a:noFill/>
        </p:spPr>
        <p:txBody>
          <a:bodyPr wrap="none">
            <a:spAutoFit/>
          </a:bodyPr>
          <a:lstStyle/>
          <a:p>
            <a:pPr algn="ctr"/>
            <a:r>
              <a:rPr sz="750">
                <a:solidFill>
                  <a:srgbClr val="9AA4B2"/>
                </a:solidFill>
                <a:latin typeface="Cascadia Mono"/>
              </a:rPr>
              <a:t>Android</a:t>
            </a:r>
          </a:p>
        </p:txBody>
      </p:sp>
      <p:sp>
        <p:nvSpPr>
          <p:cNvPr id="42" name="Rounded Rectangle 41"/>
          <p:cNvSpPr/>
          <p:nvPr/>
        </p:nvSpPr>
        <p:spPr>
          <a:xfrm>
            <a:off x="10453265" y="2423160"/>
            <a:ext cx="1048214" cy="2148840"/>
          </a:xfrm>
          <a:prstGeom prst="roundRect">
            <a:avLst>
              <a:gd name="adj" fmla="val 14000"/>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10505675" y="2475570"/>
            <a:ext cx="943394" cy="2044020"/>
          </a:xfrm>
          <a:prstGeom prst="roundRect">
            <a:avLst>
              <a:gd name="adj" fmla="val 11000"/>
            </a:avLst>
          </a:prstGeom>
          <a:solidFill>
            <a:srgbClr val="202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10820140" y="2512146"/>
            <a:ext cx="314464" cy="64008"/>
          </a:xfrm>
          <a:prstGeom prst="roundRect">
            <a:avLst>
              <a:gd name="adj" fmla="val 50000"/>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react.png"/>
          <p:cNvPicPr>
            <a:picLocks noChangeAspect="1"/>
          </p:cNvPicPr>
          <p:nvPr/>
        </p:nvPicPr>
        <p:blipFill>
          <a:blip r:embed="rId6"/>
          <a:stretch>
            <a:fillRect/>
          </a:stretch>
        </p:blipFill>
        <p:spPr>
          <a:xfrm>
            <a:off x="10725801" y="3024835"/>
            <a:ext cx="503142" cy="503142"/>
          </a:xfrm>
          <a:prstGeom prst="rect">
            <a:avLst/>
          </a:prstGeom>
        </p:spPr>
      </p:pic>
      <p:sp>
        <p:nvSpPr>
          <p:cNvPr id="46" name="TextBox 45"/>
          <p:cNvSpPr txBox="1"/>
          <p:nvPr/>
        </p:nvSpPr>
        <p:spPr>
          <a:xfrm>
            <a:off x="10361825" y="3647998"/>
            <a:ext cx="1231094" cy="219456"/>
          </a:xfrm>
          <a:prstGeom prst="rect">
            <a:avLst/>
          </a:prstGeom>
          <a:noFill/>
        </p:spPr>
        <p:txBody>
          <a:bodyPr wrap="none">
            <a:spAutoFit/>
          </a:bodyPr>
          <a:lstStyle/>
          <a:p>
            <a:pPr algn="ctr"/>
            <a:r>
              <a:rPr sz="1000" b="1">
                <a:solidFill>
                  <a:srgbClr val="FFFFFF"/>
                </a:solidFill>
                <a:latin typeface="Aptos"/>
              </a:rPr>
              <a:t>HÍBRIDO</a:t>
            </a:r>
          </a:p>
        </p:txBody>
      </p:sp>
      <p:sp>
        <p:nvSpPr>
          <p:cNvPr id="47" name="TextBox 46"/>
          <p:cNvSpPr txBox="1"/>
          <p:nvPr/>
        </p:nvSpPr>
        <p:spPr>
          <a:xfrm>
            <a:off x="10361825" y="3927348"/>
            <a:ext cx="1231094" cy="182880"/>
          </a:xfrm>
          <a:prstGeom prst="rect">
            <a:avLst/>
          </a:prstGeom>
          <a:noFill/>
        </p:spPr>
        <p:txBody>
          <a:bodyPr wrap="none">
            <a:spAutoFit/>
          </a:bodyPr>
          <a:lstStyle/>
          <a:p>
            <a:pPr algn="ctr"/>
            <a:r>
              <a:rPr sz="750">
                <a:solidFill>
                  <a:srgbClr val="9AA4B2"/>
                </a:solidFill>
                <a:latin typeface="Cascadia Mono"/>
              </a:rPr>
              <a:t>Multi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D71920"/>
          </a:solidFill>
          <a:ln w="12700">
            <a:solidFill>
              <a:srgbClr val="D71920"/>
            </a:solidFill>
            <a:prstDash val="solid"/>
          </a:ln>
        </p:spPr>
        <p:txBody>
          <a:bodyPr/>
          <a:p/>
        </p:txBody>
      </p:sp>
      <p:sp>
        <p:nvSpPr>
          <p:cNvPr id="3" name="Shape 1"/>
          <p:cNvSpPr/>
          <p:nvPr/>
        </p:nvSpPr>
        <p:spPr>
          <a:xfrm>
            <a:off x="164592" y="0"/>
            <a:ext cx="54864" cy="6858000"/>
          </a:xfrm>
          <a:prstGeom prst="rect">
            <a:avLst/>
          </a:prstGeom>
          <a:solidFill>
            <a:srgbClr val="FFD322"/>
          </a:solidFill>
          <a:ln w="12700">
            <a:solidFill>
              <a:srgbClr val="FFD322"/>
            </a:solidFill>
            <a:prstDash val="solid"/>
          </a:ln>
        </p:spPr>
        <p:txBody>
          <a:bodyPr/>
          <a:p/>
        </p:txBody>
      </p:sp>
      <p:sp>
        <p:nvSpPr>
          <p:cNvPr id="4" name="Text 2"/>
          <p:cNvSpPr/>
          <p:nvPr/>
        </p:nvSpPr>
        <p:spPr>
          <a:xfrm>
            <a:off x="438912" y="210312"/>
            <a:ext cx="2103120" cy="256032"/>
          </a:xfrm>
          <a:prstGeom prst="rect">
            <a:avLst/>
          </a:prstGeom>
          <a:noFill/>
          <a:ln/>
        </p:spPr>
        <p:txBody>
          <a:bodyPr wrap="square" lIns="0" tIns="0" rIns="0" bIns="0" rtlCol="0" anchor="ctr"/>
          <a:lstStyle/>
          <a:p>
            <a:pPr indent="0" marL="0">
              <a:buNone/>
            </a:pPr>
            <a:r>
              <a:rPr lang="en-US" sz="950" b="1" dirty="0">
                <a:solidFill>
                  <a:srgbClr val="D71920"/>
                </a:solidFill>
                <a:latin typeface="Aptos" pitchFamily="34" charset="0"/>
                <a:ea typeface="Aptos" pitchFamily="34" charset="-122"/>
                <a:cs typeface="Aptos" pitchFamily="34" charset="-120"/>
              </a:rPr>
              <a:t>Aula 01</a:t>
            </a:r>
            <a:endParaRPr lang="en-US" sz="950" dirty="0"/>
          </a:p>
        </p:txBody>
      </p:sp>
      <p:sp>
        <p:nvSpPr>
          <p:cNvPr id="5" name="Text 3"/>
          <p:cNvSpPr/>
          <p:nvPr/>
        </p:nvSpPr>
        <p:spPr>
          <a:xfrm>
            <a:off x="2788920" y="210312"/>
            <a:ext cx="2743200" cy="256032"/>
          </a:xfrm>
          <a:prstGeom prst="rect">
            <a:avLst/>
          </a:prstGeom>
          <a:noFill/>
          <a:ln/>
        </p:spPr>
        <p:txBody>
          <a:bodyPr wrap="square" lIns="0" tIns="0" rIns="0" bIns="0" rtlCol="0" anchor="ctr"/>
          <a:lstStyle/>
          <a:p>
            <a:pPr indent="0" marL="0">
              <a:buNone/>
            </a:pPr>
            <a:r>
              <a:rPr lang="en-US" sz="950" dirty="0">
                <a:solidFill>
                  <a:srgbClr val="5A6472"/>
                </a:solidFill>
              </a:rPr>
              <a:t>Desenvolvimento Mobile</a:t>
            </a:r>
            <a:endParaRPr lang="en-US" sz="950" dirty="0"/>
          </a:p>
        </p:txBody>
      </p:sp>
      <p:pic>
        <p:nvPicPr>
          <p:cNvPr id="6" name="Image 0" descr="/mnt/data/logo_mesquita_stylized.png">    </p:cNvPr>
          <p:cNvPicPr>
            <a:picLocks noChangeAspect="1"/>
          </p:cNvPicPr>
          <p:nvPr/>
        </p:nvPicPr>
        <p:blipFill>
          <a:blip r:embed="rId1"/>
          <a:stretch>
            <a:fillRect/>
          </a:stretch>
        </p:blipFill>
        <p:spPr>
          <a:xfrm>
            <a:off x="10744200" y="128016"/>
            <a:ext cx="987552" cy="685800"/>
          </a:xfrm>
          <a:prstGeom prst="rect">
            <a:avLst/>
          </a:prstGeom>
        </p:spPr>
      </p:pic>
      <p:sp>
        <p:nvSpPr>
          <p:cNvPr id="7" name="Text 4"/>
          <p:cNvSpPr/>
          <p:nvPr/>
        </p:nvSpPr>
        <p:spPr>
          <a:xfrm>
            <a:off x="502920" y="749808"/>
            <a:ext cx="8503920" cy="530352"/>
          </a:xfrm>
          <a:prstGeom prst="rect">
            <a:avLst/>
          </a:prstGeom>
          <a:noFill/>
          <a:ln/>
        </p:spPr>
        <p:txBody>
          <a:bodyPr wrap="square" lIns="0" tIns="0" rIns="0" bIns="0" rtlCol="0" anchor="ctr">
            <a:normAutofit/>
          </a:bodyPr>
          <a:lstStyle/>
          <a:p>
            <a:pPr indent="0" marL="0">
              <a:buNone/>
            </a:pPr>
            <a:r>
              <a:rPr lang="en-US" sz="3000" b="1" dirty="0">
                <a:solidFill>
                  <a:srgbClr val="12161C"/>
                </a:solidFill>
                <a:latin typeface="Aptos Display" pitchFamily="34" charset="0"/>
                <a:ea typeface="Aptos Display" pitchFamily="34" charset="-122"/>
                <a:cs typeface="Aptos Display" pitchFamily="34" charset="-120"/>
              </a:rPr>
              <a:t>Plano da primeira aula</a:t>
            </a:r>
            <a:endParaRPr lang="en-US" sz="3000" dirty="0"/>
          </a:p>
        </p:txBody>
      </p:sp>
      <p:sp>
        <p:nvSpPr>
          <p:cNvPr id="8" name="Text 5"/>
          <p:cNvSpPr/>
          <p:nvPr/>
        </p:nvSpPr>
        <p:spPr>
          <a:xfrm>
            <a:off x="530352" y="1325880"/>
            <a:ext cx="7589520" cy="320040"/>
          </a:xfrm>
          <a:prstGeom prst="rect">
            <a:avLst/>
          </a:prstGeom>
          <a:noFill/>
          <a:ln/>
        </p:spPr>
        <p:txBody>
          <a:bodyPr wrap="square" lIns="0" tIns="0" rIns="0" bIns="0" rtlCol="0" anchor="ctr"/>
          <a:lstStyle/>
          <a:p>
            <a:pPr indent="0" marL="0">
              <a:buNone/>
            </a:pPr>
            <a:r>
              <a:rPr lang="en-US" sz="1350" dirty="0">
                <a:solidFill>
                  <a:srgbClr val="5A6472"/>
                </a:solidFill>
              </a:rPr>
              <a:t>4 horas: apresentação, visão geral e laboratório inicial.</a:t>
            </a:r>
            <a:endParaRPr lang="en-US" sz="1350" dirty="0"/>
          </a:p>
        </p:txBody>
      </p:sp>
      <p:sp>
        <p:nvSpPr>
          <p:cNvPr id="9" name="Shape 6"/>
          <p:cNvSpPr/>
          <p:nvPr/>
        </p:nvSpPr>
        <p:spPr>
          <a:xfrm>
            <a:off x="822960" y="1847088"/>
            <a:ext cx="310896" cy="310896"/>
          </a:xfrm>
          <a:prstGeom prst="ellipse">
            <a:avLst/>
          </a:prstGeom>
          <a:solidFill>
            <a:srgbClr val="D71920"/>
          </a:solidFill>
          <a:ln w="12700">
            <a:solidFill>
              <a:srgbClr val="D71920"/>
            </a:solidFill>
            <a:prstDash val="solid"/>
          </a:ln>
        </p:spPr>
        <p:txBody>
          <a:bodyPr/>
          <a:p/>
        </p:txBody>
      </p:sp>
      <p:sp>
        <p:nvSpPr>
          <p:cNvPr id="10" name="Text 7"/>
          <p:cNvSpPr/>
          <p:nvPr/>
        </p:nvSpPr>
        <p:spPr>
          <a:xfrm>
            <a:off x="822960" y="1915668"/>
            <a:ext cx="310896" cy="91440"/>
          </a:xfrm>
          <a:prstGeom prst="rect">
            <a:avLst/>
          </a:prstGeom>
          <a:noFill/>
          <a:ln/>
        </p:spPr>
        <p:txBody>
          <a:bodyPr wrap="square" lIns="0" tIns="0" rIns="0" bIns="0" rtlCol="0" anchor="ctr"/>
          <a:lstStyle/>
          <a:p>
            <a:pPr algn="ctr" indent="0" marL="0">
              <a:buNone/>
            </a:pPr>
            <a:r>
              <a:rPr lang="en-US" sz="900" b="1" dirty="0">
                <a:solidFill>
                  <a:srgbClr val="FFFFFF"/>
                </a:solidFill>
              </a:rPr>
              <a:t>1</a:t>
            </a:r>
            <a:endParaRPr lang="en-US" sz="900" dirty="0"/>
          </a:p>
        </p:txBody>
      </p:sp>
      <p:sp>
        <p:nvSpPr>
          <p:cNvPr id="11" name="Text 8"/>
          <p:cNvSpPr/>
          <p:nvPr/>
        </p:nvSpPr>
        <p:spPr>
          <a:xfrm>
            <a:off x="1353312" y="1837944"/>
            <a:ext cx="2377440" cy="256032"/>
          </a:xfrm>
          <a:prstGeom prst="rect">
            <a:avLst/>
          </a:prstGeom>
          <a:noFill/>
          <a:ln/>
        </p:spPr>
        <p:txBody>
          <a:bodyPr wrap="square" lIns="0" tIns="0" rIns="0" bIns="0" rtlCol="0" anchor="ctr"/>
          <a:lstStyle/>
          <a:p>
            <a:pPr indent="0" marL="0">
              <a:buNone/>
            </a:pPr>
            <a:r>
              <a:rPr lang="en-US" sz="1700" b="1" dirty="0">
                <a:solidFill>
                  <a:srgbClr val="12161C"/>
                </a:solidFill>
              </a:rPr>
              <a:t>Apresentação</a:t>
            </a:r>
            <a:endParaRPr lang="en-US" sz="1700" dirty="0"/>
          </a:p>
        </p:txBody>
      </p:sp>
      <p:sp>
        <p:nvSpPr>
          <p:cNvPr id="12" name="Text 9"/>
          <p:cNvSpPr/>
          <p:nvPr/>
        </p:nvSpPr>
        <p:spPr>
          <a:xfrm>
            <a:off x="3794760" y="1856232"/>
            <a:ext cx="5212080" cy="228600"/>
          </a:xfrm>
          <a:prstGeom prst="rect">
            <a:avLst/>
          </a:prstGeom>
          <a:noFill/>
          <a:ln/>
        </p:spPr>
        <p:txBody>
          <a:bodyPr wrap="square" lIns="0" tIns="0" rIns="0" bIns="0" rtlCol="0" anchor="ctr"/>
          <a:lstStyle/>
          <a:p>
            <a:pPr indent="0" marL="0">
              <a:buNone/>
            </a:pPr>
            <a:r>
              <a:rPr lang="en-US" sz="1300" dirty="0">
                <a:solidFill>
                  <a:srgbClr val="5A6472"/>
                </a:solidFill>
              </a:rPr>
              <a:t>Professor, alunos e expectativas</a:t>
            </a:r>
            <a:endParaRPr lang="en-US" sz="1300" dirty="0"/>
          </a:p>
        </p:txBody>
      </p:sp>
      <p:sp>
        <p:nvSpPr>
          <p:cNvPr id="13" name="Shape 10"/>
          <p:cNvSpPr/>
          <p:nvPr/>
        </p:nvSpPr>
        <p:spPr>
          <a:xfrm>
            <a:off x="822960" y="2560320"/>
            <a:ext cx="310896" cy="310896"/>
          </a:xfrm>
          <a:prstGeom prst="ellipse">
            <a:avLst/>
          </a:prstGeom>
          <a:solidFill>
            <a:srgbClr val="D71920"/>
          </a:solidFill>
          <a:ln w="12700">
            <a:solidFill>
              <a:srgbClr val="D71920"/>
            </a:solidFill>
            <a:prstDash val="solid"/>
          </a:ln>
        </p:spPr>
        <p:txBody>
          <a:bodyPr/>
          <a:p/>
        </p:txBody>
      </p:sp>
      <p:sp>
        <p:nvSpPr>
          <p:cNvPr id="14" name="Text 11"/>
          <p:cNvSpPr/>
          <p:nvPr/>
        </p:nvSpPr>
        <p:spPr>
          <a:xfrm>
            <a:off x="822960" y="2628900"/>
            <a:ext cx="310896" cy="91440"/>
          </a:xfrm>
          <a:prstGeom prst="rect">
            <a:avLst/>
          </a:prstGeom>
          <a:noFill/>
          <a:ln/>
        </p:spPr>
        <p:txBody>
          <a:bodyPr wrap="square" lIns="0" tIns="0" rIns="0" bIns="0" rtlCol="0" anchor="ctr"/>
          <a:lstStyle/>
          <a:p>
            <a:pPr algn="ctr" indent="0" marL="0">
              <a:buNone/>
            </a:pPr>
            <a:r>
              <a:rPr lang="en-US" sz="900" b="1" dirty="0">
                <a:solidFill>
                  <a:srgbClr val="FFFFFF"/>
                </a:solidFill>
              </a:rPr>
              <a:t>2</a:t>
            </a:r>
            <a:endParaRPr lang="en-US" sz="900" dirty="0"/>
          </a:p>
        </p:txBody>
      </p:sp>
      <p:sp>
        <p:nvSpPr>
          <p:cNvPr id="15" name="Text 12"/>
          <p:cNvSpPr/>
          <p:nvPr/>
        </p:nvSpPr>
        <p:spPr>
          <a:xfrm>
            <a:off x="1353312" y="2551176"/>
            <a:ext cx="2377440" cy="256032"/>
          </a:xfrm>
          <a:prstGeom prst="rect">
            <a:avLst/>
          </a:prstGeom>
          <a:noFill/>
          <a:ln/>
        </p:spPr>
        <p:txBody>
          <a:bodyPr wrap="square" lIns="0" tIns="0" rIns="0" bIns="0" rtlCol="0" anchor="ctr"/>
          <a:lstStyle/>
          <a:p>
            <a:pPr indent="0" marL="0">
              <a:buNone/>
            </a:pPr>
            <a:r>
              <a:rPr lang="en-US" sz="1700" b="1" dirty="0">
                <a:solidFill>
                  <a:srgbClr val="12161C"/>
                </a:solidFill>
              </a:rPr>
              <a:t>Disciplina</a:t>
            </a:r>
            <a:endParaRPr lang="en-US" sz="1700" dirty="0"/>
          </a:p>
        </p:txBody>
      </p:sp>
      <p:sp>
        <p:nvSpPr>
          <p:cNvPr id="16" name="Text 13"/>
          <p:cNvSpPr/>
          <p:nvPr/>
        </p:nvSpPr>
        <p:spPr>
          <a:xfrm>
            <a:off x="3794760" y="2569464"/>
            <a:ext cx="5212080" cy="228600"/>
          </a:xfrm>
          <a:prstGeom prst="rect">
            <a:avLst/>
          </a:prstGeom>
          <a:noFill/>
          <a:ln/>
        </p:spPr>
        <p:txBody>
          <a:bodyPr wrap="square" lIns="0" tIns="0" rIns="0" bIns="0" rtlCol="0" anchor="ctr"/>
          <a:lstStyle/>
          <a:p>
            <a:pPr indent="0" marL="0">
              <a:buNone/>
            </a:pPr>
            <a:r>
              <a:rPr lang="en-US" sz="1300" dirty="0">
                <a:solidFill>
                  <a:srgbClr val="5A6472"/>
                </a:solidFill>
              </a:rPr>
              <a:t>O que vamos estudar no semestre</a:t>
            </a:r>
            <a:endParaRPr lang="en-US" sz="1300" dirty="0"/>
          </a:p>
        </p:txBody>
      </p:sp>
      <p:sp>
        <p:nvSpPr>
          <p:cNvPr id="17" name="Shape 14"/>
          <p:cNvSpPr/>
          <p:nvPr/>
        </p:nvSpPr>
        <p:spPr>
          <a:xfrm>
            <a:off x="822960" y="3273552"/>
            <a:ext cx="310896" cy="310896"/>
          </a:xfrm>
          <a:prstGeom prst="ellipse">
            <a:avLst/>
          </a:prstGeom>
          <a:solidFill>
            <a:srgbClr val="FFD322"/>
          </a:solidFill>
          <a:ln w="12700">
            <a:solidFill>
              <a:srgbClr val="FFD322"/>
            </a:solidFill>
            <a:prstDash val="solid"/>
          </a:ln>
        </p:spPr>
        <p:txBody>
          <a:bodyPr/>
          <a:p/>
        </p:txBody>
      </p:sp>
      <p:sp>
        <p:nvSpPr>
          <p:cNvPr id="18" name="Text 15"/>
          <p:cNvSpPr/>
          <p:nvPr/>
        </p:nvSpPr>
        <p:spPr>
          <a:xfrm>
            <a:off x="822960" y="3342132"/>
            <a:ext cx="310896" cy="91440"/>
          </a:xfrm>
          <a:prstGeom prst="rect">
            <a:avLst/>
          </a:prstGeom>
          <a:noFill/>
          <a:ln/>
        </p:spPr>
        <p:txBody>
          <a:bodyPr wrap="square" lIns="0" tIns="0" rIns="0" bIns="0" rtlCol="0" anchor="ctr"/>
          <a:lstStyle/>
          <a:p>
            <a:pPr algn="ctr" indent="0" marL="0">
              <a:buNone/>
            </a:pPr>
            <a:r>
              <a:rPr lang="en-US" sz="900" b="1" dirty="0">
                <a:solidFill>
                  <a:srgbClr val="12161C"/>
                </a:solidFill>
              </a:rPr>
              <a:t>3</a:t>
            </a:r>
            <a:endParaRPr lang="en-US" sz="900" dirty="0"/>
          </a:p>
        </p:txBody>
      </p:sp>
      <p:sp>
        <p:nvSpPr>
          <p:cNvPr id="19" name="Text 16"/>
          <p:cNvSpPr/>
          <p:nvPr/>
        </p:nvSpPr>
        <p:spPr>
          <a:xfrm>
            <a:off x="1353312" y="3264408"/>
            <a:ext cx="2377440" cy="256032"/>
          </a:xfrm>
          <a:prstGeom prst="rect">
            <a:avLst/>
          </a:prstGeom>
          <a:noFill/>
          <a:ln/>
        </p:spPr>
        <p:txBody>
          <a:bodyPr wrap="square" lIns="0" tIns="0" rIns="0" bIns="0" rtlCol="0" anchor="ctr"/>
          <a:lstStyle/>
          <a:p>
            <a:pPr indent="0" marL="0">
              <a:buNone/>
            </a:pPr>
            <a:r>
              <a:rPr lang="en-US" sz="1700" b="1" dirty="0">
                <a:solidFill>
                  <a:srgbClr val="12161C"/>
                </a:solidFill>
              </a:rPr>
              <a:t>Web × Mobile</a:t>
            </a:r>
            <a:endParaRPr lang="en-US" sz="1700" dirty="0"/>
          </a:p>
        </p:txBody>
      </p:sp>
      <p:sp>
        <p:nvSpPr>
          <p:cNvPr id="20" name="Text 17"/>
          <p:cNvSpPr/>
          <p:nvPr/>
        </p:nvSpPr>
        <p:spPr>
          <a:xfrm>
            <a:off x="3794760" y="3282696"/>
            <a:ext cx="5212080" cy="228600"/>
          </a:xfrm>
          <a:prstGeom prst="rect">
            <a:avLst/>
          </a:prstGeom>
          <a:noFill/>
          <a:ln/>
        </p:spPr>
        <p:txBody>
          <a:bodyPr wrap="square" lIns="0" tIns="0" rIns="0" bIns="0" rtlCol="0" anchor="ctr"/>
          <a:lstStyle/>
          <a:p>
            <a:pPr indent="0" marL="0">
              <a:buNone/>
            </a:pPr>
            <a:r>
              <a:rPr lang="en-US" sz="1300" dirty="0">
                <a:solidFill>
                  <a:srgbClr val="5A6472"/>
                </a:solidFill>
              </a:rPr>
              <a:t>Diferenças essenciais</a:t>
            </a:r>
            <a:endParaRPr lang="en-US" sz="1300" dirty="0"/>
          </a:p>
        </p:txBody>
      </p:sp>
      <p:sp>
        <p:nvSpPr>
          <p:cNvPr id="21" name="Shape 18"/>
          <p:cNvSpPr/>
          <p:nvPr/>
        </p:nvSpPr>
        <p:spPr>
          <a:xfrm>
            <a:off x="822960" y="3986784"/>
            <a:ext cx="310896" cy="310896"/>
          </a:xfrm>
          <a:prstGeom prst="ellipse">
            <a:avLst/>
          </a:prstGeom>
          <a:solidFill>
            <a:srgbClr val="FFD322"/>
          </a:solidFill>
          <a:ln w="12700">
            <a:solidFill>
              <a:srgbClr val="FFD322"/>
            </a:solidFill>
            <a:prstDash val="solid"/>
          </a:ln>
        </p:spPr>
        <p:txBody>
          <a:bodyPr/>
          <a:p/>
        </p:txBody>
      </p:sp>
      <p:sp>
        <p:nvSpPr>
          <p:cNvPr id="22" name="Text 19"/>
          <p:cNvSpPr/>
          <p:nvPr/>
        </p:nvSpPr>
        <p:spPr>
          <a:xfrm>
            <a:off x="822960" y="4055364"/>
            <a:ext cx="310896" cy="91440"/>
          </a:xfrm>
          <a:prstGeom prst="rect">
            <a:avLst/>
          </a:prstGeom>
          <a:noFill/>
          <a:ln/>
        </p:spPr>
        <p:txBody>
          <a:bodyPr wrap="square" lIns="0" tIns="0" rIns="0" bIns="0" rtlCol="0" anchor="ctr"/>
          <a:lstStyle/>
          <a:p>
            <a:pPr algn="ctr" indent="0" marL="0">
              <a:buNone/>
            </a:pPr>
            <a:r>
              <a:rPr lang="en-US" sz="900" b="1" dirty="0">
                <a:solidFill>
                  <a:srgbClr val="12161C"/>
                </a:solidFill>
              </a:rPr>
              <a:t>4</a:t>
            </a:r>
            <a:endParaRPr lang="en-US" sz="900" dirty="0"/>
          </a:p>
        </p:txBody>
      </p:sp>
      <p:sp>
        <p:nvSpPr>
          <p:cNvPr id="23" name="Text 20"/>
          <p:cNvSpPr/>
          <p:nvPr/>
        </p:nvSpPr>
        <p:spPr>
          <a:xfrm>
            <a:off x="1353312" y="3977640"/>
            <a:ext cx="2377440" cy="256032"/>
          </a:xfrm>
          <a:prstGeom prst="rect">
            <a:avLst/>
          </a:prstGeom>
          <a:noFill/>
          <a:ln/>
        </p:spPr>
        <p:txBody>
          <a:bodyPr wrap="square" lIns="0" tIns="0" rIns="0" bIns="0" rtlCol="0" anchor="ctr"/>
          <a:lstStyle/>
          <a:p>
            <a:pPr indent="0" marL="0">
              <a:buNone/>
            </a:pPr>
            <a:r>
              <a:rPr lang="en-US" sz="1700" b="1" dirty="0">
                <a:solidFill>
                  <a:srgbClr val="12161C"/>
                </a:solidFill>
              </a:rPr>
              <a:t>Nativo × Híbrido</a:t>
            </a:r>
            <a:endParaRPr lang="en-US" sz="1700" dirty="0"/>
          </a:p>
        </p:txBody>
      </p:sp>
      <p:sp>
        <p:nvSpPr>
          <p:cNvPr id="24" name="Text 21"/>
          <p:cNvSpPr/>
          <p:nvPr/>
        </p:nvSpPr>
        <p:spPr>
          <a:xfrm>
            <a:off x="3794760" y="3995928"/>
            <a:ext cx="5212080" cy="228600"/>
          </a:xfrm>
          <a:prstGeom prst="rect">
            <a:avLst/>
          </a:prstGeom>
          <a:noFill/>
          <a:ln/>
        </p:spPr>
        <p:txBody>
          <a:bodyPr wrap="square" lIns="0" tIns="0" rIns="0" bIns="0" rtlCol="0" anchor="ctr"/>
          <a:lstStyle/>
          <a:p>
            <a:pPr indent="0" marL="0">
              <a:buNone/>
            </a:pPr>
            <a:r>
              <a:rPr lang="en-US" sz="1300" dirty="0">
                <a:solidFill>
                  <a:srgbClr val="5A6472"/>
                </a:solidFill>
              </a:rPr>
              <a:t>Como um app pode ser construído</a:t>
            </a:r>
            <a:endParaRPr lang="en-US" sz="1300" dirty="0"/>
          </a:p>
        </p:txBody>
      </p:sp>
      <p:sp>
        <p:nvSpPr>
          <p:cNvPr id="25" name="Shape 22"/>
          <p:cNvSpPr/>
          <p:nvPr/>
        </p:nvSpPr>
        <p:spPr>
          <a:xfrm>
            <a:off x="822960" y="4700016"/>
            <a:ext cx="310896" cy="310896"/>
          </a:xfrm>
          <a:prstGeom prst="ellipse">
            <a:avLst/>
          </a:prstGeom>
          <a:solidFill>
            <a:srgbClr val="FFD322"/>
          </a:solidFill>
          <a:ln w="12700">
            <a:solidFill>
              <a:srgbClr val="FFD322"/>
            </a:solidFill>
            <a:prstDash val="solid"/>
          </a:ln>
        </p:spPr>
        <p:txBody>
          <a:bodyPr/>
          <a:p/>
        </p:txBody>
      </p:sp>
      <p:sp>
        <p:nvSpPr>
          <p:cNvPr id="26" name="Text 23"/>
          <p:cNvSpPr/>
          <p:nvPr/>
        </p:nvSpPr>
        <p:spPr>
          <a:xfrm>
            <a:off x="822960" y="4768596"/>
            <a:ext cx="310896" cy="91440"/>
          </a:xfrm>
          <a:prstGeom prst="rect">
            <a:avLst/>
          </a:prstGeom>
          <a:noFill/>
          <a:ln/>
        </p:spPr>
        <p:txBody>
          <a:bodyPr wrap="square" lIns="0" tIns="0" rIns="0" bIns="0" rtlCol="0" anchor="ctr"/>
          <a:lstStyle/>
          <a:p>
            <a:pPr algn="ctr" indent="0" marL="0">
              <a:buNone/>
            </a:pPr>
            <a:r>
              <a:rPr lang="en-US" sz="900" b="1" dirty="0">
                <a:solidFill>
                  <a:srgbClr val="12161C"/>
                </a:solidFill>
              </a:rPr>
              <a:t>5</a:t>
            </a:r>
            <a:endParaRPr lang="en-US" sz="900" dirty="0"/>
          </a:p>
        </p:txBody>
      </p:sp>
      <p:sp>
        <p:nvSpPr>
          <p:cNvPr id="27" name="Text 24"/>
          <p:cNvSpPr/>
          <p:nvPr/>
        </p:nvSpPr>
        <p:spPr>
          <a:xfrm>
            <a:off x="1353312" y="4690872"/>
            <a:ext cx="2377440" cy="256032"/>
          </a:xfrm>
          <a:prstGeom prst="rect">
            <a:avLst/>
          </a:prstGeom>
          <a:noFill/>
          <a:ln/>
        </p:spPr>
        <p:txBody>
          <a:bodyPr wrap="square" lIns="0" tIns="0" rIns="0" bIns="0" rtlCol="0" anchor="ctr"/>
          <a:lstStyle/>
          <a:p>
            <a:pPr indent="0" marL="0">
              <a:buNone/>
            </a:pPr>
            <a:r>
              <a:rPr lang="en-US" sz="1700" b="1" dirty="0">
                <a:solidFill>
                  <a:srgbClr val="12161C"/>
                </a:solidFill>
              </a:rPr>
              <a:t>Laboratório 01</a:t>
            </a:r>
            <a:endParaRPr lang="en-US" sz="1700" dirty="0"/>
          </a:p>
        </p:txBody>
      </p:sp>
      <p:sp>
        <p:nvSpPr>
          <p:cNvPr id="28" name="Text 25"/>
          <p:cNvSpPr/>
          <p:nvPr/>
        </p:nvSpPr>
        <p:spPr>
          <a:xfrm>
            <a:off x="3794760" y="4709160"/>
            <a:ext cx="5212080" cy="228600"/>
          </a:xfrm>
          <a:prstGeom prst="rect">
            <a:avLst/>
          </a:prstGeom>
          <a:noFill/>
          <a:ln/>
        </p:spPr>
        <p:txBody>
          <a:bodyPr wrap="square" lIns="0" tIns="0" rIns="0" bIns="0" rtlCol="0" anchor="ctr"/>
          <a:lstStyle/>
          <a:p>
            <a:pPr indent="0" marL="0">
              <a:buNone/>
            </a:pPr>
            <a:r>
              <a:rPr lang="en-US" sz="1300" dirty="0">
                <a:solidFill>
                  <a:srgbClr val="5A6472"/>
                </a:solidFill>
              </a:rPr>
              <a:t>Primeiro contato com Android Studio e Expo</a:t>
            </a:r>
            <a:endParaRPr lang="en-US" sz="1300" dirty="0"/>
          </a:p>
        </p:txBody>
      </p:sp>
      <p:sp>
        <p:nvSpPr>
          <p:cNvPr id="29" name="Shape 26"/>
          <p:cNvSpPr/>
          <p:nvPr/>
        </p:nvSpPr>
        <p:spPr>
          <a:xfrm>
            <a:off x="9372600" y="1828800"/>
            <a:ext cx="2057400" cy="3108960"/>
          </a:xfrm>
          <a:prstGeom prst="roundRect">
            <a:avLst>
              <a:gd name="adj" fmla="val 7111"/>
            </a:avLst>
          </a:prstGeom>
          <a:solidFill>
            <a:srgbClr val="F7F7F5"/>
          </a:solidFill>
          <a:ln w="12700">
            <a:solidFill>
              <a:srgbClr val="E7E4DE"/>
            </a:solidFill>
            <a:prstDash val="solid"/>
          </a:ln>
        </p:spPr>
        <p:txBody>
          <a:bodyPr/>
          <a:p/>
        </p:txBody>
      </p:sp>
      <p:sp>
        <p:nvSpPr>
          <p:cNvPr id="30" name="Text 27"/>
          <p:cNvSpPr/>
          <p:nvPr/>
        </p:nvSpPr>
        <p:spPr>
          <a:xfrm>
            <a:off x="9646920" y="2084832"/>
            <a:ext cx="1554480" cy="274320"/>
          </a:xfrm>
          <a:prstGeom prst="rect">
            <a:avLst/>
          </a:prstGeom>
          <a:noFill/>
          <a:ln/>
        </p:spPr>
        <p:txBody>
          <a:bodyPr wrap="square" lIns="0" tIns="0" rIns="0" bIns="0" rtlCol="0" anchor="ctr"/>
          <a:lstStyle/>
          <a:p>
            <a:pPr algn="ctr" indent="0" marL="0">
              <a:buNone/>
            </a:pPr>
            <a:r>
              <a:rPr lang="en-US" sz="1600" b="1" dirty="0">
                <a:solidFill>
                  <a:srgbClr val="D71920"/>
                </a:solidFill>
              </a:rPr>
              <a:t>Meta do encontro</a:t>
            </a:r>
            <a:endParaRPr lang="en-US" sz="1600" dirty="0"/>
          </a:p>
        </p:txBody>
      </p:sp>
      <p:sp>
        <p:nvSpPr>
          <p:cNvPr id="31" name="Text 28"/>
          <p:cNvSpPr/>
          <p:nvPr/>
        </p:nvSpPr>
        <p:spPr>
          <a:xfrm>
            <a:off x="9646920" y="2651760"/>
            <a:ext cx="1554480" cy="1280160"/>
          </a:xfrm>
          <a:prstGeom prst="rect">
            <a:avLst/>
          </a:prstGeom>
          <a:noFill/>
          <a:ln/>
        </p:spPr>
        <p:txBody>
          <a:bodyPr wrap="square" lIns="381" tIns="381" rIns="381" bIns="381" rtlCol="0" anchor="ctr">
            <a:normAutofit/>
          </a:bodyPr>
          <a:lstStyle/>
          <a:p>
            <a:pPr algn="ctr" indent="0" marL="0">
              <a:buNone/>
            </a:pPr>
            <a:r>
              <a:rPr lang="en-US" sz="1300" dirty="0">
                <a:solidFill>
                  <a:srgbClr val="12161C"/>
                </a:solidFill>
              </a:rPr>
              <a:t>Sair sabendo explicar, em linguagem simples, a diferença entre aplicação web, mobile nativa e híbrida/multiplataforma.</a:t>
            </a:r>
            <a:endParaRPr lang="en-US" sz="1300" dirty="0"/>
          </a:p>
        </p:txBody>
      </p:sp>
      <p:sp>
        <p:nvSpPr>
          <p:cNvPr id="33" name="Shape 29"/>
          <p:cNvSpPr/>
          <p:nvPr/>
        </p:nvSpPr>
        <p:spPr>
          <a:xfrm>
            <a:off x="621792" y="6455664"/>
            <a:ext cx="11018520" cy="0"/>
          </a:xfrm>
          <a:prstGeom prst="line">
            <a:avLst/>
          </a:prstGeom>
          <a:noFill/>
          <a:ln w="12700">
            <a:solidFill>
              <a:srgbClr val="E7E4DE"/>
            </a:solidFill>
            <a:prstDash val="solid"/>
          </a:ln>
        </p:spPr>
        <p:txBody>
          <a:bodyPr/>
          <a:p/>
        </p:txBody>
      </p:sp>
      <p:sp>
        <p:nvSpPr>
          <p:cNvPr id="34" name="Text 30"/>
          <p:cNvSpPr/>
          <p:nvPr/>
        </p:nvSpPr>
        <p:spPr>
          <a:xfrm>
            <a:off x="621792" y="6537960"/>
            <a:ext cx="2194560" cy="182880"/>
          </a:xfrm>
          <a:prstGeom prst="rect">
            <a:avLst/>
          </a:prstGeom>
          <a:noFill/>
          <a:ln/>
        </p:spPr>
        <p:txBody>
          <a:bodyPr wrap="square" lIns="0" tIns="0" rIns="0" bIns="0" rtlCol="0" anchor="ctr"/>
          <a:lstStyle/>
          <a:p>
            <a:pPr indent="0" marL="0">
              <a:buNone/>
            </a:pPr>
            <a:r>
              <a:rPr lang="en-US" sz="850" dirty="0">
                <a:solidFill>
                  <a:srgbClr val="5A6472"/>
                </a:solidFill>
              </a:rPr>
              <a:t>Emanuel Nascente</a:t>
            </a:r>
            <a:endParaRPr lang="en-US" sz="850" dirty="0"/>
          </a:p>
        </p:txBody>
      </p:sp>
      <p:sp>
        <p:nvSpPr>
          <p:cNvPr id="35" name="Text 31"/>
          <p:cNvSpPr/>
          <p:nvPr/>
        </p:nvSpPr>
        <p:spPr>
          <a:xfrm>
            <a:off x="11064240" y="6519672"/>
            <a:ext cx="548640" cy="228600"/>
          </a:xfrm>
          <a:prstGeom prst="rect">
            <a:avLst/>
          </a:prstGeom>
          <a:noFill/>
          <a:ln/>
        </p:spPr>
        <p:txBody>
          <a:bodyPr wrap="square" lIns="0" tIns="0" rIns="0" bIns="0" rtlCol="0" anchor="ctr"/>
          <a:lstStyle/>
          <a:p>
            <a:pPr algn="r" indent="0" marL="0">
              <a:buNone/>
            </a:pPr>
            <a:r>
              <a:rPr sz="850" b="1">
                <a:solidFill>
                  <a:srgbClr val="5A6472"/>
                </a:solidFill>
              </a:rPr>
              <a:t>02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D71920"/>
          </a:solidFill>
          <a:ln w="12700">
            <a:solidFill>
              <a:srgbClr val="D71920"/>
            </a:solidFill>
            <a:prstDash val="solid"/>
          </a:ln>
        </p:spPr>
        <p:txBody>
          <a:bodyPr/>
          <a:p/>
        </p:txBody>
      </p:sp>
      <p:sp>
        <p:nvSpPr>
          <p:cNvPr id="3" name="Shape 1"/>
          <p:cNvSpPr/>
          <p:nvPr/>
        </p:nvSpPr>
        <p:spPr>
          <a:xfrm>
            <a:off x="164592" y="0"/>
            <a:ext cx="54864" cy="6858000"/>
          </a:xfrm>
          <a:prstGeom prst="rect">
            <a:avLst/>
          </a:prstGeom>
          <a:solidFill>
            <a:srgbClr val="FFD322"/>
          </a:solidFill>
          <a:ln w="12700">
            <a:solidFill>
              <a:srgbClr val="FFD322"/>
            </a:solidFill>
            <a:prstDash val="solid"/>
          </a:ln>
        </p:spPr>
        <p:txBody>
          <a:bodyPr/>
          <a:p/>
        </p:txBody>
      </p:sp>
      <p:sp>
        <p:nvSpPr>
          <p:cNvPr id="4" name="Text 2"/>
          <p:cNvSpPr/>
          <p:nvPr/>
        </p:nvSpPr>
        <p:spPr>
          <a:xfrm>
            <a:off x="438912" y="210312"/>
            <a:ext cx="2103120" cy="256032"/>
          </a:xfrm>
          <a:prstGeom prst="rect">
            <a:avLst/>
          </a:prstGeom>
          <a:noFill/>
          <a:ln/>
        </p:spPr>
        <p:txBody>
          <a:bodyPr wrap="square" lIns="0" tIns="0" rIns="0" bIns="0" rtlCol="0" anchor="ctr"/>
          <a:lstStyle/>
          <a:p>
            <a:pPr indent="0" marL="0">
              <a:buNone/>
            </a:pPr>
            <a:r>
              <a:rPr lang="en-US" sz="950" b="1" dirty="0">
                <a:solidFill>
                  <a:srgbClr val="D71920"/>
                </a:solidFill>
                <a:latin typeface="Aptos" pitchFamily="34" charset="0"/>
                <a:ea typeface="Aptos" pitchFamily="34" charset="-122"/>
                <a:cs typeface="Aptos" pitchFamily="34" charset="-120"/>
              </a:rPr>
              <a:t>Aula 01</a:t>
            </a:r>
            <a:endParaRPr lang="en-US" sz="950" dirty="0"/>
          </a:p>
        </p:txBody>
      </p:sp>
      <p:sp>
        <p:nvSpPr>
          <p:cNvPr id="5" name="Text 3"/>
          <p:cNvSpPr/>
          <p:nvPr/>
        </p:nvSpPr>
        <p:spPr>
          <a:xfrm>
            <a:off x="2788920" y="210312"/>
            <a:ext cx="2743200" cy="256032"/>
          </a:xfrm>
          <a:prstGeom prst="rect">
            <a:avLst/>
          </a:prstGeom>
          <a:noFill/>
          <a:ln/>
        </p:spPr>
        <p:txBody>
          <a:bodyPr wrap="square" lIns="0" tIns="0" rIns="0" bIns="0" rtlCol="0" anchor="ctr"/>
          <a:lstStyle/>
          <a:p>
            <a:pPr indent="0" marL="0">
              <a:buNone/>
            </a:pPr>
            <a:r>
              <a:rPr lang="en-US" sz="950" dirty="0">
                <a:solidFill>
                  <a:srgbClr val="5A6472"/>
                </a:solidFill>
              </a:rPr>
              <a:t>Desenvolvimento Mobile</a:t>
            </a:r>
            <a:endParaRPr lang="en-US" sz="950" dirty="0"/>
          </a:p>
        </p:txBody>
      </p:sp>
      <p:pic>
        <p:nvPicPr>
          <p:cNvPr id="6" name="Image 0" descr="/mnt/data/logo_mesquita_stylized.png">    </p:cNvPr>
          <p:cNvPicPr>
            <a:picLocks noChangeAspect="1"/>
          </p:cNvPicPr>
          <p:nvPr/>
        </p:nvPicPr>
        <p:blipFill>
          <a:blip r:embed="rId1"/>
          <a:stretch>
            <a:fillRect/>
          </a:stretch>
        </p:blipFill>
        <p:spPr>
          <a:xfrm>
            <a:off x="10744200" y="128016"/>
            <a:ext cx="987552" cy="685800"/>
          </a:xfrm>
          <a:prstGeom prst="rect">
            <a:avLst/>
          </a:prstGeom>
        </p:spPr>
      </p:pic>
      <p:sp>
        <p:nvSpPr>
          <p:cNvPr id="7" name="Text 4"/>
          <p:cNvSpPr/>
          <p:nvPr/>
        </p:nvSpPr>
        <p:spPr>
          <a:xfrm>
            <a:off x="502920" y="749808"/>
            <a:ext cx="8503920" cy="530352"/>
          </a:xfrm>
          <a:prstGeom prst="rect">
            <a:avLst/>
          </a:prstGeom>
          <a:noFill/>
          <a:ln/>
        </p:spPr>
        <p:txBody>
          <a:bodyPr wrap="square" lIns="0" tIns="0" rIns="0" bIns="0" rtlCol="0" anchor="ctr">
            <a:normAutofit/>
          </a:bodyPr>
          <a:lstStyle/>
          <a:p>
            <a:pPr indent="0" marL="0">
              <a:buNone/>
            </a:pPr>
            <a:r>
              <a:rPr lang="en-US" sz="3000" b="1" dirty="0">
                <a:solidFill>
                  <a:srgbClr val="12161C"/>
                </a:solidFill>
                <a:latin typeface="Aptos Display" pitchFamily="34" charset="0"/>
                <a:ea typeface="Aptos Display" pitchFamily="34" charset="-122"/>
                <a:cs typeface="Aptos Display" pitchFamily="34" charset="-120"/>
              </a:rPr>
              <a:t>Apresentação do professor</a:t>
            </a:r>
            <a:endParaRPr lang="en-US" sz="3000" dirty="0"/>
          </a:p>
        </p:txBody>
      </p:sp>
      <p:sp>
        <p:nvSpPr>
          <p:cNvPr id="8" name="Text 5"/>
          <p:cNvSpPr/>
          <p:nvPr/>
        </p:nvSpPr>
        <p:spPr>
          <a:xfrm>
            <a:off x="530352" y="1325880"/>
            <a:ext cx="7589520" cy="320040"/>
          </a:xfrm>
          <a:prstGeom prst="rect">
            <a:avLst/>
          </a:prstGeom>
          <a:noFill/>
          <a:ln/>
        </p:spPr>
        <p:txBody>
          <a:bodyPr wrap="square" lIns="0" tIns="0" rIns="0" bIns="0" rtlCol="0" anchor="ctr"/>
          <a:lstStyle/>
          <a:p>
            <a:pPr indent="0" marL="0">
              <a:buNone/>
            </a:pPr>
            <a:r>
              <a:rPr lang="en-US" sz="1350" dirty="0">
                <a:solidFill>
                  <a:srgbClr val="5A6472"/>
                </a:solidFill>
              </a:rPr>
              <a:t>Criar proximidade e explicar como a disciplina será conduzida.</a:t>
            </a:r>
            <a:endParaRPr lang="en-US" sz="1350" dirty="0"/>
          </a:p>
        </p:txBody>
      </p:sp>
      <p:sp>
        <p:nvSpPr>
          <p:cNvPr id="9" name="Shape 6"/>
          <p:cNvSpPr/>
          <p:nvPr/>
        </p:nvSpPr>
        <p:spPr>
          <a:xfrm>
            <a:off x="777240" y="1975104"/>
            <a:ext cx="91440" cy="91440"/>
          </a:xfrm>
          <a:prstGeom prst="ellipse">
            <a:avLst/>
          </a:prstGeom>
          <a:solidFill>
            <a:srgbClr val="D71920"/>
          </a:solidFill>
          <a:ln w="12700">
            <a:solidFill>
              <a:srgbClr val="D71920"/>
            </a:solidFill>
            <a:prstDash val="solid"/>
          </a:ln>
        </p:spPr>
        <p:txBody>
          <a:bodyPr/>
          <a:p/>
        </p:txBody>
      </p:sp>
      <p:sp>
        <p:nvSpPr>
          <p:cNvPr id="10" name="Text 7"/>
          <p:cNvSpPr/>
          <p:nvPr/>
        </p:nvSpPr>
        <p:spPr>
          <a:xfrm>
            <a:off x="978408" y="1901952"/>
            <a:ext cx="7132320" cy="292608"/>
          </a:xfrm>
          <a:prstGeom prst="rect">
            <a:avLst/>
          </a:prstGeom>
          <a:noFill/>
          <a:ln/>
        </p:spPr>
        <p:txBody>
          <a:bodyPr wrap="square" lIns="0" tIns="0" rIns="0" bIns="0" rtlCol="0" anchor="ctr">
            <a:normAutofit/>
          </a:bodyPr>
          <a:lstStyle/>
          <a:p>
            <a:pPr indent="0" marL="0">
              <a:buNone/>
            </a:pPr>
            <a:r>
              <a:rPr lang="en-US" sz="1800" dirty="0">
                <a:solidFill>
                  <a:srgbClr val="12161C"/>
                </a:solidFill>
              </a:rPr>
              <a:t>Quem sou eu e minha experiência com desenvolvimento</a:t>
            </a:r>
            <a:endParaRPr lang="en-US" sz="1800" dirty="0"/>
          </a:p>
        </p:txBody>
      </p:sp>
      <p:sp>
        <p:nvSpPr>
          <p:cNvPr id="11" name="Shape 8"/>
          <p:cNvSpPr/>
          <p:nvPr/>
        </p:nvSpPr>
        <p:spPr>
          <a:xfrm>
            <a:off x="777240" y="2505456"/>
            <a:ext cx="91440" cy="91440"/>
          </a:xfrm>
          <a:prstGeom prst="ellipse">
            <a:avLst/>
          </a:prstGeom>
          <a:solidFill>
            <a:srgbClr val="D71920"/>
          </a:solidFill>
          <a:ln w="12700">
            <a:solidFill>
              <a:srgbClr val="D71920"/>
            </a:solidFill>
            <a:prstDash val="solid"/>
          </a:ln>
        </p:spPr>
        <p:txBody>
          <a:bodyPr/>
          <a:p/>
        </p:txBody>
      </p:sp>
      <p:sp>
        <p:nvSpPr>
          <p:cNvPr id="12" name="Text 9"/>
          <p:cNvSpPr/>
          <p:nvPr/>
        </p:nvSpPr>
        <p:spPr>
          <a:xfrm>
            <a:off x="978408" y="2432304"/>
            <a:ext cx="7132320" cy="292608"/>
          </a:xfrm>
          <a:prstGeom prst="rect">
            <a:avLst/>
          </a:prstGeom>
          <a:noFill/>
          <a:ln/>
        </p:spPr>
        <p:txBody>
          <a:bodyPr wrap="square" lIns="0" tIns="0" rIns="0" bIns="0" rtlCol="0" anchor="ctr">
            <a:normAutofit/>
          </a:bodyPr>
          <a:lstStyle/>
          <a:p>
            <a:pPr indent="0" marL="0">
              <a:buNone/>
            </a:pPr>
            <a:r>
              <a:rPr lang="en-US" sz="1800" dirty="0">
                <a:solidFill>
                  <a:srgbClr val="12161C"/>
                </a:solidFill>
              </a:rPr>
              <a:t>Como serão as aulas: conceito → demonstração → prática</a:t>
            </a:r>
            <a:endParaRPr lang="en-US" sz="1800" dirty="0"/>
          </a:p>
        </p:txBody>
      </p:sp>
      <p:sp>
        <p:nvSpPr>
          <p:cNvPr id="13" name="Shape 10"/>
          <p:cNvSpPr/>
          <p:nvPr/>
        </p:nvSpPr>
        <p:spPr>
          <a:xfrm>
            <a:off x="777240" y="3035808"/>
            <a:ext cx="91440" cy="91440"/>
          </a:xfrm>
          <a:prstGeom prst="ellipse">
            <a:avLst/>
          </a:prstGeom>
          <a:solidFill>
            <a:srgbClr val="D71920"/>
          </a:solidFill>
          <a:ln w="12700">
            <a:solidFill>
              <a:srgbClr val="D71920"/>
            </a:solidFill>
            <a:prstDash val="solid"/>
          </a:ln>
        </p:spPr>
        <p:txBody>
          <a:bodyPr/>
          <a:p/>
        </p:txBody>
      </p:sp>
      <p:sp>
        <p:nvSpPr>
          <p:cNvPr id="14" name="Text 11"/>
          <p:cNvSpPr/>
          <p:nvPr/>
        </p:nvSpPr>
        <p:spPr>
          <a:xfrm>
            <a:off x="978408" y="2962656"/>
            <a:ext cx="7132320" cy="292608"/>
          </a:xfrm>
          <a:prstGeom prst="rect">
            <a:avLst/>
          </a:prstGeom>
          <a:noFill/>
          <a:ln/>
        </p:spPr>
        <p:txBody>
          <a:bodyPr wrap="square" lIns="0" tIns="0" rIns="0" bIns="0" rtlCol="0" anchor="ctr">
            <a:normAutofit/>
          </a:bodyPr>
          <a:lstStyle/>
          <a:p>
            <a:pPr indent="0" marL="0">
              <a:buNone/>
            </a:pPr>
            <a:r>
              <a:rPr lang="en-US" sz="1800" dirty="0">
                <a:solidFill>
                  <a:srgbClr val="12161C"/>
                </a:solidFill>
              </a:rPr>
              <a:t>O que espero da turma: participação, dúvidas e prática</a:t>
            </a:r>
            <a:endParaRPr lang="en-US" sz="1800" dirty="0"/>
          </a:p>
        </p:txBody>
      </p:sp>
      <p:sp>
        <p:nvSpPr>
          <p:cNvPr id="15" name="Shape 12"/>
          <p:cNvSpPr/>
          <p:nvPr/>
        </p:nvSpPr>
        <p:spPr>
          <a:xfrm>
            <a:off x="777240" y="3566160"/>
            <a:ext cx="91440" cy="91440"/>
          </a:xfrm>
          <a:prstGeom prst="ellipse">
            <a:avLst/>
          </a:prstGeom>
          <a:solidFill>
            <a:srgbClr val="D71920"/>
          </a:solidFill>
          <a:ln w="12700">
            <a:solidFill>
              <a:srgbClr val="D71920"/>
            </a:solidFill>
            <a:prstDash val="solid"/>
          </a:ln>
        </p:spPr>
        <p:txBody>
          <a:bodyPr/>
          <a:p/>
        </p:txBody>
      </p:sp>
      <p:sp>
        <p:nvSpPr>
          <p:cNvPr id="16" name="Text 13"/>
          <p:cNvSpPr/>
          <p:nvPr/>
        </p:nvSpPr>
        <p:spPr>
          <a:xfrm>
            <a:off x="978408" y="3493008"/>
            <a:ext cx="7132320" cy="292608"/>
          </a:xfrm>
          <a:prstGeom prst="rect">
            <a:avLst/>
          </a:prstGeom>
          <a:noFill/>
          <a:ln/>
        </p:spPr>
        <p:txBody>
          <a:bodyPr wrap="square" lIns="0" tIns="0" rIns="0" bIns="0" rtlCol="0" anchor="ctr">
            <a:normAutofit/>
          </a:bodyPr>
          <a:lstStyle/>
          <a:p>
            <a:pPr indent="0" marL="0">
              <a:buNone/>
            </a:pPr>
            <a:r>
              <a:rPr lang="en-US" sz="1800" dirty="0">
                <a:solidFill>
                  <a:srgbClr val="12161C"/>
                </a:solidFill>
              </a:rPr>
              <a:t>Como vamos conectar programação com aplicativos reais</a:t>
            </a:r>
            <a:endParaRPr lang="en-US" sz="1800" dirty="0"/>
          </a:p>
        </p:txBody>
      </p:sp>
      <p:sp>
        <p:nvSpPr>
          <p:cNvPr id="17" name="Shape 14"/>
          <p:cNvSpPr/>
          <p:nvPr/>
        </p:nvSpPr>
        <p:spPr>
          <a:xfrm>
            <a:off x="8275320" y="1600200"/>
            <a:ext cx="2971800" cy="2880360"/>
          </a:xfrm>
          <a:prstGeom prst="roundRect">
            <a:avLst>
              <a:gd name="adj" fmla="val 5714"/>
            </a:avLst>
          </a:prstGeom>
          <a:solidFill>
            <a:srgbClr val="FFF9E6"/>
          </a:solidFill>
          <a:ln w="12700">
            <a:solidFill>
              <a:srgbClr val="F0D36F"/>
            </a:solidFill>
            <a:prstDash val="solid"/>
          </a:ln>
        </p:spPr>
        <p:txBody>
          <a:bodyPr/>
          <a:p/>
        </p:txBody>
      </p:sp>
      <p:sp>
        <p:nvSpPr>
          <p:cNvPr id="18" name="Text 15"/>
          <p:cNvSpPr/>
          <p:nvPr/>
        </p:nvSpPr>
        <p:spPr>
          <a:xfrm>
            <a:off x="8549640" y="2011680"/>
            <a:ext cx="2377440" cy="365760"/>
          </a:xfrm>
          <a:prstGeom prst="rect">
            <a:avLst/>
          </a:prstGeom>
          <a:noFill/>
          <a:ln/>
        </p:spPr>
        <p:txBody>
          <a:bodyPr wrap="square" lIns="0" tIns="0" rIns="0" bIns="0" rtlCol="0" anchor="ctr"/>
          <a:lstStyle/>
          <a:p>
            <a:pPr algn="ctr" indent="0" marL="0">
              <a:buNone/>
            </a:pPr>
            <a:r>
              <a:rPr lang="en-US" sz="2200" b="1" dirty="0">
                <a:solidFill>
                  <a:srgbClr val="12161C"/>
                </a:solidFill>
              </a:rPr>
              <a:t>Emanuel Nascente</a:t>
            </a:r>
            <a:endParaRPr lang="en-US" sz="2200" dirty="0"/>
          </a:p>
        </p:txBody>
      </p:sp>
      <p:sp>
        <p:nvSpPr>
          <p:cNvPr id="19" name="Text 16"/>
          <p:cNvSpPr/>
          <p:nvPr/>
        </p:nvSpPr>
        <p:spPr>
          <a:xfrm>
            <a:off x="8549640" y="2532888"/>
            <a:ext cx="2377440" cy="274320"/>
          </a:xfrm>
          <a:prstGeom prst="rect">
            <a:avLst/>
          </a:prstGeom>
          <a:noFill/>
          <a:ln/>
        </p:spPr>
        <p:txBody>
          <a:bodyPr wrap="square" lIns="0" tIns="0" rIns="0" bIns="0" rtlCol="0" anchor="ctr"/>
          <a:lstStyle/>
          <a:p>
            <a:pPr algn="ctr" indent="0" marL="0">
              <a:buNone/>
            </a:pPr>
            <a:r>
              <a:rPr lang="en-US" sz="1200" dirty="0">
                <a:solidFill>
                  <a:srgbClr val="5A6472"/>
                </a:solidFill>
              </a:rPr>
              <a:t>Professor de Desenvolvimento Mobile</a:t>
            </a:r>
            <a:endParaRPr lang="en-US" sz="1200" dirty="0"/>
          </a:p>
        </p:txBody>
      </p:sp>
      <p:sp>
        <p:nvSpPr>
          <p:cNvPr id="20" name="Text 17"/>
          <p:cNvSpPr/>
          <p:nvPr/>
        </p:nvSpPr>
        <p:spPr>
          <a:xfrm>
            <a:off x="8641080" y="3154680"/>
            <a:ext cx="2194560" cy="822960"/>
          </a:xfrm>
          <a:prstGeom prst="rect">
            <a:avLst/>
          </a:prstGeom>
          <a:noFill/>
          <a:ln/>
        </p:spPr>
        <p:txBody>
          <a:bodyPr wrap="square" lIns="508" tIns="508" rIns="508" bIns="508" rtlCol="0" anchor="ctr">
            <a:normAutofit/>
          </a:bodyPr>
          <a:lstStyle/>
          <a:p>
            <a:pPr algn="ctr" indent="0" marL="0">
              <a:buNone/>
            </a:pPr>
            <a:r>
              <a:rPr lang="en-US" sz="1250" dirty="0">
                <a:solidFill>
                  <a:srgbClr val="12161C"/>
                </a:solidFill>
              </a:rPr>
              <a:t>Aulas com foco em entendimento, exemplos práticos e construção gradual de conhecimento.</a:t>
            </a:r>
            <a:endParaRPr lang="en-US" sz="1250" dirty="0"/>
          </a:p>
        </p:txBody>
      </p:sp>
      <p:sp>
        <p:nvSpPr>
          <p:cNvPr id="22" name="Shape 18"/>
          <p:cNvSpPr/>
          <p:nvPr/>
        </p:nvSpPr>
        <p:spPr>
          <a:xfrm>
            <a:off x="621792" y="6455664"/>
            <a:ext cx="11018520" cy="0"/>
          </a:xfrm>
          <a:prstGeom prst="line">
            <a:avLst/>
          </a:prstGeom>
          <a:noFill/>
          <a:ln w="12700">
            <a:solidFill>
              <a:srgbClr val="E7E4DE"/>
            </a:solidFill>
            <a:prstDash val="solid"/>
          </a:ln>
        </p:spPr>
        <p:txBody>
          <a:bodyPr/>
          <a:p/>
        </p:txBody>
      </p:sp>
      <p:sp>
        <p:nvSpPr>
          <p:cNvPr id="23" name="Text 19"/>
          <p:cNvSpPr/>
          <p:nvPr/>
        </p:nvSpPr>
        <p:spPr>
          <a:xfrm>
            <a:off x="621792" y="6537960"/>
            <a:ext cx="2194560" cy="182880"/>
          </a:xfrm>
          <a:prstGeom prst="rect">
            <a:avLst/>
          </a:prstGeom>
          <a:noFill/>
          <a:ln/>
        </p:spPr>
        <p:txBody>
          <a:bodyPr wrap="square" lIns="0" tIns="0" rIns="0" bIns="0" rtlCol="0" anchor="ctr"/>
          <a:lstStyle/>
          <a:p>
            <a:pPr indent="0" marL="0">
              <a:buNone/>
            </a:pPr>
            <a:r>
              <a:rPr lang="en-US" sz="850" dirty="0">
                <a:solidFill>
                  <a:srgbClr val="5A6472"/>
                </a:solidFill>
              </a:rPr>
              <a:t>Emanuel Nascente</a:t>
            </a:r>
            <a:endParaRPr lang="en-US" sz="850" dirty="0"/>
          </a:p>
        </p:txBody>
      </p:sp>
      <p:sp>
        <p:nvSpPr>
          <p:cNvPr id="24" name="Text 20"/>
          <p:cNvSpPr/>
          <p:nvPr/>
        </p:nvSpPr>
        <p:spPr>
          <a:xfrm>
            <a:off x="11064240" y="6519672"/>
            <a:ext cx="548640" cy="228600"/>
          </a:xfrm>
          <a:prstGeom prst="rect">
            <a:avLst/>
          </a:prstGeom>
          <a:noFill/>
          <a:ln/>
        </p:spPr>
        <p:txBody>
          <a:bodyPr wrap="square" lIns="0" tIns="0" rIns="0" bIns="0" rtlCol="0" anchor="ctr"/>
          <a:lstStyle/>
          <a:p>
            <a:pPr algn="r" indent="0" marL="0">
              <a:buNone/>
            </a:pPr>
            <a:r>
              <a:rPr sz="850" b="1">
                <a:solidFill>
                  <a:srgbClr val="5A6472"/>
                </a:solidFill>
              </a:rPr>
              <a:t>03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D71920"/>
          </a:solidFill>
          <a:ln w="12700">
            <a:solidFill>
              <a:srgbClr val="D71920"/>
            </a:solidFill>
            <a:prstDash val="solid"/>
          </a:ln>
        </p:spPr>
        <p:txBody>
          <a:bodyPr/>
          <a:p/>
        </p:txBody>
      </p:sp>
      <p:sp>
        <p:nvSpPr>
          <p:cNvPr id="3" name="Shape 1"/>
          <p:cNvSpPr/>
          <p:nvPr/>
        </p:nvSpPr>
        <p:spPr>
          <a:xfrm>
            <a:off x="164592" y="0"/>
            <a:ext cx="54864" cy="6858000"/>
          </a:xfrm>
          <a:prstGeom prst="rect">
            <a:avLst/>
          </a:prstGeom>
          <a:solidFill>
            <a:srgbClr val="FFD322"/>
          </a:solidFill>
          <a:ln w="12700">
            <a:solidFill>
              <a:srgbClr val="FFD322"/>
            </a:solidFill>
            <a:prstDash val="solid"/>
          </a:ln>
        </p:spPr>
        <p:txBody>
          <a:bodyPr/>
          <a:p/>
        </p:txBody>
      </p:sp>
      <p:sp>
        <p:nvSpPr>
          <p:cNvPr id="4" name="Text 2"/>
          <p:cNvSpPr/>
          <p:nvPr/>
        </p:nvSpPr>
        <p:spPr>
          <a:xfrm>
            <a:off x="438912" y="210312"/>
            <a:ext cx="2103120" cy="256032"/>
          </a:xfrm>
          <a:prstGeom prst="rect">
            <a:avLst/>
          </a:prstGeom>
          <a:noFill/>
          <a:ln/>
        </p:spPr>
        <p:txBody>
          <a:bodyPr wrap="square" lIns="0" tIns="0" rIns="0" bIns="0" rtlCol="0" anchor="ctr"/>
          <a:lstStyle/>
          <a:p>
            <a:pPr indent="0" marL="0">
              <a:buNone/>
            </a:pPr>
            <a:r>
              <a:rPr lang="en-US" sz="950" b="1" dirty="0">
                <a:solidFill>
                  <a:srgbClr val="D71920"/>
                </a:solidFill>
                <a:latin typeface="Aptos" pitchFamily="34" charset="0"/>
                <a:ea typeface="Aptos" pitchFamily="34" charset="-122"/>
                <a:cs typeface="Aptos" pitchFamily="34" charset="-120"/>
              </a:rPr>
              <a:t>Aula 01</a:t>
            </a:r>
            <a:endParaRPr lang="en-US" sz="950" dirty="0"/>
          </a:p>
        </p:txBody>
      </p:sp>
      <p:sp>
        <p:nvSpPr>
          <p:cNvPr id="5" name="Text 3"/>
          <p:cNvSpPr/>
          <p:nvPr/>
        </p:nvSpPr>
        <p:spPr>
          <a:xfrm>
            <a:off x="2788920" y="210312"/>
            <a:ext cx="2743200" cy="256032"/>
          </a:xfrm>
          <a:prstGeom prst="rect">
            <a:avLst/>
          </a:prstGeom>
          <a:noFill/>
          <a:ln/>
        </p:spPr>
        <p:txBody>
          <a:bodyPr wrap="square" lIns="0" tIns="0" rIns="0" bIns="0" rtlCol="0" anchor="ctr"/>
          <a:lstStyle/>
          <a:p>
            <a:pPr indent="0" marL="0">
              <a:buNone/>
            </a:pPr>
            <a:r>
              <a:rPr lang="en-US" sz="950" dirty="0">
                <a:solidFill>
                  <a:srgbClr val="5A6472"/>
                </a:solidFill>
              </a:rPr>
              <a:t>Desenvolvimento Mobile</a:t>
            </a:r>
            <a:endParaRPr lang="en-US" sz="950" dirty="0"/>
          </a:p>
        </p:txBody>
      </p:sp>
      <p:pic>
        <p:nvPicPr>
          <p:cNvPr id="6" name="Image 0" descr="/mnt/data/logo_mesquita_stylized.png">    </p:cNvPr>
          <p:cNvPicPr>
            <a:picLocks noChangeAspect="1"/>
          </p:cNvPicPr>
          <p:nvPr/>
        </p:nvPicPr>
        <p:blipFill>
          <a:blip r:embed="rId1"/>
          <a:stretch>
            <a:fillRect/>
          </a:stretch>
        </p:blipFill>
        <p:spPr>
          <a:xfrm>
            <a:off x="10744200" y="128016"/>
            <a:ext cx="987552" cy="685800"/>
          </a:xfrm>
          <a:prstGeom prst="rect">
            <a:avLst/>
          </a:prstGeom>
        </p:spPr>
      </p:pic>
      <p:sp>
        <p:nvSpPr>
          <p:cNvPr id="7" name="Text 4"/>
          <p:cNvSpPr/>
          <p:nvPr/>
        </p:nvSpPr>
        <p:spPr>
          <a:xfrm>
            <a:off x="502920" y="749808"/>
            <a:ext cx="8503920" cy="530352"/>
          </a:xfrm>
          <a:prstGeom prst="rect">
            <a:avLst/>
          </a:prstGeom>
          <a:noFill/>
          <a:ln/>
        </p:spPr>
        <p:txBody>
          <a:bodyPr wrap="square" lIns="0" tIns="0" rIns="0" bIns="0" rtlCol="0" anchor="ctr">
            <a:normAutofit/>
          </a:bodyPr>
          <a:lstStyle/>
          <a:p>
            <a:pPr indent="0" marL="0">
              <a:buNone/>
            </a:pPr>
            <a:r>
              <a:rPr lang="en-US" sz="3000" b="1" dirty="0">
                <a:solidFill>
                  <a:srgbClr val="12161C"/>
                </a:solidFill>
                <a:latin typeface="Aptos Display" pitchFamily="34" charset="0"/>
                <a:ea typeface="Aptos Display" pitchFamily="34" charset="-122"/>
                <a:cs typeface="Aptos Display" pitchFamily="34" charset="-120"/>
              </a:rPr>
              <a:t>Apresentação dos alunos</a:t>
            </a:r>
            <a:endParaRPr lang="en-US" sz="3000" dirty="0"/>
          </a:p>
        </p:txBody>
      </p:sp>
      <p:sp>
        <p:nvSpPr>
          <p:cNvPr id="8" name="Text 5"/>
          <p:cNvSpPr/>
          <p:nvPr/>
        </p:nvSpPr>
        <p:spPr>
          <a:xfrm>
            <a:off x="530352" y="1325880"/>
            <a:ext cx="7589520" cy="320040"/>
          </a:xfrm>
          <a:prstGeom prst="rect">
            <a:avLst/>
          </a:prstGeom>
          <a:noFill/>
          <a:ln/>
        </p:spPr>
        <p:txBody>
          <a:bodyPr wrap="square" lIns="0" tIns="0" rIns="0" bIns="0" rtlCol="0" anchor="ctr"/>
          <a:lstStyle/>
          <a:p>
            <a:pPr indent="0" marL="0">
              <a:buNone/>
            </a:pPr>
            <a:r>
              <a:rPr lang="en-US" sz="1350" dirty="0">
                <a:solidFill>
                  <a:srgbClr val="5A6472"/>
                </a:solidFill>
              </a:rPr>
              <a:t>A turma já está no 3º módulo: vamos entender o ponto de partida real.</a:t>
            </a:r>
            <a:endParaRPr lang="en-US" sz="1350" dirty="0"/>
          </a:p>
        </p:txBody>
      </p:sp>
      <p:sp>
        <p:nvSpPr>
          <p:cNvPr id="9" name="Text 6"/>
          <p:cNvSpPr/>
          <p:nvPr/>
        </p:nvSpPr>
        <p:spPr>
          <a:xfrm>
            <a:off x="777240" y="1783080"/>
            <a:ext cx="4297680" cy="320040"/>
          </a:xfrm>
          <a:prstGeom prst="rect">
            <a:avLst/>
          </a:prstGeom>
          <a:noFill/>
          <a:ln/>
        </p:spPr>
        <p:txBody>
          <a:bodyPr wrap="square" lIns="0" tIns="0" rIns="0" bIns="0" rtlCol="0" anchor="ctr"/>
          <a:lstStyle/>
          <a:p>
            <a:pPr indent="0" marL="0">
              <a:buNone/>
            </a:pPr>
            <a:r>
              <a:rPr lang="en-US" sz="1800" b="1" dirty="0">
                <a:solidFill>
                  <a:srgbClr val="12161C"/>
                </a:solidFill>
              </a:rPr>
              <a:t>Cada aluno responde em até 1 minuto:</a:t>
            </a:r>
            <a:endParaRPr lang="en-US" sz="1800" dirty="0"/>
          </a:p>
        </p:txBody>
      </p:sp>
      <p:sp>
        <p:nvSpPr>
          <p:cNvPr id="10" name="Shape 7"/>
          <p:cNvSpPr/>
          <p:nvPr/>
        </p:nvSpPr>
        <p:spPr>
          <a:xfrm>
            <a:off x="868680" y="2304288"/>
            <a:ext cx="320040" cy="320040"/>
          </a:xfrm>
          <a:prstGeom prst="roundRect">
            <a:avLst>
              <a:gd name="adj" fmla="val 22857"/>
            </a:avLst>
          </a:prstGeom>
          <a:solidFill>
            <a:srgbClr val="D71920"/>
          </a:solidFill>
          <a:ln w="12700">
            <a:solidFill>
              <a:srgbClr val="D71920"/>
            </a:solidFill>
            <a:prstDash val="solid"/>
          </a:ln>
        </p:spPr>
        <p:txBody>
          <a:bodyPr/>
          <a:p/>
        </p:txBody>
      </p:sp>
      <p:sp>
        <p:nvSpPr>
          <p:cNvPr id="11" name="Text 8"/>
          <p:cNvSpPr/>
          <p:nvPr/>
        </p:nvSpPr>
        <p:spPr>
          <a:xfrm>
            <a:off x="868680" y="2372868"/>
            <a:ext cx="320040" cy="91440"/>
          </a:xfrm>
          <a:prstGeom prst="rect">
            <a:avLst/>
          </a:prstGeom>
          <a:noFill/>
          <a:ln/>
        </p:spPr>
        <p:txBody>
          <a:bodyPr wrap="square" lIns="0" tIns="0" rIns="0" bIns="0" rtlCol="0" anchor="ctr"/>
          <a:lstStyle/>
          <a:p>
            <a:pPr algn="ctr" indent="0" marL="0">
              <a:buNone/>
            </a:pPr>
            <a:r>
              <a:rPr lang="en-US" sz="900" b="1" dirty="0">
                <a:solidFill>
                  <a:srgbClr val="FFFFFF"/>
                </a:solidFill>
              </a:rPr>
              <a:t>1</a:t>
            </a:r>
            <a:endParaRPr lang="en-US" sz="900" dirty="0"/>
          </a:p>
        </p:txBody>
      </p:sp>
      <p:sp>
        <p:nvSpPr>
          <p:cNvPr id="12" name="Text 9"/>
          <p:cNvSpPr/>
          <p:nvPr/>
        </p:nvSpPr>
        <p:spPr>
          <a:xfrm>
            <a:off x="1353312" y="2331720"/>
            <a:ext cx="5669280" cy="246888"/>
          </a:xfrm>
          <a:prstGeom prst="rect">
            <a:avLst/>
          </a:prstGeom>
          <a:noFill/>
          <a:ln/>
        </p:spPr>
        <p:txBody>
          <a:bodyPr wrap="square" lIns="0" tIns="0" rIns="0" bIns="0" rtlCol="0" anchor="ctr">
            <a:normAutofit/>
          </a:bodyPr>
          <a:lstStyle/>
          <a:p>
            <a:pPr indent="0" marL="0">
              <a:buNone/>
            </a:pPr>
            <a:r>
              <a:rPr lang="en-US" sz="1550" dirty="0">
                <a:solidFill>
                  <a:srgbClr val="12161C"/>
                </a:solidFill>
              </a:rPr>
              <a:t>Nome</a:t>
            </a:r>
            <a:endParaRPr lang="en-US" sz="1550" dirty="0"/>
          </a:p>
        </p:txBody>
      </p:sp>
      <p:sp>
        <p:nvSpPr>
          <p:cNvPr id="13" name="Shape 10"/>
          <p:cNvSpPr/>
          <p:nvPr/>
        </p:nvSpPr>
        <p:spPr>
          <a:xfrm>
            <a:off x="868680" y="2807208"/>
            <a:ext cx="320040" cy="320040"/>
          </a:xfrm>
          <a:prstGeom prst="roundRect">
            <a:avLst>
              <a:gd name="adj" fmla="val 22857"/>
            </a:avLst>
          </a:prstGeom>
          <a:solidFill>
            <a:srgbClr val="D71920"/>
          </a:solidFill>
          <a:ln w="12700">
            <a:solidFill>
              <a:srgbClr val="D71920"/>
            </a:solidFill>
            <a:prstDash val="solid"/>
          </a:ln>
        </p:spPr>
        <p:txBody>
          <a:bodyPr/>
          <a:p/>
        </p:txBody>
      </p:sp>
      <p:sp>
        <p:nvSpPr>
          <p:cNvPr id="14" name="Text 11"/>
          <p:cNvSpPr/>
          <p:nvPr/>
        </p:nvSpPr>
        <p:spPr>
          <a:xfrm>
            <a:off x="868680" y="2875788"/>
            <a:ext cx="320040" cy="91440"/>
          </a:xfrm>
          <a:prstGeom prst="rect">
            <a:avLst/>
          </a:prstGeom>
          <a:noFill/>
          <a:ln/>
        </p:spPr>
        <p:txBody>
          <a:bodyPr wrap="square" lIns="0" tIns="0" rIns="0" bIns="0" rtlCol="0" anchor="ctr"/>
          <a:lstStyle/>
          <a:p>
            <a:pPr algn="ctr" indent="0" marL="0">
              <a:buNone/>
            </a:pPr>
            <a:r>
              <a:rPr lang="en-US" sz="900" b="1" dirty="0">
                <a:solidFill>
                  <a:srgbClr val="FFFFFF"/>
                </a:solidFill>
              </a:rPr>
              <a:t>2</a:t>
            </a:r>
            <a:endParaRPr lang="en-US" sz="900" dirty="0"/>
          </a:p>
        </p:txBody>
      </p:sp>
      <p:sp>
        <p:nvSpPr>
          <p:cNvPr id="15" name="Text 12"/>
          <p:cNvSpPr/>
          <p:nvPr/>
        </p:nvSpPr>
        <p:spPr>
          <a:xfrm>
            <a:off x="1353312" y="2834640"/>
            <a:ext cx="5669280" cy="246888"/>
          </a:xfrm>
          <a:prstGeom prst="rect">
            <a:avLst/>
          </a:prstGeom>
          <a:noFill/>
          <a:ln/>
        </p:spPr>
        <p:txBody>
          <a:bodyPr wrap="square" lIns="0" tIns="0" rIns="0" bIns="0" rtlCol="0" anchor="ctr">
            <a:normAutofit/>
          </a:bodyPr>
          <a:lstStyle/>
          <a:p>
            <a:pPr indent="0" marL="0">
              <a:buNone/>
            </a:pPr>
            <a:r>
              <a:rPr lang="en-US" sz="1550" dirty="0">
                <a:solidFill>
                  <a:srgbClr val="12161C"/>
                </a:solidFill>
              </a:rPr>
              <a:t>O que já estudou/programou no curso?</a:t>
            </a:r>
            <a:endParaRPr lang="en-US" sz="1550" dirty="0"/>
          </a:p>
        </p:txBody>
      </p:sp>
      <p:sp>
        <p:nvSpPr>
          <p:cNvPr id="16" name="Shape 13"/>
          <p:cNvSpPr/>
          <p:nvPr/>
        </p:nvSpPr>
        <p:spPr>
          <a:xfrm>
            <a:off x="868680" y="3310128"/>
            <a:ext cx="320040" cy="320040"/>
          </a:xfrm>
          <a:prstGeom prst="roundRect">
            <a:avLst>
              <a:gd name="adj" fmla="val 22857"/>
            </a:avLst>
          </a:prstGeom>
          <a:solidFill>
            <a:srgbClr val="D71920"/>
          </a:solidFill>
          <a:ln w="12700">
            <a:solidFill>
              <a:srgbClr val="D71920"/>
            </a:solidFill>
            <a:prstDash val="solid"/>
          </a:ln>
        </p:spPr>
        <p:txBody>
          <a:bodyPr/>
          <a:p/>
        </p:txBody>
      </p:sp>
      <p:sp>
        <p:nvSpPr>
          <p:cNvPr id="17" name="Text 14"/>
          <p:cNvSpPr/>
          <p:nvPr/>
        </p:nvSpPr>
        <p:spPr>
          <a:xfrm>
            <a:off x="868680" y="3378708"/>
            <a:ext cx="320040" cy="91440"/>
          </a:xfrm>
          <a:prstGeom prst="rect">
            <a:avLst/>
          </a:prstGeom>
          <a:noFill/>
          <a:ln/>
        </p:spPr>
        <p:txBody>
          <a:bodyPr wrap="square" lIns="0" tIns="0" rIns="0" bIns="0" rtlCol="0" anchor="ctr"/>
          <a:lstStyle/>
          <a:p>
            <a:pPr algn="ctr" indent="0" marL="0">
              <a:buNone/>
            </a:pPr>
            <a:r>
              <a:rPr lang="en-US" sz="900" b="1" dirty="0">
                <a:solidFill>
                  <a:srgbClr val="FFFFFF"/>
                </a:solidFill>
              </a:rPr>
              <a:t>3</a:t>
            </a:r>
            <a:endParaRPr lang="en-US" sz="900" dirty="0"/>
          </a:p>
        </p:txBody>
      </p:sp>
      <p:sp>
        <p:nvSpPr>
          <p:cNvPr id="18" name="Text 15"/>
          <p:cNvSpPr/>
          <p:nvPr/>
        </p:nvSpPr>
        <p:spPr>
          <a:xfrm>
            <a:off x="1353312" y="3337560"/>
            <a:ext cx="5669280" cy="246888"/>
          </a:xfrm>
          <a:prstGeom prst="rect">
            <a:avLst/>
          </a:prstGeom>
          <a:noFill/>
          <a:ln/>
        </p:spPr>
        <p:txBody>
          <a:bodyPr wrap="square" lIns="0" tIns="0" rIns="0" bIns="0" rtlCol="0" anchor="ctr">
            <a:normAutofit/>
          </a:bodyPr>
          <a:lstStyle/>
          <a:p>
            <a:pPr indent="0" marL="0">
              <a:buNone/>
            </a:pPr>
            <a:r>
              <a:rPr lang="en-US" sz="1550" dirty="0">
                <a:solidFill>
                  <a:srgbClr val="12161C"/>
                </a:solidFill>
              </a:rPr>
              <a:t>Qual linguagem ou tecnologia mais gostou?</a:t>
            </a:r>
            <a:endParaRPr lang="en-US" sz="1550" dirty="0"/>
          </a:p>
        </p:txBody>
      </p:sp>
      <p:sp>
        <p:nvSpPr>
          <p:cNvPr id="19" name="Shape 16"/>
          <p:cNvSpPr/>
          <p:nvPr/>
        </p:nvSpPr>
        <p:spPr>
          <a:xfrm>
            <a:off x="868680" y="3813048"/>
            <a:ext cx="320040" cy="320040"/>
          </a:xfrm>
          <a:prstGeom prst="roundRect">
            <a:avLst>
              <a:gd name="adj" fmla="val 22857"/>
            </a:avLst>
          </a:prstGeom>
          <a:solidFill>
            <a:srgbClr val="D71920"/>
          </a:solidFill>
          <a:ln w="12700">
            <a:solidFill>
              <a:srgbClr val="D71920"/>
            </a:solidFill>
            <a:prstDash val="solid"/>
          </a:ln>
        </p:spPr>
        <p:txBody>
          <a:bodyPr/>
          <a:p/>
        </p:txBody>
      </p:sp>
      <p:sp>
        <p:nvSpPr>
          <p:cNvPr id="20" name="Text 17"/>
          <p:cNvSpPr/>
          <p:nvPr/>
        </p:nvSpPr>
        <p:spPr>
          <a:xfrm>
            <a:off x="868680" y="3881628"/>
            <a:ext cx="320040" cy="91440"/>
          </a:xfrm>
          <a:prstGeom prst="rect">
            <a:avLst/>
          </a:prstGeom>
          <a:noFill/>
          <a:ln/>
        </p:spPr>
        <p:txBody>
          <a:bodyPr wrap="square" lIns="0" tIns="0" rIns="0" bIns="0" rtlCol="0" anchor="ctr"/>
          <a:lstStyle/>
          <a:p>
            <a:pPr algn="ctr" indent="0" marL="0">
              <a:buNone/>
            </a:pPr>
            <a:r>
              <a:rPr lang="en-US" sz="900" b="1" dirty="0">
                <a:solidFill>
                  <a:srgbClr val="FFFFFF"/>
                </a:solidFill>
              </a:rPr>
              <a:t>4</a:t>
            </a:r>
            <a:endParaRPr lang="en-US" sz="900" dirty="0"/>
          </a:p>
        </p:txBody>
      </p:sp>
      <p:sp>
        <p:nvSpPr>
          <p:cNvPr id="21" name="Text 18"/>
          <p:cNvSpPr/>
          <p:nvPr/>
        </p:nvSpPr>
        <p:spPr>
          <a:xfrm>
            <a:off x="1353312" y="3840480"/>
            <a:ext cx="5669280" cy="246888"/>
          </a:xfrm>
          <a:prstGeom prst="rect">
            <a:avLst/>
          </a:prstGeom>
          <a:noFill/>
          <a:ln/>
        </p:spPr>
        <p:txBody>
          <a:bodyPr wrap="square" lIns="0" tIns="0" rIns="0" bIns="0" rtlCol="0" anchor="ctr">
            <a:normAutofit/>
          </a:bodyPr>
          <a:lstStyle/>
          <a:p>
            <a:pPr indent="0" marL="0">
              <a:buNone/>
            </a:pPr>
            <a:r>
              <a:rPr lang="en-US" sz="1550" dirty="0">
                <a:solidFill>
                  <a:srgbClr val="12161C"/>
                </a:solidFill>
              </a:rPr>
              <a:t>Já tentou criar algum app?</a:t>
            </a:r>
            <a:endParaRPr lang="en-US" sz="1550" dirty="0"/>
          </a:p>
        </p:txBody>
      </p:sp>
      <p:sp>
        <p:nvSpPr>
          <p:cNvPr id="22" name="Shape 19"/>
          <p:cNvSpPr/>
          <p:nvPr/>
        </p:nvSpPr>
        <p:spPr>
          <a:xfrm>
            <a:off x="868680" y="4315968"/>
            <a:ext cx="320040" cy="320040"/>
          </a:xfrm>
          <a:prstGeom prst="roundRect">
            <a:avLst>
              <a:gd name="adj" fmla="val 22857"/>
            </a:avLst>
          </a:prstGeom>
          <a:solidFill>
            <a:srgbClr val="D71920"/>
          </a:solidFill>
          <a:ln w="12700">
            <a:solidFill>
              <a:srgbClr val="D71920"/>
            </a:solidFill>
            <a:prstDash val="solid"/>
          </a:ln>
        </p:spPr>
        <p:txBody>
          <a:bodyPr/>
          <a:p/>
        </p:txBody>
      </p:sp>
      <p:sp>
        <p:nvSpPr>
          <p:cNvPr id="23" name="Text 20"/>
          <p:cNvSpPr/>
          <p:nvPr/>
        </p:nvSpPr>
        <p:spPr>
          <a:xfrm>
            <a:off x="868680" y="4384548"/>
            <a:ext cx="320040" cy="91440"/>
          </a:xfrm>
          <a:prstGeom prst="rect">
            <a:avLst/>
          </a:prstGeom>
          <a:noFill/>
          <a:ln/>
        </p:spPr>
        <p:txBody>
          <a:bodyPr wrap="square" lIns="0" tIns="0" rIns="0" bIns="0" rtlCol="0" anchor="ctr"/>
          <a:lstStyle/>
          <a:p>
            <a:pPr algn="ctr" indent="0" marL="0">
              <a:buNone/>
            </a:pPr>
            <a:r>
              <a:rPr lang="en-US" sz="900" b="1" dirty="0">
                <a:solidFill>
                  <a:srgbClr val="FFFFFF"/>
                </a:solidFill>
              </a:rPr>
              <a:t>5</a:t>
            </a:r>
            <a:endParaRPr lang="en-US" sz="900" dirty="0"/>
          </a:p>
        </p:txBody>
      </p:sp>
      <p:sp>
        <p:nvSpPr>
          <p:cNvPr id="24" name="Text 21"/>
          <p:cNvSpPr/>
          <p:nvPr/>
        </p:nvSpPr>
        <p:spPr>
          <a:xfrm>
            <a:off x="1353312" y="4343400"/>
            <a:ext cx="5669280" cy="246888"/>
          </a:xfrm>
          <a:prstGeom prst="rect">
            <a:avLst/>
          </a:prstGeom>
          <a:noFill/>
          <a:ln/>
        </p:spPr>
        <p:txBody>
          <a:bodyPr wrap="square" lIns="0" tIns="0" rIns="0" bIns="0" rtlCol="0" anchor="ctr">
            <a:normAutofit/>
          </a:bodyPr>
          <a:lstStyle/>
          <a:p>
            <a:pPr indent="0" marL="0">
              <a:buNone/>
            </a:pPr>
            <a:r>
              <a:rPr lang="en-US" sz="1550" dirty="0">
                <a:solidFill>
                  <a:srgbClr val="12161C"/>
                </a:solidFill>
              </a:rPr>
              <a:t>O que espera aprender nesta disciplina?</a:t>
            </a:r>
            <a:endParaRPr lang="en-US" sz="1550" dirty="0"/>
          </a:p>
        </p:txBody>
      </p:sp>
      <p:sp>
        <p:nvSpPr>
          <p:cNvPr id="25" name="Shape 22"/>
          <p:cNvSpPr/>
          <p:nvPr/>
        </p:nvSpPr>
        <p:spPr>
          <a:xfrm>
            <a:off x="7955280" y="2011680"/>
            <a:ext cx="3154680" cy="2651760"/>
          </a:xfrm>
          <a:prstGeom prst="roundRect">
            <a:avLst>
              <a:gd name="adj" fmla="val 6207"/>
            </a:avLst>
          </a:prstGeom>
          <a:solidFill>
            <a:srgbClr val="F7F7F5"/>
          </a:solidFill>
          <a:ln w="12700">
            <a:solidFill>
              <a:srgbClr val="E7E4DE"/>
            </a:solidFill>
            <a:prstDash val="solid"/>
          </a:ln>
        </p:spPr>
        <p:txBody>
          <a:bodyPr/>
          <a:p/>
        </p:txBody>
      </p:sp>
      <p:sp>
        <p:nvSpPr>
          <p:cNvPr id="26" name="Text 23"/>
          <p:cNvSpPr/>
          <p:nvPr/>
        </p:nvSpPr>
        <p:spPr>
          <a:xfrm>
            <a:off x="8275320" y="2331720"/>
            <a:ext cx="2514600" cy="320040"/>
          </a:xfrm>
          <a:prstGeom prst="rect">
            <a:avLst/>
          </a:prstGeom>
          <a:noFill/>
          <a:ln/>
        </p:spPr>
        <p:txBody>
          <a:bodyPr wrap="square" lIns="0" tIns="0" rIns="0" bIns="0" rtlCol="0" anchor="ctr"/>
          <a:lstStyle/>
          <a:p>
            <a:pPr algn="ctr" indent="0" marL="0">
              <a:buNone/>
            </a:pPr>
            <a:r>
              <a:rPr lang="en-US" sz="1800" b="1" dirty="0">
                <a:solidFill>
                  <a:srgbClr val="D71920"/>
                </a:solidFill>
              </a:rPr>
              <a:t>Regra de tempo</a:t>
            </a:r>
            <a:endParaRPr lang="en-US" sz="1800" dirty="0"/>
          </a:p>
        </p:txBody>
      </p:sp>
      <p:sp>
        <p:nvSpPr>
          <p:cNvPr id="27" name="Text 24"/>
          <p:cNvSpPr/>
          <p:nvPr/>
        </p:nvSpPr>
        <p:spPr>
          <a:xfrm>
            <a:off x="8302752" y="2880360"/>
            <a:ext cx="2450592" cy="1143000"/>
          </a:xfrm>
          <a:prstGeom prst="rect">
            <a:avLst/>
          </a:prstGeom>
          <a:noFill/>
          <a:ln/>
        </p:spPr>
        <p:txBody>
          <a:bodyPr wrap="square" lIns="0" tIns="0" rIns="0" bIns="0" rtlCol="0" anchor="ctr">
            <a:normAutofit/>
          </a:bodyPr>
          <a:lstStyle/>
          <a:p>
            <a:pPr algn="ctr" indent="0" marL="0">
              <a:buNone/>
            </a:pPr>
            <a:r>
              <a:rPr lang="en-US" sz="1400" dirty="0">
                <a:solidFill>
                  <a:srgbClr val="12161C"/>
                </a:solidFill>
              </a:rPr>
              <a:t>25 alunos × 1 minuto</a:t>
            </a:r>
            <a:endParaRPr lang="en-US" sz="1400" dirty="0"/>
          </a:p>
          <a:p>
            <a:pPr algn="ctr" indent="0" marL="0">
              <a:buNone/>
            </a:pPr>
            <a:r>
              <a:rPr lang="en-US" sz="1400" dirty="0">
                <a:solidFill>
                  <a:srgbClr val="12161C"/>
                </a:solidFill>
              </a:rPr>
              <a:t>≈ 25 minutos</a:t>
            </a:r>
            <a:endParaRPr lang="en-US" sz="1400" dirty="0"/>
          </a:p>
          <a:p>
            <a:pPr algn="ctr" indent="0" marL="0">
              <a:buNone/>
            </a:pPr>
            <a:endParaRPr lang="en-US" sz="1400" dirty="0"/>
          </a:p>
          <a:p>
            <a:pPr algn="ctr" indent="0" marL="0">
              <a:buNone/>
            </a:pPr>
            <a:r>
              <a:rPr lang="en-US" sz="1400" dirty="0">
                <a:solidFill>
                  <a:srgbClr val="12161C"/>
                </a:solidFill>
              </a:rPr>
              <a:t>Se passar disso, reduzimos as respostas abertas.</a:t>
            </a:r>
            <a:endParaRPr lang="en-US" sz="1400" dirty="0"/>
          </a:p>
        </p:txBody>
      </p:sp>
      <p:sp>
        <p:nvSpPr>
          <p:cNvPr id="29" name="Shape 25"/>
          <p:cNvSpPr/>
          <p:nvPr/>
        </p:nvSpPr>
        <p:spPr>
          <a:xfrm>
            <a:off x="621792" y="6455664"/>
            <a:ext cx="11018520" cy="0"/>
          </a:xfrm>
          <a:prstGeom prst="line">
            <a:avLst/>
          </a:prstGeom>
          <a:noFill/>
          <a:ln w="12700">
            <a:solidFill>
              <a:srgbClr val="E7E4DE"/>
            </a:solidFill>
            <a:prstDash val="solid"/>
          </a:ln>
        </p:spPr>
        <p:txBody>
          <a:bodyPr/>
          <a:p/>
        </p:txBody>
      </p:sp>
      <p:sp>
        <p:nvSpPr>
          <p:cNvPr id="30" name="Text 26"/>
          <p:cNvSpPr/>
          <p:nvPr/>
        </p:nvSpPr>
        <p:spPr>
          <a:xfrm>
            <a:off x="621792" y="6537960"/>
            <a:ext cx="2194560" cy="182880"/>
          </a:xfrm>
          <a:prstGeom prst="rect">
            <a:avLst/>
          </a:prstGeom>
          <a:noFill/>
          <a:ln/>
        </p:spPr>
        <p:txBody>
          <a:bodyPr wrap="square" lIns="0" tIns="0" rIns="0" bIns="0" rtlCol="0" anchor="ctr"/>
          <a:lstStyle/>
          <a:p>
            <a:pPr indent="0" marL="0">
              <a:buNone/>
            </a:pPr>
            <a:r>
              <a:rPr lang="en-US" sz="850" dirty="0">
                <a:solidFill>
                  <a:srgbClr val="5A6472"/>
                </a:solidFill>
              </a:rPr>
              <a:t>Emanuel Nascente</a:t>
            </a:r>
            <a:endParaRPr lang="en-US" sz="850" dirty="0"/>
          </a:p>
        </p:txBody>
      </p:sp>
      <p:sp>
        <p:nvSpPr>
          <p:cNvPr id="31" name="Text 27"/>
          <p:cNvSpPr/>
          <p:nvPr/>
        </p:nvSpPr>
        <p:spPr>
          <a:xfrm>
            <a:off x="11064240" y="6519672"/>
            <a:ext cx="548640" cy="228600"/>
          </a:xfrm>
          <a:prstGeom prst="rect">
            <a:avLst/>
          </a:prstGeom>
          <a:noFill/>
          <a:ln/>
        </p:spPr>
        <p:txBody>
          <a:bodyPr wrap="square" lIns="0" tIns="0" rIns="0" bIns="0" rtlCol="0" anchor="ctr"/>
          <a:lstStyle/>
          <a:p>
            <a:pPr algn="r" indent="0" marL="0">
              <a:buNone/>
            </a:pPr>
            <a:r>
              <a:rPr sz="850" b="1">
                <a:solidFill>
                  <a:srgbClr val="5A6472"/>
                </a:solidFill>
              </a:rPr>
              <a:t>04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D71920"/>
          </a:solidFill>
          <a:ln w="12700">
            <a:solidFill>
              <a:srgbClr val="D71920"/>
            </a:solidFill>
            <a:prstDash val="solid"/>
          </a:ln>
        </p:spPr>
        <p:txBody>
          <a:bodyPr/>
          <a:p/>
        </p:txBody>
      </p:sp>
      <p:sp>
        <p:nvSpPr>
          <p:cNvPr id="3" name="Shape 1"/>
          <p:cNvSpPr/>
          <p:nvPr/>
        </p:nvSpPr>
        <p:spPr>
          <a:xfrm>
            <a:off x="164592" y="0"/>
            <a:ext cx="54864" cy="6858000"/>
          </a:xfrm>
          <a:prstGeom prst="rect">
            <a:avLst/>
          </a:prstGeom>
          <a:solidFill>
            <a:srgbClr val="FFD322"/>
          </a:solidFill>
          <a:ln w="12700">
            <a:solidFill>
              <a:srgbClr val="FFD322"/>
            </a:solidFill>
            <a:prstDash val="solid"/>
          </a:ln>
        </p:spPr>
        <p:txBody>
          <a:bodyPr/>
          <a:p/>
        </p:txBody>
      </p:sp>
      <p:sp>
        <p:nvSpPr>
          <p:cNvPr id="4" name="Text 2"/>
          <p:cNvSpPr/>
          <p:nvPr/>
        </p:nvSpPr>
        <p:spPr>
          <a:xfrm>
            <a:off x="438912" y="210312"/>
            <a:ext cx="2103120" cy="256032"/>
          </a:xfrm>
          <a:prstGeom prst="rect">
            <a:avLst/>
          </a:prstGeom>
          <a:noFill/>
          <a:ln/>
        </p:spPr>
        <p:txBody>
          <a:bodyPr wrap="square" lIns="0" tIns="0" rIns="0" bIns="0" rtlCol="0" anchor="ctr"/>
          <a:lstStyle/>
          <a:p>
            <a:pPr indent="0" marL="0">
              <a:buNone/>
            </a:pPr>
            <a:r>
              <a:rPr lang="en-US" sz="950" b="1" dirty="0">
                <a:solidFill>
                  <a:srgbClr val="D71920"/>
                </a:solidFill>
                <a:latin typeface="Aptos" pitchFamily="34" charset="0"/>
                <a:ea typeface="Aptos" pitchFamily="34" charset="-122"/>
                <a:cs typeface="Aptos" pitchFamily="34" charset="-120"/>
              </a:rPr>
              <a:t>Aula 01</a:t>
            </a:r>
            <a:endParaRPr lang="en-US" sz="950" dirty="0"/>
          </a:p>
        </p:txBody>
      </p:sp>
      <p:sp>
        <p:nvSpPr>
          <p:cNvPr id="5" name="Text 3"/>
          <p:cNvSpPr/>
          <p:nvPr/>
        </p:nvSpPr>
        <p:spPr>
          <a:xfrm>
            <a:off x="2788920" y="210312"/>
            <a:ext cx="2743200" cy="256032"/>
          </a:xfrm>
          <a:prstGeom prst="rect">
            <a:avLst/>
          </a:prstGeom>
          <a:noFill/>
          <a:ln/>
        </p:spPr>
        <p:txBody>
          <a:bodyPr wrap="square" lIns="0" tIns="0" rIns="0" bIns="0" rtlCol="0" anchor="ctr"/>
          <a:lstStyle/>
          <a:p>
            <a:pPr indent="0" marL="0">
              <a:buNone/>
            </a:pPr>
            <a:r>
              <a:rPr lang="en-US" sz="950" dirty="0">
                <a:solidFill>
                  <a:srgbClr val="5A6472"/>
                </a:solidFill>
              </a:rPr>
              <a:t>Desenvolvimento Mobile</a:t>
            </a:r>
            <a:endParaRPr lang="en-US" sz="950" dirty="0"/>
          </a:p>
        </p:txBody>
      </p:sp>
      <p:pic>
        <p:nvPicPr>
          <p:cNvPr id="6" name="Image 0" descr="/mnt/data/logo_mesquita_stylized.png">    </p:cNvPr>
          <p:cNvPicPr>
            <a:picLocks noChangeAspect="1"/>
          </p:cNvPicPr>
          <p:nvPr/>
        </p:nvPicPr>
        <p:blipFill>
          <a:blip r:embed="rId1"/>
          <a:stretch>
            <a:fillRect/>
          </a:stretch>
        </p:blipFill>
        <p:spPr>
          <a:xfrm>
            <a:off x="10744200" y="128016"/>
            <a:ext cx="987552" cy="685800"/>
          </a:xfrm>
          <a:prstGeom prst="rect">
            <a:avLst/>
          </a:prstGeom>
        </p:spPr>
      </p:pic>
      <p:sp>
        <p:nvSpPr>
          <p:cNvPr id="7" name="Text 4"/>
          <p:cNvSpPr/>
          <p:nvPr/>
        </p:nvSpPr>
        <p:spPr>
          <a:xfrm>
            <a:off x="502920" y="749808"/>
            <a:ext cx="8503920" cy="530352"/>
          </a:xfrm>
          <a:prstGeom prst="rect">
            <a:avLst/>
          </a:prstGeom>
          <a:noFill/>
          <a:ln/>
        </p:spPr>
        <p:txBody>
          <a:bodyPr wrap="square" lIns="0" tIns="0" rIns="0" bIns="0" rtlCol="0" anchor="ctr">
            <a:normAutofit/>
          </a:bodyPr>
          <a:lstStyle/>
          <a:p>
            <a:pPr indent="0" marL="0">
              <a:buNone/>
            </a:pPr>
            <a:r>
              <a:rPr lang="en-US" sz="3000" b="1" dirty="0">
                <a:solidFill>
                  <a:srgbClr val="12161C"/>
                </a:solidFill>
                <a:latin typeface="Aptos Display" pitchFamily="34" charset="0"/>
                <a:ea typeface="Aptos Display" pitchFamily="34" charset="-122"/>
                <a:cs typeface="Aptos Display" pitchFamily="34" charset="-120"/>
              </a:rPr>
              <a:t>O que vamos aprender no semestre?</a:t>
            </a:r>
            <a:endParaRPr lang="en-US" sz="3000" dirty="0"/>
          </a:p>
        </p:txBody>
      </p:sp>
      <p:sp>
        <p:nvSpPr>
          <p:cNvPr id="8" name="Text 5"/>
          <p:cNvSpPr/>
          <p:nvPr/>
        </p:nvSpPr>
        <p:spPr>
          <a:xfrm>
            <a:off x="530352" y="1325880"/>
            <a:ext cx="7589520" cy="320040"/>
          </a:xfrm>
          <a:prstGeom prst="rect">
            <a:avLst/>
          </a:prstGeom>
          <a:noFill/>
          <a:ln/>
        </p:spPr>
        <p:txBody>
          <a:bodyPr wrap="square" lIns="0" tIns="0" rIns="0" bIns="0" rtlCol="0" anchor="ctr"/>
          <a:lstStyle/>
          <a:p>
            <a:pPr indent="0" marL="0">
              <a:buNone/>
            </a:pPr>
            <a:r>
              <a:rPr lang="en-US" sz="1350" dirty="0">
                <a:solidFill>
                  <a:srgbClr val="5A6472"/>
                </a:solidFill>
              </a:rPr>
              <a:t>A disciplina acompanha o ciclo de criação de um aplicativo.</a:t>
            </a:r>
            <a:endParaRPr lang="en-US" sz="1350" dirty="0"/>
          </a:p>
        </p:txBody>
      </p:sp>
      <p:sp>
        <p:nvSpPr>
          <p:cNvPr id="9" name="Shape 6"/>
          <p:cNvSpPr/>
          <p:nvPr/>
        </p:nvSpPr>
        <p:spPr>
          <a:xfrm>
            <a:off x="777240" y="1847088"/>
            <a:ext cx="2240280" cy="1051560"/>
          </a:xfrm>
          <a:prstGeom prst="roundRect">
            <a:avLst>
              <a:gd name="adj" fmla="val 10435"/>
            </a:avLst>
          </a:prstGeom>
          <a:solidFill>
            <a:srgbClr val="FFF5F5"/>
          </a:solidFill>
          <a:ln w="19050">
            <a:solidFill>
              <a:srgbClr val="D71920"/>
            </a:solidFill>
            <a:prstDash val="solid"/>
          </a:ln>
        </p:spPr>
        <p:txBody>
          <a:bodyPr/>
          <a:p/>
        </p:txBody>
      </p:sp>
      <p:sp>
        <p:nvSpPr>
          <p:cNvPr id="10" name="Text 7"/>
          <p:cNvSpPr/>
          <p:nvPr/>
        </p:nvSpPr>
        <p:spPr>
          <a:xfrm>
            <a:off x="941832" y="2029968"/>
            <a:ext cx="1920240" cy="228600"/>
          </a:xfrm>
          <a:prstGeom prst="rect">
            <a:avLst/>
          </a:prstGeom>
          <a:noFill/>
          <a:ln/>
        </p:spPr>
        <p:txBody>
          <a:bodyPr wrap="square" lIns="0" tIns="0" rIns="0" bIns="0" rtlCol="0" anchor="ctr"/>
          <a:lstStyle/>
          <a:p>
            <a:pPr indent="0" marL="0">
              <a:buNone/>
            </a:pPr>
            <a:r>
              <a:rPr lang="en-US" sz="1450" b="1" dirty="0">
                <a:solidFill>
                  <a:srgbClr val="D71920"/>
                </a:solidFill>
              </a:rPr>
              <a:t>Introdução</a:t>
            </a:r>
            <a:endParaRPr lang="en-US" sz="1450" dirty="0"/>
          </a:p>
        </p:txBody>
      </p:sp>
      <p:sp>
        <p:nvSpPr>
          <p:cNvPr id="11" name="Text 8"/>
          <p:cNvSpPr/>
          <p:nvPr/>
        </p:nvSpPr>
        <p:spPr>
          <a:xfrm>
            <a:off x="941832" y="2350008"/>
            <a:ext cx="1828800" cy="329184"/>
          </a:xfrm>
          <a:prstGeom prst="rect">
            <a:avLst/>
          </a:prstGeom>
          <a:noFill/>
          <a:ln/>
        </p:spPr>
        <p:txBody>
          <a:bodyPr wrap="square" lIns="0" tIns="0" rIns="0" bIns="0" rtlCol="0" anchor="ctr">
            <a:normAutofit/>
          </a:bodyPr>
          <a:lstStyle/>
          <a:p>
            <a:pPr indent="0" marL="0">
              <a:buNone/>
            </a:pPr>
            <a:r>
              <a:rPr lang="en-US" sz="1080" dirty="0">
                <a:solidFill>
                  <a:srgbClr val="5A6472"/>
                </a:solidFill>
              </a:rPr>
              <a:t>Mobile, web, nativo e híbrido</a:t>
            </a:r>
            <a:endParaRPr lang="en-US" sz="1080" dirty="0"/>
          </a:p>
        </p:txBody>
      </p:sp>
      <p:sp>
        <p:nvSpPr>
          <p:cNvPr id="12" name="Shape 9"/>
          <p:cNvSpPr/>
          <p:nvPr/>
        </p:nvSpPr>
        <p:spPr>
          <a:xfrm>
            <a:off x="3538728" y="1847088"/>
            <a:ext cx="2240280" cy="1051560"/>
          </a:xfrm>
          <a:prstGeom prst="roundRect">
            <a:avLst>
              <a:gd name="adj" fmla="val 10435"/>
            </a:avLst>
          </a:prstGeom>
          <a:solidFill>
            <a:srgbClr val="FFFFFF"/>
          </a:solidFill>
          <a:ln w="12700">
            <a:solidFill>
              <a:srgbClr val="E7E4DE"/>
            </a:solidFill>
            <a:prstDash val="solid"/>
          </a:ln>
        </p:spPr>
        <p:txBody>
          <a:bodyPr/>
          <a:p/>
        </p:txBody>
      </p:sp>
      <p:sp>
        <p:nvSpPr>
          <p:cNvPr id="13" name="Text 10"/>
          <p:cNvSpPr/>
          <p:nvPr/>
        </p:nvSpPr>
        <p:spPr>
          <a:xfrm>
            <a:off x="3703320" y="2029968"/>
            <a:ext cx="1920240" cy="228600"/>
          </a:xfrm>
          <a:prstGeom prst="rect">
            <a:avLst/>
          </a:prstGeom>
          <a:noFill/>
          <a:ln/>
        </p:spPr>
        <p:txBody>
          <a:bodyPr wrap="square" lIns="0" tIns="0" rIns="0" bIns="0" rtlCol="0" anchor="ctr"/>
          <a:lstStyle/>
          <a:p>
            <a:pPr indent="0" marL="0">
              <a:buNone/>
            </a:pPr>
            <a:r>
              <a:rPr lang="en-US" sz="1450" b="1" dirty="0">
                <a:solidFill>
                  <a:srgbClr val="12161C"/>
                </a:solidFill>
              </a:rPr>
              <a:t>Kotlin / Java</a:t>
            </a:r>
            <a:endParaRPr lang="en-US" sz="1450" dirty="0"/>
          </a:p>
        </p:txBody>
      </p:sp>
      <p:sp>
        <p:nvSpPr>
          <p:cNvPr id="14" name="Text 11"/>
          <p:cNvSpPr/>
          <p:nvPr/>
        </p:nvSpPr>
        <p:spPr>
          <a:xfrm>
            <a:off x="3703320" y="2350008"/>
            <a:ext cx="1828800" cy="329184"/>
          </a:xfrm>
          <a:prstGeom prst="rect">
            <a:avLst/>
          </a:prstGeom>
          <a:noFill/>
          <a:ln/>
        </p:spPr>
        <p:txBody>
          <a:bodyPr wrap="square" lIns="0" tIns="0" rIns="0" bIns="0" rtlCol="0" anchor="ctr">
            <a:normAutofit/>
          </a:bodyPr>
          <a:lstStyle/>
          <a:p>
            <a:pPr indent="0" marL="0">
              <a:buNone/>
            </a:pPr>
            <a:r>
              <a:rPr lang="en-US" sz="1080" dirty="0">
                <a:solidFill>
                  <a:srgbClr val="5A6472"/>
                </a:solidFill>
              </a:rPr>
              <a:t>Linguagens no Android</a:t>
            </a:r>
            <a:endParaRPr lang="en-US" sz="1080" dirty="0"/>
          </a:p>
        </p:txBody>
      </p:sp>
      <p:sp>
        <p:nvSpPr>
          <p:cNvPr id="15" name="Shape 12"/>
          <p:cNvSpPr/>
          <p:nvPr/>
        </p:nvSpPr>
        <p:spPr>
          <a:xfrm>
            <a:off x="6300216" y="1847088"/>
            <a:ext cx="2240280" cy="1051560"/>
          </a:xfrm>
          <a:prstGeom prst="roundRect">
            <a:avLst>
              <a:gd name="adj" fmla="val 10435"/>
            </a:avLst>
          </a:prstGeom>
          <a:solidFill>
            <a:srgbClr val="FFFFFF"/>
          </a:solidFill>
          <a:ln w="12700">
            <a:solidFill>
              <a:srgbClr val="E7E4DE"/>
            </a:solidFill>
            <a:prstDash val="solid"/>
          </a:ln>
        </p:spPr>
        <p:txBody>
          <a:bodyPr/>
          <a:p/>
        </p:txBody>
      </p:sp>
      <p:sp>
        <p:nvSpPr>
          <p:cNvPr id="16" name="Text 13"/>
          <p:cNvSpPr/>
          <p:nvPr/>
        </p:nvSpPr>
        <p:spPr>
          <a:xfrm>
            <a:off x="6464808" y="2029968"/>
            <a:ext cx="1920240" cy="228600"/>
          </a:xfrm>
          <a:prstGeom prst="rect">
            <a:avLst/>
          </a:prstGeom>
          <a:noFill/>
          <a:ln/>
        </p:spPr>
        <p:txBody>
          <a:bodyPr wrap="square" lIns="0" tIns="0" rIns="0" bIns="0" rtlCol="0" anchor="ctr"/>
          <a:lstStyle/>
          <a:p>
            <a:pPr indent="0" marL="0">
              <a:buNone/>
            </a:pPr>
            <a:r>
              <a:rPr lang="en-US" sz="1450" b="1" dirty="0">
                <a:solidFill>
                  <a:srgbClr val="12161C"/>
                </a:solidFill>
              </a:rPr>
              <a:t>Android nativo</a:t>
            </a:r>
            <a:endParaRPr lang="en-US" sz="1450" dirty="0"/>
          </a:p>
        </p:txBody>
      </p:sp>
      <p:sp>
        <p:nvSpPr>
          <p:cNvPr id="17" name="Text 14"/>
          <p:cNvSpPr/>
          <p:nvPr/>
        </p:nvSpPr>
        <p:spPr>
          <a:xfrm>
            <a:off x="6464808" y="2350008"/>
            <a:ext cx="1828800" cy="329184"/>
          </a:xfrm>
          <a:prstGeom prst="rect">
            <a:avLst/>
          </a:prstGeom>
          <a:noFill/>
          <a:ln/>
        </p:spPr>
        <p:txBody>
          <a:bodyPr wrap="square" lIns="0" tIns="0" rIns="0" bIns="0" rtlCol="0" anchor="ctr">
            <a:normAutofit/>
          </a:bodyPr>
          <a:lstStyle/>
          <a:p>
            <a:pPr indent="0" marL="0">
              <a:buNone/>
            </a:pPr>
            <a:r>
              <a:rPr lang="en-US" sz="1080" dirty="0">
                <a:solidFill>
                  <a:srgbClr val="5A6472"/>
                </a:solidFill>
              </a:rPr>
              <a:t>Telas, navegação e recursos</a:t>
            </a:r>
            <a:endParaRPr lang="en-US" sz="1080" dirty="0"/>
          </a:p>
        </p:txBody>
      </p:sp>
      <p:sp>
        <p:nvSpPr>
          <p:cNvPr id="18" name="Shape 15"/>
          <p:cNvSpPr/>
          <p:nvPr/>
        </p:nvSpPr>
        <p:spPr>
          <a:xfrm>
            <a:off x="9061704" y="1847088"/>
            <a:ext cx="2240280" cy="1051560"/>
          </a:xfrm>
          <a:prstGeom prst="roundRect">
            <a:avLst>
              <a:gd name="adj" fmla="val 10435"/>
            </a:avLst>
          </a:prstGeom>
          <a:solidFill>
            <a:srgbClr val="FFFFFF"/>
          </a:solidFill>
          <a:ln w="12700">
            <a:solidFill>
              <a:srgbClr val="E7E4DE"/>
            </a:solidFill>
            <a:prstDash val="solid"/>
          </a:ln>
        </p:spPr>
        <p:txBody>
          <a:bodyPr/>
          <a:p/>
        </p:txBody>
      </p:sp>
      <p:sp>
        <p:nvSpPr>
          <p:cNvPr id="19" name="Text 16"/>
          <p:cNvSpPr/>
          <p:nvPr/>
        </p:nvSpPr>
        <p:spPr>
          <a:xfrm>
            <a:off x="9226296" y="2029968"/>
            <a:ext cx="1920240" cy="228600"/>
          </a:xfrm>
          <a:prstGeom prst="rect">
            <a:avLst/>
          </a:prstGeom>
          <a:noFill/>
          <a:ln/>
        </p:spPr>
        <p:txBody>
          <a:bodyPr wrap="square" lIns="0" tIns="0" rIns="0" bIns="0" rtlCol="0" anchor="ctr"/>
          <a:lstStyle/>
          <a:p>
            <a:pPr indent="0" marL="0">
              <a:buNone/>
            </a:pPr>
            <a:r>
              <a:rPr lang="en-US" sz="1450" b="1" dirty="0">
                <a:solidFill>
                  <a:srgbClr val="12161C"/>
                </a:solidFill>
              </a:rPr>
              <a:t>React Native / Flutter</a:t>
            </a:r>
            <a:endParaRPr lang="en-US" sz="1450" dirty="0"/>
          </a:p>
        </p:txBody>
      </p:sp>
      <p:sp>
        <p:nvSpPr>
          <p:cNvPr id="20" name="Text 17"/>
          <p:cNvSpPr/>
          <p:nvPr/>
        </p:nvSpPr>
        <p:spPr>
          <a:xfrm>
            <a:off x="9226296" y="2350008"/>
            <a:ext cx="1828800" cy="329184"/>
          </a:xfrm>
          <a:prstGeom prst="rect">
            <a:avLst/>
          </a:prstGeom>
          <a:noFill/>
          <a:ln/>
        </p:spPr>
        <p:txBody>
          <a:bodyPr wrap="square" lIns="0" tIns="0" rIns="0" bIns="0" rtlCol="0" anchor="ctr">
            <a:normAutofit/>
          </a:bodyPr>
          <a:lstStyle/>
          <a:p>
            <a:pPr indent="0" marL="0">
              <a:buNone/>
            </a:pPr>
            <a:r>
              <a:rPr lang="en-US" sz="1080" dirty="0">
                <a:solidFill>
                  <a:srgbClr val="5A6472"/>
                </a:solidFill>
              </a:rPr>
              <a:t>Visão de desenvolvimento híbrido</a:t>
            </a:r>
            <a:endParaRPr lang="en-US" sz="1080" dirty="0"/>
          </a:p>
        </p:txBody>
      </p:sp>
      <p:sp>
        <p:nvSpPr>
          <p:cNvPr id="21" name="Shape 18"/>
          <p:cNvSpPr/>
          <p:nvPr/>
        </p:nvSpPr>
        <p:spPr>
          <a:xfrm>
            <a:off x="777240" y="3767328"/>
            <a:ext cx="2240280" cy="1051560"/>
          </a:xfrm>
          <a:prstGeom prst="roundRect">
            <a:avLst>
              <a:gd name="adj" fmla="val 10435"/>
            </a:avLst>
          </a:prstGeom>
          <a:solidFill>
            <a:srgbClr val="FFFFFF"/>
          </a:solidFill>
          <a:ln w="12700">
            <a:solidFill>
              <a:srgbClr val="E7E4DE"/>
            </a:solidFill>
            <a:prstDash val="solid"/>
          </a:ln>
        </p:spPr>
        <p:txBody>
          <a:bodyPr/>
          <a:p/>
        </p:txBody>
      </p:sp>
      <p:sp>
        <p:nvSpPr>
          <p:cNvPr id="22" name="Text 19"/>
          <p:cNvSpPr/>
          <p:nvPr/>
        </p:nvSpPr>
        <p:spPr>
          <a:xfrm>
            <a:off x="941832" y="3950208"/>
            <a:ext cx="1920240" cy="228600"/>
          </a:xfrm>
          <a:prstGeom prst="rect">
            <a:avLst/>
          </a:prstGeom>
          <a:noFill/>
          <a:ln/>
        </p:spPr>
        <p:txBody>
          <a:bodyPr wrap="square" lIns="0" tIns="0" rIns="0" bIns="0" rtlCol="0" anchor="ctr"/>
          <a:lstStyle/>
          <a:p>
            <a:pPr indent="0" marL="0">
              <a:buNone/>
            </a:pPr>
            <a:r>
              <a:rPr lang="en-US" sz="1450" b="1" dirty="0">
                <a:solidFill>
                  <a:srgbClr val="12161C"/>
                </a:solidFill>
              </a:rPr>
              <a:t>UX</a:t>
            </a:r>
            <a:endParaRPr lang="en-US" sz="1450" dirty="0"/>
          </a:p>
        </p:txBody>
      </p:sp>
      <p:sp>
        <p:nvSpPr>
          <p:cNvPr id="23" name="Text 20"/>
          <p:cNvSpPr/>
          <p:nvPr/>
        </p:nvSpPr>
        <p:spPr>
          <a:xfrm>
            <a:off x="941832" y="4270248"/>
            <a:ext cx="1828800" cy="329184"/>
          </a:xfrm>
          <a:prstGeom prst="rect">
            <a:avLst/>
          </a:prstGeom>
          <a:noFill/>
          <a:ln/>
        </p:spPr>
        <p:txBody>
          <a:bodyPr wrap="square" lIns="0" tIns="0" rIns="0" bIns="0" rtlCol="0" anchor="ctr">
            <a:normAutofit/>
          </a:bodyPr>
          <a:lstStyle/>
          <a:p>
            <a:pPr indent="0" marL="0">
              <a:buNone/>
            </a:pPr>
            <a:r>
              <a:rPr lang="en-US" sz="1080" dirty="0">
                <a:solidFill>
                  <a:srgbClr val="5A6472"/>
                </a:solidFill>
              </a:rPr>
              <a:t>Experiência e design mobile</a:t>
            </a:r>
            <a:endParaRPr lang="en-US" sz="1080" dirty="0"/>
          </a:p>
        </p:txBody>
      </p:sp>
      <p:sp>
        <p:nvSpPr>
          <p:cNvPr id="24" name="Shape 21"/>
          <p:cNvSpPr/>
          <p:nvPr/>
        </p:nvSpPr>
        <p:spPr>
          <a:xfrm>
            <a:off x="3538728" y="3767328"/>
            <a:ext cx="2240280" cy="1051560"/>
          </a:xfrm>
          <a:prstGeom prst="roundRect">
            <a:avLst>
              <a:gd name="adj" fmla="val 10435"/>
            </a:avLst>
          </a:prstGeom>
          <a:solidFill>
            <a:srgbClr val="FFFFFF"/>
          </a:solidFill>
          <a:ln w="12700">
            <a:solidFill>
              <a:srgbClr val="E7E4DE"/>
            </a:solidFill>
            <a:prstDash val="solid"/>
          </a:ln>
        </p:spPr>
        <p:txBody>
          <a:bodyPr/>
          <a:p/>
        </p:txBody>
      </p:sp>
      <p:sp>
        <p:nvSpPr>
          <p:cNvPr id="25" name="Text 22"/>
          <p:cNvSpPr/>
          <p:nvPr/>
        </p:nvSpPr>
        <p:spPr>
          <a:xfrm>
            <a:off x="3703320" y="3950208"/>
            <a:ext cx="1920240" cy="228600"/>
          </a:xfrm>
          <a:prstGeom prst="rect">
            <a:avLst/>
          </a:prstGeom>
          <a:noFill/>
          <a:ln/>
        </p:spPr>
        <p:txBody>
          <a:bodyPr wrap="square" lIns="0" tIns="0" rIns="0" bIns="0" rtlCol="0" anchor="ctr"/>
          <a:lstStyle/>
          <a:p>
            <a:pPr indent="0" marL="0">
              <a:buNone/>
            </a:pPr>
            <a:r>
              <a:rPr lang="en-US" sz="1450" b="1" dirty="0">
                <a:solidFill>
                  <a:srgbClr val="12161C"/>
                </a:solidFill>
              </a:rPr>
              <a:t>Testes</a:t>
            </a:r>
            <a:endParaRPr lang="en-US" sz="1450" dirty="0"/>
          </a:p>
        </p:txBody>
      </p:sp>
      <p:sp>
        <p:nvSpPr>
          <p:cNvPr id="26" name="Text 23"/>
          <p:cNvSpPr/>
          <p:nvPr/>
        </p:nvSpPr>
        <p:spPr>
          <a:xfrm>
            <a:off x="3703320" y="4270248"/>
            <a:ext cx="1828800" cy="329184"/>
          </a:xfrm>
          <a:prstGeom prst="rect">
            <a:avLst/>
          </a:prstGeom>
          <a:noFill/>
          <a:ln/>
        </p:spPr>
        <p:txBody>
          <a:bodyPr wrap="square" lIns="0" tIns="0" rIns="0" bIns="0" rtlCol="0" anchor="ctr">
            <a:normAutofit/>
          </a:bodyPr>
          <a:lstStyle/>
          <a:p>
            <a:pPr indent="0" marL="0">
              <a:buNone/>
            </a:pPr>
            <a:r>
              <a:rPr lang="en-US" sz="1080" dirty="0">
                <a:solidFill>
                  <a:srgbClr val="5A6472"/>
                </a:solidFill>
              </a:rPr>
              <a:t>Depuração e qualidade</a:t>
            </a:r>
            <a:endParaRPr lang="en-US" sz="1080" dirty="0"/>
          </a:p>
        </p:txBody>
      </p:sp>
      <p:sp>
        <p:nvSpPr>
          <p:cNvPr id="27" name="Shape 24"/>
          <p:cNvSpPr/>
          <p:nvPr/>
        </p:nvSpPr>
        <p:spPr>
          <a:xfrm>
            <a:off x="6300216" y="3767328"/>
            <a:ext cx="2240280" cy="1051560"/>
          </a:xfrm>
          <a:prstGeom prst="roundRect">
            <a:avLst>
              <a:gd name="adj" fmla="val 10435"/>
            </a:avLst>
          </a:prstGeom>
          <a:solidFill>
            <a:srgbClr val="FFFFFF"/>
          </a:solidFill>
          <a:ln w="12700">
            <a:solidFill>
              <a:srgbClr val="E7E4DE"/>
            </a:solidFill>
            <a:prstDash val="solid"/>
          </a:ln>
        </p:spPr>
        <p:txBody>
          <a:bodyPr/>
          <a:p/>
        </p:txBody>
      </p:sp>
      <p:sp>
        <p:nvSpPr>
          <p:cNvPr id="28" name="Text 25"/>
          <p:cNvSpPr/>
          <p:nvPr/>
        </p:nvSpPr>
        <p:spPr>
          <a:xfrm>
            <a:off x="6464808" y="3950208"/>
            <a:ext cx="1920240" cy="228600"/>
          </a:xfrm>
          <a:prstGeom prst="rect">
            <a:avLst/>
          </a:prstGeom>
          <a:noFill/>
          <a:ln/>
        </p:spPr>
        <p:txBody>
          <a:bodyPr wrap="square" lIns="0" tIns="0" rIns="0" bIns="0" rtlCol="0" anchor="ctr"/>
          <a:lstStyle/>
          <a:p>
            <a:pPr indent="0" marL="0">
              <a:buNone/>
            </a:pPr>
            <a:r>
              <a:rPr lang="en-US" sz="1450" b="1" dirty="0">
                <a:solidFill>
                  <a:srgbClr val="12161C"/>
                </a:solidFill>
              </a:rPr>
              <a:t>Publicação</a:t>
            </a:r>
            <a:endParaRPr lang="en-US" sz="1450" dirty="0"/>
          </a:p>
        </p:txBody>
      </p:sp>
      <p:sp>
        <p:nvSpPr>
          <p:cNvPr id="29" name="Text 26"/>
          <p:cNvSpPr/>
          <p:nvPr/>
        </p:nvSpPr>
        <p:spPr>
          <a:xfrm>
            <a:off x="6464808" y="4270248"/>
            <a:ext cx="1828800" cy="329184"/>
          </a:xfrm>
          <a:prstGeom prst="rect">
            <a:avLst/>
          </a:prstGeom>
          <a:noFill/>
          <a:ln/>
        </p:spPr>
        <p:txBody>
          <a:bodyPr wrap="square" lIns="0" tIns="0" rIns="0" bIns="0" rtlCol="0" anchor="ctr">
            <a:normAutofit/>
          </a:bodyPr>
          <a:lstStyle/>
          <a:p>
            <a:pPr indent="0" marL="0">
              <a:buNone/>
            </a:pPr>
            <a:r>
              <a:rPr lang="en-US" sz="1080" dirty="0">
                <a:solidFill>
                  <a:srgbClr val="5A6472"/>
                </a:solidFill>
              </a:rPr>
              <a:t>Preparação para loja Google</a:t>
            </a:r>
            <a:endParaRPr lang="en-US" sz="1080" dirty="0"/>
          </a:p>
        </p:txBody>
      </p:sp>
      <p:sp>
        <p:nvSpPr>
          <p:cNvPr id="31" name="Shape 27"/>
          <p:cNvSpPr/>
          <p:nvPr/>
        </p:nvSpPr>
        <p:spPr>
          <a:xfrm>
            <a:off x="621792" y="6455664"/>
            <a:ext cx="11018520" cy="0"/>
          </a:xfrm>
          <a:prstGeom prst="line">
            <a:avLst/>
          </a:prstGeom>
          <a:noFill/>
          <a:ln w="12700">
            <a:solidFill>
              <a:srgbClr val="E7E4DE"/>
            </a:solidFill>
            <a:prstDash val="solid"/>
          </a:ln>
        </p:spPr>
        <p:txBody>
          <a:bodyPr/>
          <a:p/>
        </p:txBody>
      </p:sp>
      <p:sp>
        <p:nvSpPr>
          <p:cNvPr id="32" name="Text 28"/>
          <p:cNvSpPr/>
          <p:nvPr/>
        </p:nvSpPr>
        <p:spPr>
          <a:xfrm>
            <a:off x="621792" y="6537960"/>
            <a:ext cx="2194560" cy="182880"/>
          </a:xfrm>
          <a:prstGeom prst="rect">
            <a:avLst/>
          </a:prstGeom>
          <a:noFill/>
          <a:ln/>
        </p:spPr>
        <p:txBody>
          <a:bodyPr wrap="square" lIns="0" tIns="0" rIns="0" bIns="0" rtlCol="0" anchor="ctr"/>
          <a:lstStyle/>
          <a:p>
            <a:pPr indent="0" marL="0">
              <a:buNone/>
            </a:pPr>
            <a:r>
              <a:rPr lang="en-US" sz="850" dirty="0">
                <a:solidFill>
                  <a:srgbClr val="5A6472"/>
                </a:solidFill>
              </a:rPr>
              <a:t>Emanuel Nascente</a:t>
            </a:r>
            <a:endParaRPr lang="en-US" sz="850" dirty="0"/>
          </a:p>
        </p:txBody>
      </p:sp>
      <p:sp>
        <p:nvSpPr>
          <p:cNvPr id="33" name="Text 29"/>
          <p:cNvSpPr/>
          <p:nvPr/>
        </p:nvSpPr>
        <p:spPr>
          <a:xfrm>
            <a:off x="11064240" y="6519672"/>
            <a:ext cx="548640" cy="228600"/>
          </a:xfrm>
          <a:prstGeom prst="rect">
            <a:avLst/>
          </a:prstGeom>
          <a:noFill/>
          <a:ln/>
        </p:spPr>
        <p:txBody>
          <a:bodyPr wrap="square" lIns="0" tIns="0" rIns="0" bIns="0" rtlCol="0" anchor="ctr"/>
          <a:lstStyle/>
          <a:p>
            <a:pPr algn="r" indent="0" marL="0">
              <a:buNone/>
            </a:pPr>
            <a:r>
              <a:rPr sz="850" b="1">
                <a:solidFill>
                  <a:srgbClr val="5A6472"/>
                </a:solidFill>
              </a:rPr>
              <a:t>05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D71920"/>
          </a:solidFill>
          <a:ln w="12700">
            <a:solidFill>
              <a:srgbClr val="D71920"/>
            </a:solidFill>
            <a:prstDash val="solid"/>
          </a:ln>
        </p:spPr>
        <p:txBody>
          <a:bodyPr/>
          <a:p/>
        </p:txBody>
      </p:sp>
      <p:sp>
        <p:nvSpPr>
          <p:cNvPr id="3" name="Shape 1"/>
          <p:cNvSpPr/>
          <p:nvPr/>
        </p:nvSpPr>
        <p:spPr>
          <a:xfrm>
            <a:off x="164592" y="0"/>
            <a:ext cx="54864" cy="6858000"/>
          </a:xfrm>
          <a:prstGeom prst="rect">
            <a:avLst/>
          </a:prstGeom>
          <a:solidFill>
            <a:srgbClr val="FFD322"/>
          </a:solidFill>
          <a:ln w="12700">
            <a:solidFill>
              <a:srgbClr val="FFD322"/>
            </a:solidFill>
            <a:prstDash val="solid"/>
          </a:ln>
        </p:spPr>
        <p:txBody>
          <a:bodyPr/>
          <a:p/>
        </p:txBody>
      </p:sp>
      <p:sp>
        <p:nvSpPr>
          <p:cNvPr id="4" name="Text 2"/>
          <p:cNvSpPr/>
          <p:nvPr/>
        </p:nvSpPr>
        <p:spPr>
          <a:xfrm>
            <a:off x="438912" y="210312"/>
            <a:ext cx="2103120" cy="256032"/>
          </a:xfrm>
          <a:prstGeom prst="rect">
            <a:avLst/>
          </a:prstGeom>
          <a:noFill/>
          <a:ln/>
        </p:spPr>
        <p:txBody>
          <a:bodyPr wrap="square" lIns="0" tIns="0" rIns="0" bIns="0" rtlCol="0" anchor="ctr"/>
          <a:lstStyle/>
          <a:p>
            <a:pPr indent="0" marL="0">
              <a:buNone/>
            </a:pPr>
            <a:r>
              <a:rPr lang="en-US" sz="950" b="1" dirty="0">
                <a:solidFill>
                  <a:srgbClr val="D71920"/>
                </a:solidFill>
                <a:latin typeface="Aptos" pitchFamily="34" charset="0"/>
                <a:ea typeface="Aptos" pitchFamily="34" charset="-122"/>
                <a:cs typeface="Aptos" pitchFamily="34" charset="-120"/>
              </a:rPr>
              <a:t>Aula 01</a:t>
            </a:r>
            <a:endParaRPr lang="en-US" sz="950" dirty="0"/>
          </a:p>
        </p:txBody>
      </p:sp>
      <p:sp>
        <p:nvSpPr>
          <p:cNvPr id="5" name="Text 3"/>
          <p:cNvSpPr/>
          <p:nvPr/>
        </p:nvSpPr>
        <p:spPr>
          <a:xfrm>
            <a:off x="2788920" y="210312"/>
            <a:ext cx="2743200" cy="256032"/>
          </a:xfrm>
          <a:prstGeom prst="rect">
            <a:avLst/>
          </a:prstGeom>
          <a:noFill/>
          <a:ln/>
        </p:spPr>
        <p:txBody>
          <a:bodyPr wrap="square" lIns="0" tIns="0" rIns="0" bIns="0" rtlCol="0" anchor="ctr"/>
          <a:lstStyle/>
          <a:p>
            <a:pPr indent="0" marL="0">
              <a:buNone/>
            </a:pPr>
            <a:r>
              <a:rPr lang="en-US" sz="950" dirty="0">
                <a:solidFill>
                  <a:srgbClr val="5A6472"/>
                </a:solidFill>
              </a:rPr>
              <a:t>Desenvolvimento Mobile</a:t>
            </a:r>
            <a:endParaRPr lang="en-US" sz="950" dirty="0"/>
          </a:p>
        </p:txBody>
      </p:sp>
      <p:pic>
        <p:nvPicPr>
          <p:cNvPr id="6" name="Image 0" descr="/mnt/data/logo_mesquita_stylized.png">    </p:cNvPr>
          <p:cNvPicPr>
            <a:picLocks noChangeAspect="1"/>
          </p:cNvPicPr>
          <p:nvPr/>
        </p:nvPicPr>
        <p:blipFill>
          <a:blip r:embed="rId1"/>
          <a:stretch>
            <a:fillRect/>
          </a:stretch>
        </p:blipFill>
        <p:spPr>
          <a:xfrm>
            <a:off x="10744200" y="128016"/>
            <a:ext cx="987552" cy="685800"/>
          </a:xfrm>
          <a:prstGeom prst="rect">
            <a:avLst/>
          </a:prstGeom>
        </p:spPr>
      </p:pic>
      <p:sp>
        <p:nvSpPr>
          <p:cNvPr id="7" name="Text 4"/>
          <p:cNvSpPr/>
          <p:nvPr/>
        </p:nvSpPr>
        <p:spPr>
          <a:xfrm>
            <a:off x="502920" y="749808"/>
            <a:ext cx="8503920" cy="530352"/>
          </a:xfrm>
          <a:prstGeom prst="rect">
            <a:avLst/>
          </a:prstGeom>
          <a:noFill/>
          <a:ln/>
        </p:spPr>
        <p:txBody>
          <a:bodyPr wrap="square" lIns="0" tIns="0" rIns="0" bIns="0" rtlCol="0" anchor="ctr">
            <a:normAutofit/>
          </a:bodyPr>
          <a:lstStyle/>
          <a:p>
            <a:pPr indent="0" marL="0">
              <a:buNone/>
            </a:pPr>
            <a:r>
              <a:rPr lang="en-US" sz="3000" b="1" dirty="0">
                <a:solidFill>
                  <a:srgbClr val="12161C"/>
                </a:solidFill>
                <a:latin typeface="Aptos Display" pitchFamily="34" charset="0"/>
                <a:ea typeface="Aptos Display" pitchFamily="34" charset="-122"/>
                <a:cs typeface="Aptos Display" pitchFamily="34" charset="-120"/>
              </a:rPr>
              <a:t>Pergunta de partida</a:t>
            </a:r>
            <a:endParaRPr lang="en-US" sz="3000" dirty="0"/>
          </a:p>
        </p:txBody>
      </p:sp>
      <p:sp>
        <p:nvSpPr>
          <p:cNvPr id="8" name="Text 5"/>
          <p:cNvSpPr/>
          <p:nvPr/>
        </p:nvSpPr>
        <p:spPr>
          <a:xfrm>
            <a:off x="530352" y="1325880"/>
            <a:ext cx="7589520" cy="320040"/>
          </a:xfrm>
          <a:prstGeom prst="rect">
            <a:avLst/>
          </a:prstGeom>
          <a:noFill/>
          <a:ln/>
        </p:spPr>
        <p:txBody>
          <a:bodyPr wrap="square" lIns="0" tIns="0" rIns="0" bIns="0" rtlCol="0" anchor="ctr"/>
          <a:lstStyle/>
          <a:p>
            <a:pPr indent="0" marL="0">
              <a:buNone/>
            </a:pPr>
            <a:r>
              <a:rPr lang="en-US" sz="1350" dirty="0">
                <a:solidFill>
                  <a:srgbClr val="5A6472"/>
                </a:solidFill>
              </a:rPr>
              <a:t>Antes de falar de tecnologia, precisamos pensar no produto.</a:t>
            </a:r>
            <a:endParaRPr lang="en-US" sz="1350" dirty="0"/>
          </a:p>
        </p:txBody>
      </p:sp>
      <p:sp>
        <p:nvSpPr>
          <p:cNvPr id="9" name="Text 6"/>
          <p:cNvSpPr/>
          <p:nvPr/>
        </p:nvSpPr>
        <p:spPr>
          <a:xfrm>
            <a:off x="868680" y="1828800"/>
            <a:ext cx="7040880" cy="822960"/>
          </a:xfrm>
          <a:prstGeom prst="rect">
            <a:avLst/>
          </a:prstGeom>
          <a:noFill/>
          <a:ln/>
        </p:spPr>
        <p:txBody>
          <a:bodyPr wrap="square" lIns="0" tIns="0" rIns="0" bIns="0" rtlCol="0" anchor="ctr">
            <a:normAutofit/>
          </a:bodyPr>
          <a:lstStyle/>
          <a:p>
            <a:pPr indent="0" marL="0">
              <a:buNone/>
            </a:pPr>
            <a:r>
              <a:rPr lang="en-US" sz="3400" b="1" dirty="0">
                <a:solidFill>
                  <a:srgbClr val="12161C"/>
                </a:solidFill>
              </a:rPr>
              <a:t>Um site aberto no celular é um aplicativo mobile?</a:t>
            </a:r>
            <a:endParaRPr lang="en-US" sz="3400" dirty="0"/>
          </a:p>
        </p:txBody>
      </p:sp>
      <p:sp>
        <p:nvSpPr>
          <p:cNvPr id="10" name="Text 7"/>
          <p:cNvSpPr/>
          <p:nvPr/>
        </p:nvSpPr>
        <p:spPr>
          <a:xfrm>
            <a:off x="914400" y="2880360"/>
            <a:ext cx="4389120" cy="320040"/>
          </a:xfrm>
          <a:prstGeom prst="rect">
            <a:avLst/>
          </a:prstGeom>
          <a:noFill/>
          <a:ln/>
        </p:spPr>
        <p:txBody>
          <a:bodyPr wrap="square" lIns="0" tIns="0" rIns="0" bIns="0" rtlCol="0" anchor="ctr"/>
          <a:lstStyle/>
          <a:p>
            <a:pPr indent="0" marL="0">
              <a:buNone/>
            </a:pPr>
            <a:r>
              <a:rPr lang="en-US" sz="1700" b="1" dirty="0">
                <a:solidFill>
                  <a:srgbClr val="D71920"/>
                </a:solidFill>
              </a:rPr>
              <a:t>Discussão rápida: sim, não ou depende?</a:t>
            </a:r>
            <a:endParaRPr lang="en-US" sz="1700" dirty="0"/>
          </a:p>
        </p:txBody>
      </p:sp>
      <p:sp>
        <p:nvSpPr>
          <p:cNvPr id="21" name="Shape 18"/>
          <p:cNvSpPr/>
          <p:nvPr/>
        </p:nvSpPr>
        <p:spPr>
          <a:xfrm>
            <a:off x="914400" y="4343400"/>
            <a:ext cx="9966960" cy="914400"/>
          </a:xfrm>
          <a:prstGeom prst="roundRect">
            <a:avLst>
              <a:gd name="adj" fmla="val 14000"/>
            </a:avLst>
          </a:prstGeom>
          <a:solidFill>
            <a:srgbClr val="F7F7F5"/>
          </a:solidFill>
          <a:ln w="12700">
            <a:solidFill>
              <a:srgbClr val="E7E4DE"/>
            </a:solidFill>
            <a:prstDash val="solid"/>
          </a:ln>
        </p:spPr>
        <p:txBody>
          <a:bodyPr/>
          <a:p/>
        </p:txBody>
      </p:sp>
      <p:sp>
        <p:nvSpPr>
          <p:cNvPr id="22" name="Text 19"/>
          <p:cNvSpPr/>
          <p:nvPr/>
        </p:nvSpPr>
        <p:spPr>
          <a:xfrm>
            <a:off x="1234440" y="4617720"/>
            <a:ext cx="9326880" cy="320040"/>
          </a:xfrm>
          <a:prstGeom prst="rect">
            <a:avLst/>
          </a:prstGeom>
          <a:noFill/>
          <a:ln/>
        </p:spPr>
        <p:txBody>
          <a:bodyPr wrap="square" lIns="0" tIns="0" rIns="0" bIns="0" rtlCol="0" anchor="ctr">
            <a:normAutofit/>
          </a:bodyPr>
          <a:lstStyle/>
          <a:p>
            <a:pPr algn="ctr" indent="0" marL="0">
              <a:buNone/>
            </a:pPr>
            <a:r>
              <a:rPr lang="en-US" sz="1500" dirty="0">
                <a:solidFill>
                  <a:srgbClr val="12161C"/>
                </a:solidFill>
              </a:rPr>
              <a:t>A resposta abre a diferença entre acesso pelo navegador, aplicativo instalado e integração com recursos do dispositivo.</a:t>
            </a:r>
            <a:endParaRPr lang="en-US" sz="1500" dirty="0"/>
          </a:p>
        </p:txBody>
      </p:sp>
      <p:sp>
        <p:nvSpPr>
          <p:cNvPr id="24" name="Shape 20"/>
          <p:cNvSpPr/>
          <p:nvPr/>
        </p:nvSpPr>
        <p:spPr>
          <a:xfrm>
            <a:off x="621792" y="6455664"/>
            <a:ext cx="11018520" cy="0"/>
          </a:xfrm>
          <a:prstGeom prst="line">
            <a:avLst/>
          </a:prstGeom>
          <a:noFill/>
          <a:ln w="12700">
            <a:solidFill>
              <a:srgbClr val="E7E4DE"/>
            </a:solidFill>
            <a:prstDash val="solid"/>
          </a:ln>
        </p:spPr>
        <p:txBody>
          <a:bodyPr/>
          <a:p/>
        </p:txBody>
      </p:sp>
      <p:sp>
        <p:nvSpPr>
          <p:cNvPr id="25" name="Text 21"/>
          <p:cNvSpPr/>
          <p:nvPr/>
        </p:nvSpPr>
        <p:spPr>
          <a:xfrm>
            <a:off x="621792" y="6537960"/>
            <a:ext cx="2194560" cy="182880"/>
          </a:xfrm>
          <a:prstGeom prst="rect">
            <a:avLst/>
          </a:prstGeom>
          <a:noFill/>
          <a:ln/>
        </p:spPr>
        <p:txBody>
          <a:bodyPr wrap="square" lIns="0" tIns="0" rIns="0" bIns="0" rtlCol="0" anchor="ctr"/>
          <a:lstStyle/>
          <a:p>
            <a:pPr indent="0" marL="0">
              <a:buNone/>
            </a:pPr>
            <a:r>
              <a:rPr lang="en-US" sz="850" dirty="0">
                <a:solidFill>
                  <a:srgbClr val="5A6472"/>
                </a:solidFill>
              </a:rPr>
              <a:t>Emanuel Nascente</a:t>
            </a:r>
            <a:endParaRPr lang="en-US" sz="850" dirty="0"/>
          </a:p>
        </p:txBody>
      </p:sp>
      <p:sp>
        <p:nvSpPr>
          <p:cNvPr id="26" name="Text 22"/>
          <p:cNvSpPr/>
          <p:nvPr/>
        </p:nvSpPr>
        <p:spPr>
          <a:xfrm>
            <a:off x="11064240" y="6519672"/>
            <a:ext cx="548640" cy="228600"/>
          </a:xfrm>
          <a:prstGeom prst="rect">
            <a:avLst/>
          </a:prstGeom>
          <a:noFill/>
          <a:ln/>
        </p:spPr>
        <p:txBody>
          <a:bodyPr wrap="square" lIns="0" tIns="0" rIns="0" bIns="0" rtlCol="0" anchor="ctr"/>
          <a:lstStyle/>
          <a:p>
            <a:pPr algn="r" indent="0" marL="0">
              <a:buNone/>
            </a:pPr>
            <a:r>
              <a:rPr sz="850" b="1">
                <a:solidFill>
                  <a:srgbClr val="5A6472"/>
                </a:solidFill>
              </a:rPr>
              <a:t>06</a:t>
            </a:r>
            <a:endParaRPr lang="en-US" sz="850" dirty="0"/>
          </a:p>
        </p:txBody>
      </p:sp>
      <p:sp>
        <p:nvSpPr>
          <p:cNvPr id="27" name="Rounded Rectangle 26"/>
          <p:cNvSpPr/>
          <p:nvPr/>
        </p:nvSpPr>
        <p:spPr>
          <a:xfrm>
            <a:off x="8414710" y="1691640"/>
            <a:ext cx="1092819" cy="2240280"/>
          </a:xfrm>
          <a:prstGeom prst="roundRect">
            <a:avLst>
              <a:gd name="adj" fmla="val 14000"/>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469350" y="1746280"/>
            <a:ext cx="983539" cy="2131000"/>
          </a:xfrm>
          <a:prstGeom prst="roundRect">
            <a:avLst>
              <a:gd name="adj" fmla="val 11000"/>
            </a:avLst>
          </a:prstGeom>
          <a:solidFill>
            <a:srgbClr val="202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797197" y="1782856"/>
            <a:ext cx="327845" cy="64008"/>
          </a:xfrm>
          <a:prstGeom prst="roundRect">
            <a:avLst>
              <a:gd name="adj" fmla="val 50000"/>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javascript.png"/>
          <p:cNvPicPr>
            <a:picLocks noChangeAspect="1"/>
          </p:cNvPicPr>
          <p:nvPr/>
        </p:nvPicPr>
        <p:blipFill>
          <a:blip r:embed="rId4"/>
          <a:stretch>
            <a:fillRect/>
          </a:stretch>
        </p:blipFill>
        <p:spPr>
          <a:xfrm>
            <a:off x="8698843" y="2318918"/>
            <a:ext cx="524553" cy="524553"/>
          </a:xfrm>
          <a:prstGeom prst="rect">
            <a:avLst/>
          </a:prstGeom>
        </p:spPr>
      </p:pic>
      <p:sp>
        <p:nvSpPr>
          <p:cNvPr id="31" name="TextBox 30"/>
          <p:cNvSpPr txBox="1"/>
          <p:nvPr/>
        </p:nvSpPr>
        <p:spPr>
          <a:xfrm>
            <a:off x="8323270" y="2968599"/>
            <a:ext cx="1275699" cy="219456"/>
          </a:xfrm>
          <a:prstGeom prst="rect">
            <a:avLst/>
          </a:prstGeom>
          <a:noFill/>
        </p:spPr>
        <p:txBody>
          <a:bodyPr wrap="none">
            <a:spAutoFit/>
          </a:bodyPr>
          <a:lstStyle/>
          <a:p>
            <a:pPr algn="ctr"/>
            <a:r>
              <a:rPr sz="1000" b="1">
                <a:solidFill>
                  <a:srgbClr val="FFFFFF"/>
                </a:solidFill>
                <a:latin typeface="Aptos"/>
              </a:rPr>
              <a:t>SITE</a:t>
            </a:r>
          </a:p>
        </p:txBody>
      </p:sp>
      <p:sp>
        <p:nvSpPr>
          <p:cNvPr id="32" name="TextBox 31"/>
          <p:cNvSpPr txBox="1"/>
          <p:nvPr/>
        </p:nvSpPr>
        <p:spPr>
          <a:xfrm>
            <a:off x="8323270" y="3259836"/>
            <a:ext cx="1275699" cy="182880"/>
          </a:xfrm>
          <a:prstGeom prst="rect">
            <a:avLst/>
          </a:prstGeom>
          <a:noFill/>
        </p:spPr>
        <p:txBody>
          <a:bodyPr wrap="none">
            <a:spAutoFit/>
          </a:bodyPr>
          <a:lstStyle/>
          <a:p>
            <a:pPr algn="ctr"/>
            <a:r>
              <a:rPr sz="750">
                <a:solidFill>
                  <a:srgbClr val="9AA4B2"/>
                </a:solidFill>
                <a:latin typeface="Cascadia Mono"/>
              </a:rPr>
              <a:t>Browser</a:t>
            </a:r>
          </a:p>
        </p:txBody>
      </p:sp>
      <p:sp>
        <p:nvSpPr>
          <p:cNvPr id="33" name="Rounded Rectangle 32"/>
          <p:cNvSpPr/>
          <p:nvPr/>
        </p:nvSpPr>
        <p:spPr>
          <a:xfrm>
            <a:off x="10060630" y="1691640"/>
            <a:ext cx="1092819" cy="2240280"/>
          </a:xfrm>
          <a:prstGeom prst="roundRect">
            <a:avLst>
              <a:gd name="adj" fmla="val 14000"/>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0115270" y="1746280"/>
            <a:ext cx="983539" cy="2131000"/>
          </a:xfrm>
          <a:prstGeom prst="roundRect">
            <a:avLst>
              <a:gd name="adj" fmla="val 11000"/>
            </a:avLst>
          </a:prstGeom>
          <a:solidFill>
            <a:srgbClr val="202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0443117" y="1782856"/>
            <a:ext cx="327845" cy="64008"/>
          </a:xfrm>
          <a:prstGeom prst="roundRect">
            <a:avLst>
              <a:gd name="adj" fmla="val 50000"/>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android.png"/>
          <p:cNvPicPr>
            <a:picLocks noChangeAspect="1"/>
          </p:cNvPicPr>
          <p:nvPr/>
        </p:nvPicPr>
        <p:blipFill>
          <a:blip r:embed="rId5"/>
          <a:stretch>
            <a:fillRect/>
          </a:stretch>
        </p:blipFill>
        <p:spPr>
          <a:xfrm>
            <a:off x="10344763" y="2318918"/>
            <a:ext cx="524553" cy="524553"/>
          </a:xfrm>
          <a:prstGeom prst="rect">
            <a:avLst/>
          </a:prstGeom>
        </p:spPr>
      </p:pic>
      <p:sp>
        <p:nvSpPr>
          <p:cNvPr id="37" name="TextBox 36"/>
          <p:cNvSpPr txBox="1"/>
          <p:nvPr/>
        </p:nvSpPr>
        <p:spPr>
          <a:xfrm>
            <a:off x="9969190" y="2968599"/>
            <a:ext cx="1275699" cy="219456"/>
          </a:xfrm>
          <a:prstGeom prst="rect">
            <a:avLst/>
          </a:prstGeom>
          <a:noFill/>
        </p:spPr>
        <p:txBody>
          <a:bodyPr wrap="none">
            <a:spAutoFit/>
          </a:bodyPr>
          <a:lstStyle/>
          <a:p>
            <a:pPr algn="ctr"/>
            <a:r>
              <a:rPr sz="1000" b="1">
                <a:solidFill>
                  <a:srgbClr val="FFFFFF"/>
                </a:solidFill>
                <a:latin typeface="Aptos"/>
              </a:rPr>
              <a:t>APP</a:t>
            </a:r>
          </a:p>
        </p:txBody>
      </p:sp>
      <p:sp>
        <p:nvSpPr>
          <p:cNvPr id="38" name="TextBox 37"/>
          <p:cNvSpPr txBox="1"/>
          <p:nvPr/>
        </p:nvSpPr>
        <p:spPr>
          <a:xfrm>
            <a:off x="9969190" y="3259836"/>
            <a:ext cx="1275699" cy="182880"/>
          </a:xfrm>
          <a:prstGeom prst="rect">
            <a:avLst/>
          </a:prstGeom>
          <a:noFill/>
        </p:spPr>
        <p:txBody>
          <a:bodyPr wrap="none">
            <a:spAutoFit/>
          </a:bodyPr>
          <a:lstStyle/>
          <a:p>
            <a:pPr algn="ctr"/>
            <a:r>
              <a:rPr sz="750">
                <a:solidFill>
                  <a:srgbClr val="9AA4B2"/>
                </a:solidFill>
                <a:latin typeface="Cascadia Mono"/>
              </a:rPr>
              <a:t>Instalado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D71920"/>
          </a:solidFill>
          <a:ln w="12700">
            <a:solidFill>
              <a:srgbClr val="D71920"/>
            </a:solidFill>
            <a:prstDash val="solid"/>
          </a:ln>
        </p:spPr>
        <p:txBody>
          <a:bodyPr/>
          <a:p/>
        </p:txBody>
      </p:sp>
      <p:sp>
        <p:nvSpPr>
          <p:cNvPr id="3" name="Shape 1"/>
          <p:cNvSpPr/>
          <p:nvPr/>
        </p:nvSpPr>
        <p:spPr>
          <a:xfrm>
            <a:off x="164592" y="0"/>
            <a:ext cx="54864" cy="6858000"/>
          </a:xfrm>
          <a:prstGeom prst="rect">
            <a:avLst/>
          </a:prstGeom>
          <a:solidFill>
            <a:srgbClr val="FFD322"/>
          </a:solidFill>
          <a:ln w="12700">
            <a:solidFill>
              <a:srgbClr val="FFD322"/>
            </a:solidFill>
            <a:prstDash val="solid"/>
          </a:ln>
        </p:spPr>
        <p:txBody>
          <a:bodyPr/>
          <a:p/>
        </p:txBody>
      </p:sp>
      <p:sp>
        <p:nvSpPr>
          <p:cNvPr id="4" name="Text 2"/>
          <p:cNvSpPr/>
          <p:nvPr/>
        </p:nvSpPr>
        <p:spPr>
          <a:xfrm>
            <a:off x="438912" y="210312"/>
            <a:ext cx="2103120" cy="256032"/>
          </a:xfrm>
          <a:prstGeom prst="rect">
            <a:avLst/>
          </a:prstGeom>
          <a:noFill/>
          <a:ln/>
        </p:spPr>
        <p:txBody>
          <a:bodyPr wrap="square" lIns="0" tIns="0" rIns="0" bIns="0" rtlCol="0" anchor="ctr"/>
          <a:lstStyle/>
          <a:p>
            <a:pPr indent="0" marL="0">
              <a:buNone/>
            </a:pPr>
            <a:r>
              <a:rPr lang="en-US" sz="950" b="1" dirty="0">
                <a:solidFill>
                  <a:srgbClr val="D71920"/>
                </a:solidFill>
                <a:latin typeface="Aptos" pitchFamily="34" charset="0"/>
                <a:ea typeface="Aptos" pitchFamily="34" charset="-122"/>
                <a:cs typeface="Aptos" pitchFamily="34" charset="-120"/>
              </a:rPr>
              <a:t>Aula 01</a:t>
            </a:r>
            <a:endParaRPr lang="en-US" sz="950" dirty="0"/>
          </a:p>
        </p:txBody>
      </p:sp>
      <p:sp>
        <p:nvSpPr>
          <p:cNvPr id="5" name="Text 3"/>
          <p:cNvSpPr/>
          <p:nvPr/>
        </p:nvSpPr>
        <p:spPr>
          <a:xfrm>
            <a:off x="2788920" y="210312"/>
            <a:ext cx="2743200" cy="256032"/>
          </a:xfrm>
          <a:prstGeom prst="rect">
            <a:avLst/>
          </a:prstGeom>
          <a:noFill/>
          <a:ln/>
        </p:spPr>
        <p:txBody>
          <a:bodyPr wrap="square" lIns="0" tIns="0" rIns="0" bIns="0" rtlCol="0" anchor="ctr"/>
          <a:lstStyle/>
          <a:p>
            <a:pPr indent="0" marL="0">
              <a:buNone/>
            </a:pPr>
            <a:r>
              <a:rPr lang="en-US" sz="950" dirty="0">
                <a:solidFill>
                  <a:srgbClr val="5A6472"/>
                </a:solidFill>
              </a:rPr>
              <a:t>Desenvolvimento Mobile</a:t>
            </a:r>
            <a:endParaRPr lang="en-US" sz="950" dirty="0"/>
          </a:p>
        </p:txBody>
      </p:sp>
      <p:pic>
        <p:nvPicPr>
          <p:cNvPr id="6" name="Image 0" descr="/mnt/data/logo_mesquita_stylized.png">    </p:cNvPr>
          <p:cNvPicPr>
            <a:picLocks noChangeAspect="1"/>
          </p:cNvPicPr>
          <p:nvPr/>
        </p:nvPicPr>
        <p:blipFill>
          <a:blip r:embed="rId1"/>
          <a:stretch>
            <a:fillRect/>
          </a:stretch>
        </p:blipFill>
        <p:spPr>
          <a:xfrm>
            <a:off x="10744200" y="128016"/>
            <a:ext cx="987552" cy="685800"/>
          </a:xfrm>
          <a:prstGeom prst="rect">
            <a:avLst/>
          </a:prstGeom>
        </p:spPr>
      </p:pic>
      <p:sp>
        <p:nvSpPr>
          <p:cNvPr id="7" name="Text 4"/>
          <p:cNvSpPr/>
          <p:nvPr/>
        </p:nvSpPr>
        <p:spPr>
          <a:xfrm>
            <a:off x="502920" y="749808"/>
            <a:ext cx="8503920" cy="530352"/>
          </a:xfrm>
          <a:prstGeom prst="rect">
            <a:avLst/>
          </a:prstGeom>
          <a:noFill/>
          <a:ln/>
        </p:spPr>
        <p:txBody>
          <a:bodyPr wrap="square" lIns="0" tIns="0" rIns="0" bIns="0" rtlCol="0" anchor="ctr">
            <a:normAutofit/>
          </a:bodyPr>
          <a:lstStyle/>
          <a:p>
            <a:pPr indent="0" marL="0">
              <a:buNone/>
            </a:pPr>
            <a:r>
              <a:rPr lang="en-US" sz="3000" b="1" dirty="0">
                <a:solidFill>
                  <a:srgbClr val="12161C"/>
                </a:solidFill>
                <a:latin typeface="Aptos Display" pitchFamily="34" charset="0"/>
                <a:ea typeface="Aptos Display" pitchFamily="34" charset="-122"/>
                <a:cs typeface="Aptos Display" pitchFamily="34" charset="-120"/>
              </a:rPr>
              <a:t>Aplicação Web × Aplicação Mobile</a:t>
            </a:r>
            <a:endParaRPr lang="en-US" sz="3000" dirty="0"/>
          </a:p>
        </p:txBody>
      </p:sp>
      <p:sp>
        <p:nvSpPr>
          <p:cNvPr id="8" name="Text 5"/>
          <p:cNvSpPr/>
          <p:nvPr/>
        </p:nvSpPr>
        <p:spPr>
          <a:xfrm>
            <a:off x="530352" y="1325880"/>
            <a:ext cx="7589520" cy="320040"/>
          </a:xfrm>
          <a:prstGeom prst="rect">
            <a:avLst/>
          </a:prstGeom>
          <a:noFill/>
          <a:ln/>
        </p:spPr>
        <p:txBody>
          <a:bodyPr wrap="square" lIns="0" tIns="0" rIns="0" bIns="0" rtlCol="0" anchor="ctr"/>
          <a:lstStyle/>
          <a:p>
            <a:pPr indent="0" marL="0">
              <a:buNone/>
            </a:pPr>
            <a:r>
              <a:rPr lang="en-US" sz="1350" dirty="0">
                <a:solidFill>
                  <a:srgbClr val="5A6472"/>
                </a:solidFill>
              </a:rPr>
              <a:t>Diferença principal: onde roda e como chega até o usuário.</a:t>
            </a:r>
            <a:endParaRPr lang="en-US" sz="1350" dirty="0"/>
          </a:p>
        </p:txBody>
      </p:sp>
      <p:sp>
        <p:nvSpPr>
          <p:cNvPr id="9" name="Shape 6"/>
          <p:cNvSpPr/>
          <p:nvPr/>
        </p:nvSpPr>
        <p:spPr>
          <a:xfrm>
            <a:off x="1920240" y="2743200"/>
            <a:ext cx="1097280" cy="0"/>
          </a:xfrm>
          <a:prstGeom prst="line">
            <a:avLst/>
          </a:prstGeom>
          <a:noFill/>
          <a:ln w="25400">
            <a:solidFill>
              <a:srgbClr val="D71920"/>
            </a:solidFill>
            <a:prstDash val="solid"/>
            <a:headEnd type="none"/>
            <a:tailEnd type="triangle"/>
          </a:ln>
        </p:spPr>
        <p:txBody>
          <a:bodyPr/>
          <a:p/>
        </p:txBody>
      </p:sp>
      <p:sp>
        <p:nvSpPr>
          <p:cNvPr id="10" name="Shape 7"/>
          <p:cNvSpPr/>
          <p:nvPr/>
        </p:nvSpPr>
        <p:spPr>
          <a:xfrm>
            <a:off x="5303520" y="2743200"/>
            <a:ext cx="1097280" cy="0"/>
          </a:xfrm>
          <a:prstGeom prst="line">
            <a:avLst/>
          </a:prstGeom>
          <a:noFill/>
          <a:ln w="25400">
            <a:solidFill>
              <a:srgbClr val="D71920"/>
            </a:solidFill>
            <a:prstDash val="solid"/>
            <a:headEnd type="none"/>
            <a:tailEnd type="triangle"/>
          </a:ln>
        </p:spPr>
        <p:txBody>
          <a:bodyPr/>
          <a:p/>
        </p:txBody>
      </p:sp>
      <p:sp>
        <p:nvSpPr>
          <p:cNvPr id="11" name="Shape 8"/>
          <p:cNvSpPr/>
          <p:nvPr/>
        </p:nvSpPr>
        <p:spPr>
          <a:xfrm>
            <a:off x="8686800" y="2743200"/>
            <a:ext cx="1097280" cy="0"/>
          </a:xfrm>
          <a:prstGeom prst="line">
            <a:avLst/>
          </a:prstGeom>
          <a:noFill/>
          <a:ln w="25400">
            <a:solidFill>
              <a:srgbClr val="D71920"/>
            </a:solidFill>
            <a:prstDash val="solid"/>
            <a:headEnd type="none"/>
            <a:tailEnd type="triangle"/>
          </a:ln>
        </p:spPr>
        <p:txBody>
          <a:bodyPr/>
          <a:p/>
        </p:txBody>
      </p:sp>
      <p:sp>
        <p:nvSpPr>
          <p:cNvPr id="12" name="Shape 9"/>
          <p:cNvSpPr/>
          <p:nvPr/>
        </p:nvSpPr>
        <p:spPr>
          <a:xfrm>
            <a:off x="731520" y="2011680"/>
            <a:ext cx="1554480" cy="1463040"/>
          </a:xfrm>
          <a:prstGeom prst="roundRect">
            <a:avLst>
              <a:gd name="adj" fmla="val 7500"/>
            </a:avLst>
          </a:prstGeom>
          <a:solidFill>
            <a:srgbClr val="FFF7D6"/>
          </a:solidFill>
          <a:ln w="12700">
            <a:solidFill>
              <a:srgbClr val="F3D552"/>
            </a:solidFill>
            <a:prstDash val="solid"/>
          </a:ln>
        </p:spPr>
        <p:txBody>
          <a:bodyPr/>
          <a:p/>
        </p:txBody>
      </p:sp>
      <p:sp>
        <p:nvSpPr>
          <p:cNvPr id="13" name="Text 10"/>
          <p:cNvSpPr/>
          <p:nvPr/>
        </p:nvSpPr>
        <p:spPr>
          <a:xfrm>
            <a:off x="868680" y="2578608"/>
            <a:ext cx="1280160" cy="228600"/>
          </a:xfrm>
          <a:prstGeom prst="rect">
            <a:avLst/>
          </a:prstGeom>
          <a:noFill/>
          <a:ln/>
        </p:spPr>
        <p:txBody>
          <a:bodyPr wrap="square" lIns="0" tIns="0" rIns="0" bIns="0" rtlCol="0" anchor="ctr"/>
          <a:lstStyle/>
          <a:p>
            <a:pPr algn="ctr" indent="0" marL="0">
              <a:buNone/>
            </a:pPr>
            <a:r>
              <a:rPr lang="en-US" sz="1500" b="1" dirty="0">
                <a:solidFill>
                  <a:srgbClr val="000000"/>
                </a:solidFill>
              </a:rPr>
              <a:t>Usuário</a:t>
            </a:r>
            <a:endParaRPr lang="en-US" sz="1500" dirty="0"/>
          </a:p>
        </p:txBody>
      </p:sp>
      <p:sp>
        <p:nvSpPr>
          <p:cNvPr id="14" name="Shape 11"/>
          <p:cNvSpPr/>
          <p:nvPr/>
        </p:nvSpPr>
        <p:spPr>
          <a:xfrm>
            <a:off x="3108960" y="2011680"/>
            <a:ext cx="1828800" cy="1463040"/>
          </a:xfrm>
          <a:prstGeom prst="roundRect">
            <a:avLst>
              <a:gd name="adj" fmla="val 7500"/>
            </a:avLst>
          </a:prstGeom>
          <a:solidFill>
            <a:srgbClr val="FFFFFF"/>
          </a:solidFill>
          <a:ln w="12700">
            <a:solidFill>
              <a:srgbClr val="E7E4DE"/>
            </a:solidFill>
            <a:prstDash val="solid"/>
          </a:ln>
        </p:spPr>
        <p:txBody>
          <a:bodyPr/>
          <a:p/>
        </p:txBody>
      </p:sp>
      <p:sp>
        <p:nvSpPr>
          <p:cNvPr id="15" name="Text 12"/>
          <p:cNvSpPr/>
          <p:nvPr/>
        </p:nvSpPr>
        <p:spPr>
          <a:xfrm>
            <a:off x="3337560" y="2432304"/>
            <a:ext cx="1371600" cy="228600"/>
          </a:xfrm>
          <a:prstGeom prst="rect">
            <a:avLst/>
          </a:prstGeom>
          <a:noFill/>
          <a:ln/>
        </p:spPr>
        <p:txBody>
          <a:bodyPr wrap="square" lIns="0" tIns="0" rIns="0" bIns="0" rtlCol="0" anchor="ctr"/>
          <a:lstStyle/>
          <a:p>
            <a:pPr algn="ctr" indent="0" marL="0">
              <a:buNone/>
            </a:pPr>
            <a:r>
              <a:rPr lang="en-US" sz="1500" b="1" dirty="0">
                <a:solidFill>
                  <a:srgbClr val="000000"/>
                </a:solidFill>
              </a:rPr>
              <a:t>Navegador</a:t>
            </a:r>
            <a:endParaRPr lang="en-US" sz="1500" dirty="0"/>
          </a:p>
        </p:txBody>
      </p:sp>
      <p:sp>
        <p:nvSpPr>
          <p:cNvPr id="16" name="Text 13"/>
          <p:cNvSpPr/>
          <p:nvPr/>
        </p:nvSpPr>
        <p:spPr>
          <a:xfrm>
            <a:off x="3337560" y="2761488"/>
            <a:ext cx="1371600" cy="201168"/>
          </a:xfrm>
          <a:prstGeom prst="rect">
            <a:avLst/>
          </a:prstGeom>
          <a:noFill/>
          <a:ln/>
        </p:spPr>
        <p:txBody>
          <a:bodyPr wrap="square" lIns="0" tIns="0" rIns="0" bIns="0" rtlCol="0" anchor="ctr"/>
          <a:lstStyle/>
          <a:p>
            <a:pPr algn="ctr" indent="0" marL="0">
              <a:buNone/>
            </a:pPr>
            <a:r>
              <a:rPr lang="en-US" sz="1050" dirty="0">
                <a:solidFill>
                  <a:srgbClr val="5A6472"/>
                </a:solidFill>
              </a:rPr>
              <a:t>Chrome / Safari</a:t>
            </a:r>
            <a:endParaRPr lang="en-US" sz="1050" dirty="0"/>
          </a:p>
        </p:txBody>
      </p:sp>
      <p:sp>
        <p:nvSpPr>
          <p:cNvPr id="17" name="Shape 14"/>
          <p:cNvSpPr/>
          <p:nvPr/>
        </p:nvSpPr>
        <p:spPr>
          <a:xfrm>
            <a:off x="6492240" y="2011680"/>
            <a:ext cx="1828800" cy="1463040"/>
          </a:xfrm>
          <a:prstGeom prst="roundRect">
            <a:avLst>
              <a:gd name="adj" fmla="val 7500"/>
            </a:avLst>
          </a:prstGeom>
          <a:solidFill>
            <a:srgbClr val="FFFFFF"/>
          </a:solidFill>
          <a:ln w="12700">
            <a:solidFill>
              <a:srgbClr val="E7E4DE"/>
            </a:solidFill>
            <a:prstDash val="solid"/>
          </a:ln>
        </p:spPr>
        <p:txBody>
          <a:bodyPr/>
          <a:p/>
        </p:txBody>
      </p:sp>
      <p:sp>
        <p:nvSpPr>
          <p:cNvPr id="18" name="Text 15"/>
          <p:cNvSpPr/>
          <p:nvPr/>
        </p:nvSpPr>
        <p:spPr>
          <a:xfrm>
            <a:off x="6720840" y="2432304"/>
            <a:ext cx="1371600" cy="228600"/>
          </a:xfrm>
          <a:prstGeom prst="rect">
            <a:avLst/>
          </a:prstGeom>
          <a:noFill/>
          <a:ln/>
        </p:spPr>
        <p:txBody>
          <a:bodyPr wrap="square" lIns="0" tIns="0" rIns="0" bIns="0" rtlCol="0" anchor="ctr"/>
          <a:lstStyle/>
          <a:p>
            <a:pPr algn="ctr" indent="0" marL="0">
              <a:buNone/>
            </a:pPr>
            <a:r>
              <a:rPr lang="en-US" sz="1500" b="1" dirty="0">
                <a:solidFill>
                  <a:srgbClr val="000000"/>
                </a:solidFill>
              </a:rPr>
              <a:t>Web App</a:t>
            </a:r>
            <a:endParaRPr lang="en-US" sz="1500" dirty="0"/>
          </a:p>
        </p:txBody>
      </p:sp>
      <p:sp>
        <p:nvSpPr>
          <p:cNvPr id="19" name="Text 16"/>
          <p:cNvSpPr/>
          <p:nvPr/>
        </p:nvSpPr>
        <p:spPr>
          <a:xfrm>
            <a:off x="6675120" y="2761488"/>
            <a:ext cx="1463040" cy="201168"/>
          </a:xfrm>
          <a:prstGeom prst="rect">
            <a:avLst/>
          </a:prstGeom>
          <a:noFill/>
          <a:ln/>
        </p:spPr>
        <p:txBody>
          <a:bodyPr wrap="square" lIns="0" tIns="0" rIns="0" bIns="0" rtlCol="0" anchor="ctr"/>
          <a:lstStyle/>
          <a:p>
            <a:pPr algn="ctr" indent="0" marL="0">
              <a:buNone/>
            </a:pPr>
            <a:r>
              <a:rPr lang="en-US" sz="1050" dirty="0">
                <a:solidFill>
                  <a:srgbClr val="5A6472"/>
                </a:solidFill>
              </a:rPr>
              <a:t>HTML / CSS / JS</a:t>
            </a:r>
            <a:endParaRPr lang="en-US" sz="1050" dirty="0"/>
          </a:p>
        </p:txBody>
      </p:sp>
      <p:sp>
        <p:nvSpPr>
          <p:cNvPr id="20" name="Shape 17"/>
          <p:cNvSpPr/>
          <p:nvPr/>
        </p:nvSpPr>
        <p:spPr>
          <a:xfrm>
            <a:off x="9875520" y="2011680"/>
            <a:ext cx="1645920" cy="1463040"/>
          </a:xfrm>
          <a:prstGeom prst="roundRect">
            <a:avLst>
              <a:gd name="adj" fmla="val 7500"/>
            </a:avLst>
          </a:prstGeom>
          <a:solidFill>
            <a:srgbClr val="FFFFFF"/>
          </a:solidFill>
          <a:ln w="12700">
            <a:solidFill>
              <a:srgbClr val="E7E4DE"/>
            </a:solidFill>
            <a:prstDash val="solid"/>
          </a:ln>
        </p:spPr>
        <p:txBody>
          <a:bodyPr/>
          <a:p/>
        </p:txBody>
      </p:sp>
      <p:sp>
        <p:nvSpPr>
          <p:cNvPr id="21" name="Text 18"/>
          <p:cNvSpPr/>
          <p:nvPr/>
        </p:nvSpPr>
        <p:spPr>
          <a:xfrm>
            <a:off x="10058400" y="2432304"/>
            <a:ext cx="1280160" cy="228600"/>
          </a:xfrm>
          <a:prstGeom prst="rect">
            <a:avLst/>
          </a:prstGeom>
          <a:noFill/>
          <a:ln/>
        </p:spPr>
        <p:txBody>
          <a:bodyPr wrap="square" lIns="0" tIns="0" rIns="0" bIns="0" rtlCol="0" anchor="ctr"/>
          <a:lstStyle/>
          <a:p>
            <a:pPr algn="ctr" indent="0" marL="0">
              <a:buNone/>
            </a:pPr>
            <a:r>
              <a:rPr lang="en-US" sz="1500" b="1" dirty="0">
                <a:solidFill>
                  <a:srgbClr val="000000"/>
                </a:solidFill>
              </a:rPr>
              <a:t>Servidor</a:t>
            </a:r>
            <a:endParaRPr lang="en-US" sz="1500" dirty="0"/>
          </a:p>
        </p:txBody>
      </p:sp>
      <p:sp>
        <p:nvSpPr>
          <p:cNvPr id="22" name="Text 19"/>
          <p:cNvSpPr/>
          <p:nvPr/>
        </p:nvSpPr>
        <p:spPr>
          <a:xfrm>
            <a:off x="10058400" y="2761488"/>
            <a:ext cx="1280160" cy="201168"/>
          </a:xfrm>
          <a:prstGeom prst="rect">
            <a:avLst/>
          </a:prstGeom>
          <a:noFill/>
          <a:ln/>
        </p:spPr>
        <p:txBody>
          <a:bodyPr wrap="square" lIns="0" tIns="0" rIns="0" bIns="0" rtlCol="0" anchor="ctr"/>
          <a:lstStyle/>
          <a:p>
            <a:pPr algn="ctr" indent="0" marL="0">
              <a:buNone/>
            </a:pPr>
            <a:r>
              <a:rPr lang="en-US" sz="1050" dirty="0">
                <a:solidFill>
                  <a:srgbClr val="5A6472"/>
                </a:solidFill>
              </a:rPr>
              <a:t>API / dados</a:t>
            </a:r>
            <a:endParaRPr lang="en-US" sz="1050" dirty="0"/>
          </a:p>
        </p:txBody>
      </p:sp>
      <p:sp>
        <p:nvSpPr>
          <p:cNvPr id="23" name="Text 20"/>
          <p:cNvSpPr/>
          <p:nvPr/>
        </p:nvSpPr>
        <p:spPr>
          <a:xfrm>
            <a:off x="914400" y="4206240"/>
            <a:ext cx="4572000" cy="320040"/>
          </a:xfrm>
          <a:prstGeom prst="rect">
            <a:avLst/>
          </a:prstGeom>
          <a:noFill/>
          <a:ln/>
        </p:spPr>
        <p:txBody>
          <a:bodyPr wrap="square" lIns="0" tIns="0" rIns="0" bIns="0" rtlCol="0" anchor="ctr"/>
          <a:lstStyle/>
          <a:p>
            <a:pPr indent="0" marL="0">
              <a:buNone/>
            </a:pPr>
            <a:r>
              <a:rPr lang="en-US" sz="1550" b="1" dirty="0">
                <a:solidFill>
                  <a:srgbClr val="12161C"/>
                </a:solidFill>
              </a:rPr>
              <a:t>WEB: geralmente acessada por URL e executada no navegador.</a:t>
            </a:r>
            <a:endParaRPr lang="en-US" sz="1550" dirty="0"/>
          </a:p>
        </p:txBody>
      </p:sp>
      <p:sp>
        <p:nvSpPr>
          <p:cNvPr id="24" name="Text 21"/>
          <p:cNvSpPr/>
          <p:nvPr/>
        </p:nvSpPr>
        <p:spPr>
          <a:xfrm>
            <a:off x="914400" y="4690872"/>
            <a:ext cx="7040880" cy="320040"/>
          </a:xfrm>
          <a:prstGeom prst="rect">
            <a:avLst/>
          </a:prstGeom>
          <a:noFill/>
          <a:ln/>
        </p:spPr>
        <p:txBody>
          <a:bodyPr wrap="square" lIns="0" tIns="0" rIns="0" bIns="0" rtlCol="0" anchor="ctr"/>
          <a:lstStyle/>
          <a:p>
            <a:pPr indent="0" marL="0">
              <a:buNone/>
            </a:pPr>
            <a:r>
              <a:rPr lang="en-US" sz="1550" b="1" dirty="0">
                <a:solidFill>
                  <a:srgbClr val="12161C"/>
                </a:solidFill>
              </a:rPr>
              <a:t>MOBILE: geralmente instalada no dispositivo e integrada ao sistema operacional.</a:t>
            </a:r>
            <a:endParaRPr lang="en-US" sz="1550" dirty="0"/>
          </a:p>
        </p:txBody>
      </p:sp>
      <p:sp>
        <p:nvSpPr>
          <p:cNvPr id="26" name="Shape 22"/>
          <p:cNvSpPr/>
          <p:nvPr/>
        </p:nvSpPr>
        <p:spPr>
          <a:xfrm>
            <a:off x="621792" y="6455664"/>
            <a:ext cx="11018520" cy="0"/>
          </a:xfrm>
          <a:prstGeom prst="line">
            <a:avLst/>
          </a:prstGeom>
          <a:noFill/>
          <a:ln w="12700">
            <a:solidFill>
              <a:srgbClr val="E7E4DE"/>
            </a:solidFill>
            <a:prstDash val="solid"/>
          </a:ln>
        </p:spPr>
        <p:txBody>
          <a:bodyPr/>
          <a:p/>
        </p:txBody>
      </p:sp>
      <p:sp>
        <p:nvSpPr>
          <p:cNvPr id="27" name="Text 23"/>
          <p:cNvSpPr/>
          <p:nvPr/>
        </p:nvSpPr>
        <p:spPr>
          <a:xfrm>
            <a:off x="621792" y="6537960"/>
            <a:ext cx="2194560" cy="182880"/>
          </a:xfrm>
          <a:prstGeom prst="rect">
            <a:avLst/>
          </a:prstGeom>
          <a:noFill/>
          <a:ln/>
        </p:spPr>
        <p:txBody>
          <a:bodyPr wrap="square" lIns="0" tIns="0" rIns="0" bIns="0" rtlCol="0" anchor="ctr"/>
          <a:lstStyle/>
          <a:p>
            <a:pPr indent="0" marL="0">
              <a:buNone/>
            </a:pPr>
            <a:r>
              <a:rPr lang="en-US" sz="850" dirty="0">
                <a:solidFill>
                  <a:srgbClr val="5A6472"/>
                </a:solidFill>
              </a:rPr>
              <a:t>Emanuel Nascente</a:t>
            </a:r>
            <a:endParaRPr lang="en-US" sz="850" dirty="0"/>
          </a:p>
        </p:txBody>
      </p:sp>
      <p:sp>
        <p:nvSpPr>
          <p:cNvPr id="28" name="Text 24"/>
          <p:cNvSpPr/>
          <p:nvPr/>
        </p:nvSpPr>
        <p:spPr>
          <a:xfrm>
            <a:off x="11064240" y="6519672"/>
            <a:ext cx="548640" cy="228600"/>
          </a:xfrm>
          <a:prstGeom prst="rect">
            <a:avLst/>
          </a:prstGeom>
          <a:noFill/>
          <a:ln/>
        </p:spPr>
        <p:txBody>
          <a:bodyPr wrap="square" lIns="0" tIns="0" rIns="0" bIns="0" rtlCol="0" anchor="ctr"/>
          <a:lstStyle/>
          <a:p>
            <a:pPr algn="r" indent="0" marL="0">
              <a:buNone/>
            </a:pPr>
            <a:r>
              <a:rPr sz="850" b="1">
                <a:solidFill>
                  <a:srgbClr val="5A6472"/>
                </a:solidFill>
              </a:rPr>
              <a:t>07</a:t>
            </a:r>
            <a:endParaRPr lang="en-US" sz="85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0"/>
          <p:cNvSpPr/>
          <p:nvPr/>
        </p:nvSpPr>
        <p:spPr>
          <a:xfrm>
            <a:off x="0" y="0"/>
            <a:ext cx="164592" cy="6858000"/>
          </a:xfrm>
          <a:prstGeom prst="rect">
            <a:avLst/>
          </a:prstGeom>
          <a:solidFill>
            <a:srgbClr val="D71920"/>
          </a:solidFill>
          <a:ln w="12700">
            <a:solidFill>
              <a:srgbClr val="D71920"/>
            </a:solidFill>
            <a:prstDash val="solid"/>
          </a:ln>
        </p:spPr>
        <p:txBody>
          <a:bodyPr/>
          <a:p/>
        </p:txBody>
      </p:sp>
      <p:sp>
        <p:nvSpPr>
          <p:cNvPr id="3" name="Shape 1"/>
          <p:cNvSpPr/>
          <p:nvPr/>
        </p:nvSpPr>
        <p:spPr>
          <a:xfrm>
            <a:off x="164592" y="0"/>
            <a:ext cx="54864" cy="6858000"/>
          </a:xfrm>
          <a:prstGeom prst="rect">
            <a:avLst/>
          </a:prstGeom>
          <a:solidFill>
            <a:srgbClr val="FFD322"/>
          </a:solidFill>
          <a:ln w="12700">
            <a:solidFill>
              <a:srgbClr val="FFD322"/>
            </a:solidFill>
            <a:prstDash val="solid"/>
          </a:ln>
        </p:spPr>
        <p:txBody>
          <a:bodyPr/>
          <a:p/>
        </p:txBody>
      </p:sp>
      <p:sp>
        <p:nvSpPr>
          <p:cNvPr id="4" name="Text 2"/>
          <p:cNvSpPr/>
          <p:nvPr/>
        </p:nvSpPr>
        <p:spPr>
          <a:xfrm>
            <a:off x="438912" y="210312"/>
            <a:ext cx="2103120" cy="256032"/>
          </a:xfrm>
          <a:prstGeom prst="rect">
            <a:avLst/>
          </a:prstGeom>
          <a:noFill/>
          <a:ln/>
        </p:spPr>
        <p:txBody>
          <a:bodyPr wrap="square" lIns="0" tIns="0" rIns="0" bIns="0" rtlCol="0" anchor="ctr"/>
          <a:lstStyle/>
          <a:p>
            <a:pPr indent="0" marL="0">
              <a:buNone/>
            </a:pPr>
            <a:r>
              <a:rPr lang="en-US" sz="950" b="1" dirty="0">
                <a:solidFill>
                  <a:srgbClr val="D71920"/>
                </a:solidFill>
                <a:latin typeface="Aptos" pitchFamily="34" charset="0"/>
                <a:ea typeface="Aptos" pitchFamily="34" charset="-122"/>
                <a:cs typeface="Aptos" pitchFamily="34" charset="-120"/>
              </a:rPr>
              <a:t>Aula 01</a:t>
            </a:r>
            <a:endParaRPr lang="en-US" sz="950" dirty="0"/>
          </a:p>
        </p:txBody>
      </p:sp>
      <p:sp>
        <p:nvSpPr>
          <p:cNvPr id="5" name="Text 3"/>
          <p:cNvSpPr/>
          <p:nvPr/>
        </p:nvSpPr>
        <p:spPr>
          <a:xfrm>
            <a:off x="2788920" y="210312"/>
            <a:ext cx="2743200" cy="256032"/>
          </a:xfrm>
          <a:prstGeom prst="rect">
            <a:avLst/>
          </a:prstGeom>
          <a:noFill/>
          <a:ln/>
        </p:spPr>
        <p:txBody>
          <a:bodyPr wrap="square" lIns="0" tIns="0" rIns="0" bIns="0" rtlCol="0" anchor="ctr"/>
          <a:lstStyle/>
          <a:p>
            <a:pPr indent="0" marL="0">
              <a:buNone/>
            </a:pPr>
            <a:r>
              <a:rPr lang="en-US" sz="950" dirty="0">
                <a:solidFill>
                  <a:srgbClr val="5A6472"/>
                </a:solidFill>
              </a:rPr>
              <a:t>Desenvolvimento Mobile</a:t>
            </a:r>
            <a:endParaRPr lang="en-US" sz="950" dirty="0"/>
          </a:p>
        </p:txBody>
      </p:sp>
      <p:sp>
        <p:nvSpPr>
          <p:cNvPr id="7" name="Text 4"/>
          <p:cNvSpPr/>
          <p:nvPr/>
        </p:nvSpPr>
        <p:spPr>
          <a:xfrm>
            <a:off x="502920" y="749808"/>
            <a:ext cx="8503920" cy="530352"/>
          </a:xfrm>
          <a:prstGeom prst="rect">
            <a:avLst/>
          </a:prstGeom>
          <a:noFill/>
          <a:ln/>
        </p:spPr>
        <p:txBody>
          <a:bodyPr wrap="square" lIns="0" tIns="0" rIns="0" bIns="0" rtlCol="0" anchor="ctr">
            <a:normAutofit/>
          </a:bodyPr>
          <a:lstStyle/>
          <a:p>
            <a:pPr indent="0" marL="0">
              <a:buNone/>
            </a:pPr>
            <a:r>
              <a:rPr sz="3000" b="1">
                <a:solidFill>
                  <a:srgbClr val="12161C"/>
                </a:solidFill>
                <a:latin typeface="Aptos Display"/>
              </a:rPr>
              <a:t>Como funciona uma aplicação Mobile?</a:t>
            </a:r>
            <a:endParaRPr lang="en-US" sz="3000" dirty="0"/>
          </a:p>
        </p:txBody>
      </p:sp>
      <p:sp>
        <p:nvSpPr>
          <p:cNvPr id="26" name="Shape 22"/>
          <p:cNvSpPr/>
          <p:nvPr/>
        </p:nvSpPr>
        <p:spPr>
          <a:xfrm>
            <a:off x="621792" y="6455664"/>
            <a:ext cx="11018520" cy="0"/>
          </a:xfrm>
          <a:prstGeom prst="line">
            <a:avLst/>
          </a:prstGeom>
          <a:noFill/>
          <a:ln w="12700">
            <a:solidFill>
              <a:srgbClr val="E7E4DE"/>
            </a:solidFill>
            <a:prstDash val="solid"/>
          </a:ln>
        </p:spPr>
        <p:txBody>
          <a:bodyPr/>
          <a:p/>
        </p:txBody>
      </p:sp>
      <p:sp>
        <p:nvSpPr>
          <p:cNvPr id="27" name="Text 23"/>
          <p:cNvSpPr/>
          <p:nvPr/>
        </p:nvSpPr>
        <p:spPr>
          <a:xfrm>
            <a:off x="621792" y="6537960"/>
            <a:ext cx="2194560" cy="182880"/>
          </a:xfrm>
          <a:prstGeom prst="rect">
            <a:avLst/>
          </a:prstGeom>
          <a:noFill/>
          <a:ln/>
        </p:spPr>
        <p:txBody>
          <a:bodyPr wrap="square" lIns="0" tIns="0" rIns="0" bIns="0" rtlCol="0" anchor="ctr"/>
          <a:lstStyle/>
          <a:p>
            <a:pPr indent="0" marL="0">
              <a:buNone/>
            </a:pPr>
            <a:r>
              <a:rPr lang="en-US" sz="850" dirty="0">
                <a:solidFill>
                  <a:srgbClr val="5A6472"/>
                </a:solidFill>
              </a:rPr>
              <a:t>Emanuel Nascente</a:t>
            </a:r>
            <a:endParaRPr lang="en-US" sz="850" dirty="0"/>
          </a:p>
        </p:txBody>
      </p:sp>
      <p:sp>
        <p:nvSpPr>
          <p:cNvPr id="28" name="Text 24"/>
          <p:cNvSpPr/>
          <p:nvPr/>
        </p:nvSpPr>
        <p:spPr>
          <a:xfrm>
            <a:off x="11064240" y="6519672"/>
            <a:ext cx="548640" cy="228600"/>
          </a:xfrm>
          <a:prstGeom prst="rect">
            <a:avLst/>
          </a:prstGeom>
          <a:noFill/>
          <a:ln/>
        </p:spPr>
        <p:txBody>
          <a:bodyPr wrap="square" lIns="0" tIns="0" rIns="0" bIns="0" rtlCol="0" anchor="ctr"/>
          <a:lstStyle/>
          <a:p>
            <a:pPr algn="r" indent="0" marL="0">
              <a:buNone/>
            </a:pPr>
            <a:r>
              <a:rPr sz="850" b="1">
                <a:solidFill>
                  <a:srgbClr val="5A6472"/>
                </a:solidFill>
              </a:rPr>
              <a:t>08</a:t>
            </a:r>
            <a:endParaRPr lang="en-US" sz="850" dirty="0"/>
          </a:p>
        </p:txBody>
      </p:sp>
      <p:pic>
        <p:nvPicPr>
          <p:cNvPr id="29" name="Picture 28" descr="image.png"/>
          <p:cNvPicPr>
            <a:picLocks noChangeAspect="1"/>
          </p:cNvPicPr>
          <p:nvPr/>
        </p:nvPicPr>
        <p:blipFill>
          <a:blip r:embed="rId2"/>
          <a:stretch>
            <a:fillRect/>
          </a:stretch>
        </p:blipFill>
        <p:spPr>
          <a:xfrm>
            <a:off x="10744200" y="128016"/>
            <a:ext cx="987552" cy="685800"/>
          </a:xfrm>
          <a:prstGeom prst="rect">
            <a:avLst/>
          </a:prstGeom>
        </p:spPr>
      </p:pic>
      <p:sp>
        <p:nvSpPr>
          <p:cNvPr id="30" name="TextBox 29"/>
          <p:cNvSpPr txBox="1"/>
          <p:nvPr/>
        </p:nvSpPr>
        <p:spPr>
          <a:xfrm>
            <a:off x="868680" y="1371600"/>
            <a:ext cx="9601200" cy="292608"/>
          </a:xfrm>
          <a:prstGeom prst="rect">
            <a:avLst/>
          </a:prstGeom>
          <a:noFill/>
        </p:spPr>
        <p:txBody>
          <a:bodyPr wrap="square" anchor="t">
            <a:spAutoFit/>
          </a:bodyPr>
          <a:lstStyle/>
          <a:p>
            <a:pPr algn="l"/>
            <a:r>
              <a:rPr sz="1300" b="0">
                <a:solidFill>
                  <a:srgbClr val="5A6472"/>
                </a:solidFill>
                <a:latin typeface="Aptos"/>
              </a:rPr>
              <a:t>Do toque do usuário até os dados.</a:t>
            </a:r>
          </a:p>
        </p:txBody>
      </p:sp>
      <p:sp>
        <p:nvSpPr>
          <p:cNvPr id="31" name="Rounded Rectangle 30"/>
          <p:cNvSpPr/>
          <p:nvPr/>
        </p:nvSpPr>
        <p:spPr>
          <a:xfrm>
            <a:off x="868680" y="1874519"/>
            <a:ext cx="1755648" cy="1188720"/>
          </a:xfrm>
          <a:prstGeom prst="roundRect">
            <a:avLst>
              <a:gd name="adj" fmla="val 6000"/>
            </a:avLst>
          </a:prstGeom>
          <a:solidFill>
            <a:srgbClr val="FFF9E6"/>
          </a:solidFill>
          <a:ln w="12700">
            <a:solidFill>
              <a:srgbClr val="F1D77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2167127"/>
            <a:ext cx="1755648" cy="438912"/>
          </a:xfrm>
          <a:prstGeom prst="rect">
            <a:avLst/>
          </a:prstGeom>
          <a:noFill/>
        </p:spPr>
        <p:txBody>
          <a:bodyPr wrap="square" anchor="t">
            <a:spAutoFit/>
          </a:bodyPr>
          <a:lstStyle/>
          <a:p>
            <a:pPr algn="ctr"/>
            <a:r>
              <a:rPr sz="1350" b="1">
                <a:solidFill>
                  <a:srgbClr val="12161C"/>
                </a:solidFill>
                <a:latin typeface="Aptos"/>
              </a:rPr>
              <a:t>Usuário</a:t>
            </a:r>
          </a:p>
        </p:txBody>
      </p:sp>
      <p:sp>
        <p:nvSpPr>
          <p:cNvPr id="33" name="TextBox 32"/>
          <p:cNvSpPr txBox="1"/>
          <p:nvPr/>
        </p:nvSpPr>
        <p:spPr>
          <a:xfrm>
            <a:off x="868680" y="2587752"/>
            <a:ext cx="1755648" cy="237744"/>
          </a:xfrm>
          <a:prstGeom prst="rect">
            <a:avLst/>
          </a:prstGeom>
          <a:noFill/>
        </p:spPr>
        <p:txBody>
          <a:bodyPr wrap="square" anchor="t">
            <a:spAutoFit/>
          </a:bodyPr>
          <a:lstStyle/>
          <a:p>
            <a:pPr algn="ctr"/>
            <a:r>
              <a:rPr sz="950" b="0">
                <a:solidFill>
                  <a:srgbClr val="5A6472"/>
                </a:solidFill>
                <a:latin typeface="Cascadia Mono"/>
              </a:rPr>
              <a:t>toca no ícone</a:t>
            </a:r>
          </a:p>
        </p:txBody>
      </p:sp>
      <p:sp>
        <p:nvSpPr>
          <p:cNvPr id="34" name="Right Arrow 33"/>
          <p:cNvSpPr/>
          <p:nvPr/>
        </p:nvSpPr>
        <p:spPr>
          <a:xfrm>
            <a:off x="2688336" y="2414015"/>
            <a:ext cx="256031" cy="109728"/>
          </a:xfrm>
          <a:prstGeom prst="rightArrow">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3008376" y="1874519"/>
            <a:ext cx="1755648" cy="1188720"/>
          </a:xfrm>
          <a:prstGeom prst="roundRect">
            <a:avLst>
              <a:gd name="adj" fmla="val 6000"/>
            </a:avLst>
          </a:prstGeom>
          <a:solidFill>
            <a:srgbClr val="F6F7F9"/>
          </a:solidFill>
          <a:ln w="12700">
            <a:solidFill>
              <a:srgbClr val="E3E7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008376" y="2167127"/>
            <a:ext cx="1755648" cy="438912"/>
          </a:xfrm>
          <a:prstGeom prst="rect">
            <a:avLst/>
          </a:prstGeom>
          <a:noFill/>
        </p:spPr>
        <p:txBody>
          <a:bodyPr wrap="square" anchor="t">
            <a:spAutoFit/>
          </a:bodyPr>
          <a:lstStyle/>
          <a:p>
            <a:pPr algn="ctr"/>
            <a:r>
              <a:rPr sz="1350" b="1">
                <a:solidFill>
                  <a:srgbClr val="12161C"/>
                </a:solidFill>
                <a:latin typeface="Aptos"/>
              </a:rPr>
              <a:t>App instalado</a:t>
            </a:r>
          </a:p>
        </p:txBody>
      </p:sp>
      <p:sp>
        <p:nvSpPr>
          <p:cNvPr id="37" name="TextBox 36"/>
          <p:cNvSpPr txBox="1"/>
          <p:nvPr/>
        </p:nvSpPr>
        <p:spPr>
          <a:xfrm>
            <a:off x="3008376" y="2587752"/>
            <a:ext cx="1755648" cy="237744"/>
          </a:xfrm>
          <a:prstGeom prst="rect">
            <a:avLst/>
          </a:prstGeom>
          <a:noFill/>
        </p:spPr>
        <p:txBody>
          <a:bodyPr wrap="square" anchor="t">
            <a:spAutoFit/>
          </a:bodyPr>
          <a:lstStyle/>
          <a:p>
            <a:pPr algn="ctr"/>
            <a:r>
              <a:rPr sz="950" b="0">
                <a:solidFill>
                  <a:srgbClr val="5A6472"/>
                </a:solidFill>
                <a:latin typeface="Cascadia Mono"/>
              </a:rPr>
              <a:t>no dispositivo</a:t>
            </a:r>
          </a:p>
        </p:txBody>
      </p:sp>
      <p:sp>
        <p:nvSpPr>
          <p:cNvPr id="38" name="Right Arrow 37"/>
          <p:cNvSpPr/>
          <p:nvPr/>
        </p:nvSpPr>
        <p:spPr>
          <a:xfrm>
            <a:off x="4828032" y="2414015"/>
            <a:ext cx="256031" cy="109728"/>
          </a:xfrm>
          <a:prstGeom prst="rightArrow">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5148072" y="1874519"/>
            <a:ext cx="1755648" cy="1188720"/>
          </a:xfrm>
          <a:prstGeom prst="roundRect">
            <a:avLst>
              <a:gd name="adj" fmla="val 6000"/>
            </a:avLst>
          </a:prstGeom>
          <a:solidFill>
            <a:srgbClr val="F6F7F9"/>
          </a:solidFill>
          <a:ln w="12700">
            <a:solidFill>
              <a:srgbClr val="E3E7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148072" y="2167127"/>
            <a:ext cx="1755648" cy="438912"/>
          </a:xfrm>
          <a:prstGeom prst="rect">
            <a:avLst/>
          </a:prstGeom>
          <a:noFill/>
        </p:spPr>
        <p:txBody>
          <a:bodyPr wrap="square" anchor="t">
            <a:spAutoFit/>
          </a:bodyPr>
          <a:lstStyle/>
          <a:p>
            <a:pPr algn="ctr"/>
            <a:r>
              <a:rPr sz="1350" b="1">
                <a:solidFill>
                  <a:srgbClr val="12161C"/>
                </a:solidFill>
                <a:latin typeface="Aptos"/>
              </a:rPr>
              <a:t>Sistema</a:t>
            </a:r>
          </a:p>
          <a:p>
            <a:pPr algn="ctr"/>
            <a:r>
              <a:rPr sz="1350" b="1">
                <a:solidFill>
                  <a:srgbClr val="12161C"/>
                </a:solidFill>
                <a:latin typeface="Aptos"/>
              </a:rPr>
              <a:t>Operacional</a:t>
            </a:r>
          </a:p>
        </p:txBody>
      </p:sp>
      <p:sp>
        <p:nvSpPr>
          <p:cNvPr id="41" name="TextBox 40"/>
          <p:cNvSpPr txBox="1"/>
          <p:nvPr/>
        </p:nvSpPr>
        <p:spPr>
          <a:xfrm>
            <a:off x="5148072" y="2660903"/>
            <a:ext cx="1755648" cy="237744"/>
          </a:xfrm>
          <a:prstGeom prst="rect">
            <a:avLst/>
          </a:prstGeom>
          <a:noFill/>
        </p:spPr>
        <p:txBody>
          <a:bodyPr wrap="square" anchor="t">
            <a:spAutoFit/>
          </a:bodyPr>
          <a:lstStyle/>
          <a:p>
            <a:pPr algn="ctr"/>
            <a:r>
              <a:rPr sz="950" b="0">
                <a:solidFill>
                  <a:srgbClr val="5A6472"/>
                </a:solidFill>
                <a:latin typeface="Cascadia Mono"/>
              </a:rPr>
              <a:t>Android / iOS</a:t>
            </a:r>
          </a:p>
        </p:txBody>
      </p:sp>
      <p:sp>
        <p:nvSpPr>
          <p:cNvPr id="42" name="Right Arrow 41"/>
          <p:cNvSpPr/>
          <p:nvPr/>
        </p:nvSpPr>
        <p:spPr>
          <a:xfrm>
            <a:off x="6967728" y="2414015"/>
            <a:ext cx="256031" cy="109728"/>
          </a:xfrm>
          <a:prstGeom prst="rightArrow">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7287768" y="1874519"/>
            <a:ext cx="1755648" cy="1188720"/>
          </a:xfrm>
          <a:prstGeom prst="roundRect">
            <a:avLst>
              <a:gd name="adj" fmla="val 6000"/>
            </a:avLst>
          </a:prstGeom>
          <a:solidFill>
            <a:srgbClr val="F6F7F9"/>
          </a:solidFill>
          <a:ln w="12700">
            <a:solidFill>
              <a:srgbClr val="E3E7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287768" y="2167127"/>
            <a:ext cx="1755648" cy="438912"/>
          </a:xfrm>
          <a:prstGeom prst="rect">
            <a:avLst/>
          </a:prstGeom>
          <a:noFill/>
        </p:spPr>
        <p:txBody>
          <a:bodyPr wrap="square" anchor="t">
            <a:spAutoFit/>
          </a:bodyPr>
          <a:lstStyle/>
          <a:p>
            <a:pPr algn="ctr"/>
            <a:r>
              <a:rPr sz="1350" b="1">
                <a:solidFill>
                  <a:srgbClr val="12161C"/>
                </a:solidFill>
                <a:latin typeface="Aptos"/>
              </a:rPr>
              <a:t>API</a:t>
            </a:r>
          </a:p>
        </p:txBody>
      </p:sp>
      <p:sp>
        <p:nvSpPr>
          <p:cNvPr id="45" name="TextBox 44"/>
          <p:cNvSpPr txBox="1"/>
          <p:nvPr/>
        </p:nvSpPr>
        <p:spPr>
          <a:xfrm>
            <a:off x="7287768" y="2587752"/>
            <a:ext cx="1755648" cy="237744"/>
          </a:xfrm>
          <a:prstGeom prst="rect">
            <a:avLst/>
          </a:prstGeom>
          <a:noFill/>
        </p:spPr>
        <p:txBody>
          <a:bodyPr wrap="square" anchor="t">
            <a:spAutoFit/>
          </a:bodyPr>
          <a:lstStyle/>
          <a:p>
            <a:pPr algn="ctr"/>
            <a:r>
              <a:rPr sz="950" b="0">
                <a:solidFill>
                  <a:srgbClr val="5A6472"/>
                </a:solidFill>
                <a:latin typeface="Cascadia Mono"/>
              </a:rPr>
              <a:t>requisição</a:t>
            </a:r>
          </a:p>
        </p:txBody>
      </p:sp>
      <p:sp>
        <p:nvSpPr>
          <p:cNvPr id="46" name="Right Arrow 45"/>
          <p:cNvSpPr/>
          <p:nvPr/>
        </p:nvSpPr>
        <p:spPr>
          <a:xfrm>
            <a:off x="9107424" y="2414015"/>
            <a:ext cx="256031" cy="109728"/>
          </a:xfrm>
          <a:prstGeom prst="rightArrow">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9427463" y="1874519"/>
            <a:ext cx="1755648" cy="1188720"/>
          </a:xfrm>
          <a:prstGeom prst="roundRect">
            <a:avLst>
              <a:gd name="adj" fmla="val 6000"/>
            </a:avLst>
          </a:prstGeom>
          <a:solidFill>
            <a:srgbClr val="F6F7F9"/>
          </a:solidFill>
          <a:ln w="12700">
            <a:solidFill>
              <a:srgbClr val="E3E7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427463" y="2167127"/>
            <a:ext cx="1755648" cy="438912"/>
          </a:xfrm>
          <a:prstGeom prst="rect">
            <a:avLst/>
          </a:prstGeom>
          <a:noFill/>
        </p:spPr>
        <p:txBody>
          <a:bodyPr wrap="square" anchor="t">
            <a:spAutoFit/>
          </a:bodyPr>
          <a:lstStyle/>
          <a:p>
            <a:pPr algn="ctr"/>
            <a:r>
              <a:rPr sz="1350" b="1">
                <a:solidFill>
                  <a:srgbClr val="12161C"/>
                </a:solidFill>
                <a:latin typeface="Aptos"/>
              </a:rPr>
              <a:t>Servidor</a:t>
            </a:r>
          </a:p>
        </p:txBody>
      </p:sp>
      <p:sp>
        <p:nvSpPr>
          <p:cNvPr id="49" name="TextBox 48"/>
          <p:cNvSpPr txBox="1"/>
          <p:nvPr/>
        </p:nvSpPr>
        <p:spPr>
          <a:xfrm>
            <a:off x="9427463" y="2587752"/>
            <a:ext cx="1755648" cy="237744"/>
          </a:xfrm>
          <a:prstGeom prst="rect">
            <a:avLst/>
          </a:prstGeom>
          <a:noFill/>
        </p:spPr>
        <p:txBody>
          <a:bodyPr wrap="square" anchor="t">
            <a:spAutoFit/>
          </a:bodyPr>
          <a:lstStyle/>
          <a:p>
            <a:pPr algn="ctr"/>
            <a:r>
              <a:rPr sz="950" b="0">
                <a:solidFill>
                  <a:srgbClr val="5A6472"/>
                </a:solidFill>
                <a:latin typeface="Cascadia Mono"/>
              </a:rPr>
              <a:t>dados</a:t>
            </a:r>
          </a:p>
        </p:txBody>
      </p:sp>
      <p:sp>
        <p:nvSpPr>
          <p:cNvPr id="50" name="Rounded Rectangle 49"/>
          <p:cNvSpPr/>
          <p:nvPr/>
        </p:nvSpPr>
        <p:spPr>
          <a:xfrm>
            <a:off x="868680" y="3383280"/>
            <a:ext cx="2542032" cy="1481328"/>
          </a:xfrm>
          <a:prstGeom prst="roundRect">
            <a:avLst>
              <a:gd name="adj" fmla="val 6000"/>
            </a:avLst>
          </a:prstGeom>
          <a:solidFill>
            <a:srgbClr val="FFFFFF"/>
          </a:solidFill>
          <a:ln w="12700">
            <a:solidFill>
              <a:srgbClr val="E3E7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69848" y="3584448"/>
            <a:ext cx="274320" cy="274320"/>
          </a:xfrm>
          <a:prstGeom prst="ellipse">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scadia Mono"/>
              </a:rPr>
              <a:t>1</a:t>
            </a:r>
          </a:p>
        </p:txBody>
      </p:sp>
      <p:sp>
        <p:nvSpPr>
          <p:cNvPr id="52" name="TextBox 51"/>
          <p:cNvSpPr txBox="1"/>
          <p:nvPr/>
        </p:nvSpPr>
        <p:spPr>
          <a:xfrm>
            <a:off x="1435607" y="3621024"/>
            <a:ext cx="1810511" cy="256032"/>
          </a:xfrm>
          <a:prstGeom prst="rect">
            <a:avLst/>
          </a:prstGeom>
          <a:noFill/>
        </p:spPr>
        <p:txBody>
          <a:bodyPr wrap="square" anchor="t">
            <a:spAutoFit/>
          </a:bodyPr>
          <a:lstStyle/>
          <a:p>
            <a:pPr algn="l"/>
            <a:r>
              <a:rPr sz="900" b="1">
                <a:solidFill>
                  <a:srgbClr val="D71920"/>
                </a:solidFill>
                <a:latin typeface="Cascadia Mono"/>
              </a:rPr>
              <a:t>APP INSTALADO</a:t>
            </a:r>
          </a:p>
        </p:txBody>
      </p:sp>
      <p:sp>
        <p:nvSpPr>
          <p:cNvPr id="53" name="TextBox 52"/>
          <p:cNvSpPr txBox="1"/>
          <p:nvPr/>
        </p:nvSpPr>
        <p:spPr>
          <a:xfrm>
            <a:off x="1088136" y="4041648"/>
            <a:ext cx="2121408" cy="749808"/>
          </a:xfrm>
          <a:prstGeom prst="rect">
            <a:avLst/>
          </a:prstGeom>
          <a:noFill/>
        </p:spPr>
        <p:txBody>
          <a:bodyPr wrap="square" anchor="t">
            <a:spAutoFit/>
          </a:bodyPr>
          <a:lstStyle/>
          <a:p>
            <a:pPr algn="l"/>
            <a:r>
              <a:rPr sz="1100" b="0">
                <a:solidFill>
                  <a:srgbClr val="5A6472"/>
                </a:solidFill>
                <a:latin typeface="Aptos"/>
              </a:rPr>
              <a:t>O usuário abre o aplicativo direto no aparelho. Não há URL e não há navegador.</a:t>
            </a:r>
          </a:p>
        </p:txBody>
      </p:sp>
      <p:sp>
        <p:nvSpPr>
          <p:cNvPr id="54" name="Rounded Rectangle 53"/>
          <p:cNvSpPr/>
          <p:nvPr/>
        </p:nvSpPr>
        <p:spPr>
          <a:xfrm>
            <a:off x="3593591" y="3383280"/>
            <a:ext cx="2542032" cy="1481328"/>
          </a:xfrm>
          <a:prstGeom prst="roundRect">
            <a:avLst>
              <a:gd name="adj" fmla="val 6000"/>
            </a:avLst>
          </a:prstGeom>
          <a:solidFill>
            <a:srgbClr val="FFFFFF"/>
          </a:solidFill>
          <a:ln w="12700">
            <a:solidFill>
              <a:srgbClr val="E3E7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3794759" y="3584448"/>
            <a:ext cx="274320" cy="274320"/>
          </a:xfrm>
          <a:prstGeom prst="ellipse">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scadia Mono"/>
              </a:rPr>
              <a:t>2</a:t>
            </a:r>
          </a:p>
        </p:txBody>
      </p:sp>
      <p:sp>
        <p:nvSpPr>
          <p:cNvPr id="56" name="TextBox 55"/>
          <p:cNvSpPr txBox="1"/>
          <p:nvPr/>
        </p:nvSpPr>
        <p:spPr>
          <a:xfrm>
            <a:off x="4160520" y="3621024"/>
            <a:ext cx="1810511" cy="256032"/>
          </a:xfrm>
          <a:prstGeom prst="rect">
            <a:avLst/>
          </a:prstGeom>
          <a:noFill/>
        </p:spPr>
        <p:txBody>
          <a:bodyPr wrap="square" anchor="t">
            <a:spAutoFit/>
          </a:bodyPr>
          <a:lstStyle/>
          <a:p>
            <a:pPr algn="l"/>
            <a:r>
              <a:rPr sz="900" b="1">
                <a:solidFill>
                  <a:srgbClr val="D71920"/>
                </a:solidFill>
                <a:latin typeface="Cascadia Mono"/>
              </a:rPr>
              <a:t>CÓDIGO DA APLICAÇÃO</a:t>
            </a:r>
          </a:p>
        </p:txBody>
      </p:sp>
      <p:sp>
        <p:nvSpPr>
          <p:cNvPr id="57" name="TextBox 56"/>
          <p:cNvSpPr txBox="1"/>
          <p:nvPr/>
        </p:nvSpPr>
        <p:spPr>
          <a:xfrm>
            <a:off x="3813048" y="4041648"/>
            <a:ext cx="2121408" cy="749808"/>
          </a:xfrm>
          <a:prstGeom prst="rect">
            <a:avLst/>
          </a:prstGeom>
          <a:noFill/>
        </p:spPr>
        <p:txBody>
          <a:bodyPr wrap="square" anchor="t">
            <a:spAutoFit/>
          </a:bodyPr>
          <a:lstStyle/>
          <a:p>
            <a:pPr algn="l"/>
            <a:r>
              <a:rPr sz="1100" b="0">
                <a:solidFill>
                  <a:srgbClr val="5A6472"/>
                </a:solidFill>
                <a:latin typeface="Aptos"/>
              </a:rPr>
              <a:t>Nativo: Kotlin / Java no Android, Swift no iOS. Multiplataforma: React Native, Flutter.</a:t>
            </a:r>
          </a:p>
        </p:txBody>
      </p:sp>
      <p:sp>
        <p:nvSpPr>
          <p:cNvPr id="58" name="Rounded Rectangle 57"/>
          <p:cNvSpPr/>
          <p:nvPr/>
        </p:nvSpPr>
        <p:spPr>
          <a:xfrm>
            <a:off x="6318504" y="3383280"/>
            <a:ext cx="2542032" cy="1481328"/>
          </a:xfrm>
          <a:prstGeom prst="roundRect">
            <a:avLst>
              <a:gd name="adj" fmla="val 6000"/>
            </a:avLst>
          </a:prstGeom>
          <a:solidFill>
            <a:srgbClr val="FFFFFF"/>
          </a:solidFill>
          <a:ln w="12700">
            <a:solidFill>
              <a:srgbClr val="E3E7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6519672" y="3584448"/>
            <a:ext cx="274320" cy="274320"/>
          </a:xfrm>
          <a:prstGeom prst="ellipse">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scadia Mono"/>
              </a:rPr>
              <a:t>3</a:t>
            </a:r>
          </a:p>
        </p:txBody>
      </p:sp>
      <p:sp>
        <p:nvSpPr>
          <p:cNvPr id="60" name="TextBox 59"/>
          <p:cNvSpPr txBox="1"/>
          <p:nvPr/>
        </p:nvSpPr>
        <p:spPr>
          <a:xfrm>
            <a:off x="6885432" y="3621024"/>
            <a:ext cx="1810511" cy="256032"/>
          </a:xfrm>
          <a:prstGeom prst="rect">
            <a:avLst/>
          </a:prstGeom>
          <a:noFill/>
        </p:spPr>
        <p:txBody>
          <a:bodyPr wrap="square" anchor="t">
            <a:spAutoFit/>
          </a:bodyPr>
          <a:lstStyle/>
          <a:p>
            <a:pPr algn="l"/>
            <a:r>
              <a:rPr sz="900" b="1">
                <a:solidFill>
                  <a:srgbClr val="D71920"/>
                </a:solidFill>
                <a:latin typeface="Cascadia Mono"/>
              </a:rPr>
              <a:t>API</a:t>
            </a:r>
          </a:p>
        </p:txBody>
      </p:sp>
      <p:sp>
        <p:nvSpPr>
          <p:cNvPr id="61" name="TextBox 60"/>
          <p:cNvSpPr txBox="1"/>
          <p:nvPr/>
        </p:nvSpPr>
        <p:spPr>
          <a:xfrm>
            <a:off x="6537960" y="4041648"/>
            <a:ext cx="2121408" cy="749808"/>
          </a:xfrm>
          <a:prstGeom prst="rect">
            <a:avLst/>
          </a:prstGeom>
          <a:noFill/>
        </p:spPr>
        <p:txBody>
          <a:bodyPr wrap="square" anchor="t">
            <a:spAutoFit/>
          </a:bodyPr>
          <a:lstStyle/>
          <a:p>
            <a:pPr algn="l"/>
            <a:r>
              <a:rPr sz="1100" b="0">
                <a:solidFill>
                  <a:srgbClr val="5A6472"/>
                </a:solidFill>
                <a:latin typeface="Aptos"/>
              </a:rPr>
              <a:t>Quando precisa de informação externa, o app faz uma requisição — igual à Web.</a:t>
            </a:r>
          </a:p>
        </p:txBody>
      </p:sp>
      <p:sp>
        <p:nvSpPr>
          <p:cNvPr id="62" name="Rounded Rectangle 61"/>
          <p:cNvSpPr/>
          <p:nvPr/>
        </p:nvSpPr>
        <p:spPr>
          <a:xfrm>
            <a:off x="9043416" y="3383280"/>
            <a:ext cx="2542032" cy="1481328"/>
          </a:xfrm>
          <a:prstGeom prst="roundRect">
            <a:avLst>
              <a:gd name="adj" fmla="val 6000"/>
            </a:avLst>
          </a:prstGeom>
          <a:solidFill>
            <a:srgbClr val="FFFFFF"/>
          </a:solidFill>
          <a:ln w="12700">
            <a:solidFill>
              <a:srgbClr val="E3E7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9244584" y="3584448"/>
            <a:ext cx="274320" cy="274320"/>
          </a:xfrm>
          <a:prstGeom prst="ellipse">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scadia Mono"/>
              </a:rPr>
              <a:t>4</a:t>
            </a:r>
          </a:p>
        </p:txBody>
      </p:sp>
      <p:sp>
        <p:nvSpPr>
          <p:cNvPr id="64" name="TextBox 63"/>
          <p:cNvSpPr txBox="1"/>
          <p:nvPr/>
        </p:nvSpPr>
        <p:spPr>
          <a:xfrm>
            <a:off x="9610344" y="3621024"/>
            <a:ext cx="1810511" cy="256032"/>
          </a:xfrm>
          <a:prstGeom prst="rect">
            <a:avLst/>
          </a:prstGeom>
          <a:noFill/>
        </p:spPr>
        <p:txBody>
          <a:bodyPr wrap="square" anchor="t">
            <a:spAutoFit/>
          </a:bodyPr>
          <a:lstStyle/>
          <a:p>
            <a:pPr algn="l"/>
            <a:r>
              <a:rPr sz="900" b="1">
                <a:solidFill>
                  <a:srgbClr val="D71920"/>
                </a:solidFill>
                <a:latin typeface="Cascadia Mono"/>
              </a:rPr>
              <a:t>SERVIDOR / DADOS</a:t>
            </a:r>
          </a:p>
        </p:txBody>
      </p:sp>
      <p:sp>
        <p:nvSpPr>
          <p:cNvPr id="65" name="TextBox 64"/>
          <p:cNvSpPr txBox="1"/>
          <p:nvPr/>
        </p:nvSpPr>
        <p:spPr>
          <a:xfrm>
            <a:off x="9262872" y="4041648"/>
            <a:ext cx="2121408" cy="749808"/>
          </a:xfrm>
          <a:prstGeom prst="rect">
            <a:avLst/>
          </a:prstGeom>
          <a:noFill/>
        </p:spPr>
        <p:txBody>
          <a:bodyPr wrap="square" anchor="t">
            <a:spAutoFit/>
          </a:bodyPr>
          <a:lstStyle/>
          <a:p>
            <a:pPr algn="l"/>
            <a:r>
              <a:rPr sz="1100" b="0">
                <a:solidFill>
                  <a:srgbClr val="5A6472"/>
                </a:solidFill>
                <a:latin typeface="Aptos"/>
              </a:rPr>
              <a:t>Processa, consulta o banco de dados e devolve uma resposta ao aplicativo.</a:t>
            </a:r>
          </a:p>
        </p:txBody>
      </p:sp>
      <p:pic>
        <p:nvPicPr>
          <p:cNvPr id="66" name="Picture 65" descr="image.png"/>
          <p:cNvPicPr>
            <a:picLocks noChangeAspect="1"/>
          </p:cNvPicPr>
          <p:nvPr/>
        </p:nvPicPr>
        <p:blipFill>
          <a:blip r:embed="rId3"/>
          <a:stretch>
            <a:fillRect/>
          </a:stretch>
        </p:blipFill>
        <p:spPr>
          <a:xfrm>
            <a:off x="5349239" y="4462272"/>
            <a:ext cx="219456" cy="219456"/>
          </a:xfrm>
          <a:prstGeom prst="rect">
            <a:avLst/>
          </a:prstGeom>
        </p:spPr>
      </p:pic>
      <p:pic>
        <p:nvPicPr>
          <p:cNvPr id="67" name="Picture 66" descr="image.png"/>
          <p:cNvPicPr>
            <a:picLocks noChangeAspect="1"/>
          </p:cNvPicPr>
          <p:nvPr/>
        </p:nvPicPr>
        <p:blipFill>
          <a:blip r:embed="rId4"/>
          <a:stretch>
            <a:fillRect/>
          </a:stretch>
        </p:blipFill>
        <p:spPr>
          <a:xfrm>
            <a:off x="5641847" y="4462272"/>
            <a:ext cx="219456" cy="219456"/>
          </a:xfrm>
          <a:prstGeom prst="rect">
            <a:avLst/>
          </a:prstGeom>
        </p:spPr>
      </p:pic>
      <p:sp>
        <p:nvSpPr>
          <p:cNvPr id="68" name="Rounded Rectangle 67"/>
          <p:cNvSpPr/>
          <p:nvPr/>
        </p:nvSpPr>
        <p:spPr>
          <a:xfrm>
            <a:off x="868680" y="5138928"/>
            <a:ext cx="10460736" cy="841248"/>
          </a:xfrm>
          <a:prstGeom prst="roundRect">
            <a:avLst>
              <a:gd name="adj" fmla="val 6000"/>
            </a:avLst>
          </a:prstGeom>
          <a:solidFill>
            <a:srgbClr val="FFF9E6"/>
          </a:solidFill>
          <a:ln w="12700">
            <a:solidFill>
              <a:srgbClr val="F1D77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115568" y="5285232"/>
            <a:ext cx="10058400" cy="256032"/>
          </a:xfrm>
          <a:prstGeom prst="rect">
            <a:avLst/>
          </a:prstGeom>
          <a:noFill/>
        </p:spPr>
        <p:txBody>
          <a:bodyPr wrap="square" anchor="t">
            <a:spAutoFit/>
          </a:bodyPr>
          <a:lstStyle/>
          <a:p>
            <a:pPr algn="l"/>
            <a:r>
              <a:rPr sz="900" b="1">
                <a:solidFill>
                  <a:srgbClr val="8A6D00"/>
                </a:solidFill>
                <a:latin typeface="Cascadia Mono"/>
              </a:rPr>
              <a:t>A DIFERENÇA QUE IMPORTA</a:t>
            </a:r>
          </a:p>
        </p:txBody>
      </p:sp>
      <p:sp>
        <p:nvSpPr>
          <p:cNvPr id="70" name="TextBox 69"/>
          <p:cNvSpPr txBox="1"/>
          <p:nvPr/>
        </p:nvSpPr>
        <p:spPr>
          <a:xfrm>
            <a:off x="1115568" y="5541264"/>
            <a:ext cx="10058400" cy="384048"/>
          </a:xfrm>
          <a:prstGeom prst="rect">
            <a:avLst/>
          </a:prstGeom>
          <a:noFill/>
        </p:spPr>
        <p:txBody>
          <a:bodyPr wrap="square" anchor="t">
            <a:spAutoFit/>
          </a:bodyPr>
          <a:lstStyle/>
          <a:p>
            <a:pPr algn="l"/>
            <a:r>
              <a:rPr sz="1200" b="0">
                <a:solidFill>
                  <a:srgbClr val="12161C"/>
                </a:solidFill>
                <a:latin typeface="Aptos"/>
              </a:rPr>
              <a:t>Não precisamos abrir um navegador. O software está instalado no dispositivo e pode se integrar diretamente aos recursos do sistema operacional.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D71920"/>
          </a:solidFill>
          <a:ln w="12700">
            <a:solidFill>
              <a:srgbClr val="D71920"/>
            </a:solidFill>
            <a:prstDash val="solid"/>
          </a:ln>
        </p:spPr>
        <p:txBody>
          <a:bodyPr/>
          <a:p/>
        </p:txBody>
      </p:sp>
      <p:sp>
        <p:nvSpPr>
          <p:cNvPr id="3" name="Shape 1"/>
          <p:cNvSpPr/>
          <p:nvPr/>
        </p:nvSpPr>
        <p:spPr>
          <a:xfrm>
            <a:off x="164592" y="0"/>
            <a:ext cx="54864" cy="6858000"/>
          </a:xfrm>
          <a:prstGeom prst="rect">
            <a:avLst/>
          </a:prstGeom>
          <a:solidFill>
            <a:srgbClr val="FFD322"/>
          </a:solidFill>
          <a:ln w="12700">
            <a:solidFill>
              <a:srgbClr val="FFD322"/>
            </a:solidFill>
            <a:prstDash val="solid"/>
          </a:ln>
        </p:spPr>
        <p:txBody>
          <a:bodyPr/>
          <a:p/>
        </p:txBody>
      </p:sp>
      <p:sp>
        <p:nvSpPr>
          <p:cNvPr id="4" name="Text 2"/>
          <p:cNvSpPr/>
          <p:nvPr/>
        </p:nvSpPr>
        <p:spPr>
          <a:xfrm>
            <a:off x="438912" y="210312"/>
            <a:ext cx="2103120" cy="256032"/>
          </a:xfrm>
          <a:prstGeom prst="rect">
            <a:avLst/>
          </a:prstGeom>
          <a:noFill/>
          <a:ln/>
        </p:spPr>
        <p:txBody>
          <a:bodyPr wrap="square" lIns="0" tIns="0" rIns="0" bIns="0" rtlCol="0" anchor="ctr"/>
          <a:lstStyle/>
          <a:p>
            <a:pPr indent="0" marL="0">
              <a:buNone/>
            </a:pPr>
            <a:r>
              <a:rPr lang="en-US" sz="950" b="1" dirty="0">
                <a:solidFill>
                  <a:srgbClr val="D71920"/>
                </a:solidFill>
                <a:latin typeface="Aptos" pitchFamily="34" charset="0"/>
                <a:ea typeface="Aptos" pitchFamily="34" charset="-122"/>
                <a:cs typeface="Aptos" pitchFamily="34" charset="-120"/>
              </a:rPr>
              <a:t>Aula 01</a:t>
            </a:r>
            <a:endParaRPr lang="en-US" sz="950" dirty="0"/>
          </a:p>
        </p:txBody>
      </p:sp>
      <p:sp>
        <p:nvSpPr>
          <p:cNvPr id="5" name="Text 3"/>
          <p:cNvSpPr/>
          <p:nvPr/>
        </p:nvSpPr>
        <p:spPr>
          <a:xfrm>
            <a:off x="2788920" y="210312"/>
            <a:ext cx="2743200" cy="256032"/>
          </a:xfrm>
          <a:prstGeom prst="rect">
            <a:avLst/>
          </a:prstGeom>
          <a:noFill/>
          <a:ln/>
        </p:spPr>
        <p:txBody>
          <a:bodyPr wrap="square" lIns="0" tIns="0" rIns="0" bIns="0" rtlCol="0" anchor="ctr"/>
          <a:lstStyle/>
          <a:p>
            <a:pPr indent="0" marL="0">
              <a:buNone/>
            </a:pPr>
            <a:r>
              <a:rPr lang="en-US" sz="950" dirty="0">
                <a:solidFill>
                  <a:srgbClr val="5A6472"/>
                </a:solidFill>
              </a:rPr>
              <a:t>Desenvolvimento Mobile</a:t>
            </a:r>
            <a:endParaRPr lang="en-US" sz="950" dirty="0"/>
          </a:p>
        </p:txBody>
      </p:sp>
      <p:pic>
        <p:nvPicPr>
          <p:cNvPr id="6" name="Image 0" descr="/mnt/data/logo_mesquita_stylized.png">    </p:cNvPr>
          <p:cNvPicPr>
            <a:picLocks noChangeAspect="1"/>
          </p:cNvPicPr>
          <p:nvPr/>
        </p:nvPicPr>
        <p:blipFill>
          <a:blip r:embed="rId1"/>
          <a:stretch>
            <a:fillRect/>
          </a:stretch>
        </p:blipFill>
        <p:spPr>
          <a:xfrm>
            <a:off x="10744200" y="128016"/>
            <a:ext cx="987552" cy="685800"/>
          </a:xfrm>
          <a:prstGeom prst="rect">
            <a:avLst/>
          </a:prstGeom>
        </p:spPr>
      </p:pic>
      <p:sp>
        <p:nvSpPr>
          <p:cNvPr id="7" name="Text 4"/>
          <p:cNvSpPr/>
          <p:nvPr/>
        </p:nvSpPr>
        <p:spPr>
          <a:xfrm>
            <a:off x="502920" y="749808"/>
            <a:ext cx="8503920" cy="530352"/>
          </a:xfrm>
          <a:prstGeom prst="rect">
            <a:avLst/>
          </a:prstGeom>
          <a:noFill/>
          <a:ln/>
        </p:spPr>
        <p:txBody>
          <a:bodyPr wrap="square" lIns="0" tIns="0" rIns="0" bIns="0" rtlCol="0" anchor="ctr">
            <a:normAutofit/>
          </a:bodyPr>
          <a:lstStyle/>
          <a:p>
            <a:pPr indent="0" marL="0">
              <a:buNone/>
            </a:pPr>
            <a:r>
              <a:rPr lang="en-US" sz="3000" b="1" dirty="0">
                <a:solidFill>
                  <a:srgbClr val="12161C"/>
                </a:solidFill>
                <a:latin typeface="Aptos Display" pitchFamily="34" charset="0"/>
                <a:ea typeface="Aptos Display" pitchFamily="34" charset="-122"/>
                <a:cs typeface="Aptos Display" pitchFamily="34" charset="-120"/>
              </a:rPr>
              <a:t>Recursos que tornam o mobile diferente</a:t>
            </a:r>
            <a:endParaRPr lang="en-US" sz="3000" dirty="0"/>
          </a:p>
        </p:txBody>
      </p:sp>
      <p:sp>
        <p:nvSpPr>
          <p:cNvPr id="8" name="Text 5"/>
          <p:cNvSpPr/>
          <p:nvPr/>
        </p:nvSpPr>
        <p:spPr>
          <a:xfrm>
            <a:off x="530352" y="1325880"/>
            <a:ext cx="7589520" cy="320040"/>
          </a:xfrm>
          <a:prstGeom prst="rect">
            <a:avLst/>
          </a:prstGeom>
          <a:noFill/>
          <a:ln/>
        </p:spPr>
        <p:txBody>
          <a:bodyPr wrap="square" lIns="0" tIns="0" rIns="0" bIns="0" rtlCol="0" anchor="ctr"/>
          <a:lstStyle/>
          <a:p>
            <a:pPr indent="0" marL="0">
              <a:buNone/>
            </a:pPr>
            <a:r>
              <a:rPr lang="en-US" sz="1350" dirty="0">
                <a:solidFill>
                  <a:srgbClr val="5A6472"/>
                </a:solidFill>
              </a:rPr>
              <a:t>Um aplicativo pode conversar diretamente com o aparelho.</a:t>
            </a:r>
            <a:endParaRPr lang="en-US" sz="1350" dirty="0"/>
          </a:p>
        </p:txBody>
      </p:sp>
      <p:sp>
        <p:nvSpPr>
          <p:cNvPr id="9" name="Shape 6"/>
          <p:cNvSpPr/>
          <p:nvPr/>
        </p:nvSpPr>
        <p:spPr>
          <a:xfrm>
            <a:off x="914400" y="1874520"/>
            <a:ext cx="1508760" cy="2834640"/>
          </a:xfrm>
          <a:prstGeom prst="roundRect">
            <a:avLst>
              <a:gd name="adj" fmla="val 13333"/>
            </a:avLst>
          </a:prstGeom>
          <a:solidFill>
            <a:srgbClr val="12161C"/>
          </a:solidFill>
          <a:ln w="12700">
            <a:solidFill>
              <a:srgbClr val="1F1F1F"/>
            </a:solidFill>
            <a:prstDash val="solid"/>
          </a:ln>
        </p:spPr>
        <p:txBody>
          <a:bodyPr/>
          <a:p/>
        </p:txBody>
      </p:sp>
      <p:sp>
        <p:nvSpPr>
          <p:cNvPr id="11" name="Shape 8"/>
          <p:cNvSpPr/>
          <p:nvPr/>
        </p:nvSpPr>
        <p:spPr>
          <a:xfrm>
            <a:off x="1457554" y="1947672"/>
            <a:ext cx="422453" cy="45720"/>
          </a:xfrm>
          <a:prstGeom prst="roundRect">
            <a:avLst>
              <a:gd name="adj" fmla="val 40000"/>
            </a:avLst>
          </a:prstGeom>
          <a:solidFill>
            <a:srgbClr val="5A6472"/>
          </a:solidFill>
          <a:ln w="12700">
            <a:solidFill>
              <a:srgbClr val="666666"/>
            </a:solidFill>
            <a:prstDash val="solid"/>
          </a:ln>
        </p:spPr>
        <p:txBody>
          <a:bodyPr/>
          <a:p/>
        </p:txBody>
      </p:sp>
      <p:sp>
        <p:nvSpPr>
          <p:cNvPr id="14" name="Shape 11"/>
          <p:cNvSpPr/>
          <p:nvPr/>
        </p:nvSpPr>
        <p:spPr>
          <a:xfrm>
            <a:off x="3749040" y="1691640"/>
            <a:ext cx="1508760" cy="640080"/>
          </a:xfrm>
          <a:prstGeom prst="roundRect">
            <a:avLst>
              <a:gd name="adj" fmla="val 22857"/>
            </a:avLst>
          </a:prstGeom>
          <a:solidFill>
            <a:srgbClr val="FFF5F5"/>
          </a:solidFill>
          <a:ln w="12700">
            <a:solidFill>
              <a:srgbClr val="F2BBBB"/>
            </a:solidFill>
            <a:prstDash val="solid"/>
          </a:ln>
        </p:spPr>
        <p:txBody>
          <a:bodyPr/>
          <a:p/>
        </p:txBody>
      </p:sp>
      <p:sp>
        <p:nvSpPr>
          <p:cNvPr id="15" name="Text 12"/>
          <p:cNvSpPr/>
          <p:nvPr/>
        </p:nvSpPr>
        <p:spPr>
          <a:xfrm>
            <a:off x="3794760" y="1911096"/>
            <a:ext cx="1417320" cy="182880"/>
          </a:xfrm>
          <a:prstGeom prst="rect">
            <a:avLst/>
          </a:prstGeom>
          <a:noFill/>
          <a:ln/>
        </p:spPr>
        <p:txBody>
          <a:bodyPr wrap="square" lIns="0" tIns="0" rIns="0" bIns="0" rtlCol="0" anchor="ctr">
            <a:normAutofit/>
          </a:bodyPr>
          <a:lstStyle/>
          <a:p>
            <a:pPr algn="ctr" indent="0" marL="0">
              <a:buNone/>
            </a:pPr>
            <a:r>
              <a:rPr lang="en-US" sz="1320" b="1" dirty="0">
                <a:solidFill>
                  <a:srgbClr val="12161C"/>
                </a:solidFill>
              </a:rPr>
              <a:t>Câmera</a:t>
            </a:r>
            <a:endParaRPr lang="en-US" sz="1320" dirty="0"/>
          </a:p>
        </p:txBody>
      </p:sp>
      <p:sp>
        <p:nvSpPr>
          <p:cNvPr id="16" name="Shape 13"/>
          <p:cNvSpPr/>
          <p:nvPr/>
        </p:nvSpPr>
        <p:spPr>
          <a:xfrm>
            <a:off x="5760720" y="1691640"/>
            <a:ext cx="1508760" cy="640080"/>
          </a:xfrm>
          <a:prstGeom prst="roundRect">
            <a:avLst>
              <a:gd name="adj" fmla="val 22857"/>
            </a:avLst>
          </a:prstGeom>
          <a:solidFill>
            <a:srgbClr val="FFF9E6"/>
          </a:solidFill>
          <a:ln w="12700">
            <a:solidFill>
              <a:srgbClr val="F1D777"/>
            </a:solidFill>
            <a:prstDash val="solid"/>
          </a:ln>
        </p:spPr>
        <p:txBody>
          <a:bodyPr/>
          <a:p/>
        </p:txBody>
      </p:sp>
      <p:sp>
        <p:nvSpPr>
          <p:cNvPr id="17" name="Text 14"/>
          <p:cNvSpPr/>
          <p:nvPr/>
        </p:nvSpPr>
        <p:spPr>
          <a:xfrm>
            <a:off x="5806440" y="1911096"/>
            <a:ext cx="1417320" cy="182880"/>
          </a:xfrm>
          <a:prstGeom prst="rect">
            <a:avLst/>
          </a:prstGeom>
          <a:noFill/>
          <a:ln/>
        </p:spPr>
        <p:txBody>
          <a:bodyPr wrap="square" lIns="0" tIns="0" rIns="0" bIns="0" rtlCol="0" anchor="ctr">
            <a:normAutofit/>
          </a:bodyPr>
          <a:lstStyle/>
          <a:p>
            <a:pPr algn="ctr" indent="0" marL="0">
              <a:buNone/>
            </a:pPr>
            <a:r>
              <a:rPr lang="en-US" sz="1320" b="1" dirty="0">
                <a:solidFill>
                  <a:srgbClr val="12161C"/>
                </a:solidFill>
              </a:rPr>
              <a:t>GPS</a:t>
            </a:r>
            <a:endParaRPr lang="en-US" sz="1320" dirty="0"/>
          </a:p>
        </p:txBody>
      </p:sp>
      <p:sp>
        <p:nvSpPr>
          <p:cNvPr id="18" name="Shape 15"/>
          <p:cNvSpPr/>
          <p:nvPr/>
        </p:nvSpPr>
        <p:spPr>
          <a:xfrm>
            <a:off x="7772400" y="1691640"/>
            <a:ext cx="1508760" cy="640080"/>
          </a:xfrm>
          <a:prstGeom prst="roundRect">
            <a:avLst>
              <a:gd name="adj" fmla="val 22857"/>
            </a:avLst>
          </a:prstGeom>
          <a:solidFill>
            <a:srgbClr val="FFF5F5"/>
          </a:solidFill>
          <a:ln w="12700">
            <a:solidFill>
              <a:srgbClr val="F2BBBB"/>
            </a:solidFill>
            <a:prstDash val="solid"/>
          </a:ln>
        </p:spPr>
        <p:txBody>
          <a:bodyPr/>
          <a:p/>
        </p:txBody>
      </p:sp>
      <p:sp>
        <p:nvSpPr>
          <p:cNvPr id="19" name="Text 16"/>
          <p:cNvSpPr/>
          <p:nvPr/>
        </p:nvSpPr>
        <p:spPr>
          <a:xfrm>
            <a:off x="7818120" y="1911096"/>
            <a:ext cx="1417320" cy="182880"/>
          </a:xfrm>
          <a:prstGeom prst="rect">
            <a:avLst/>
          </a:prstGeom>
          <a:noFill/>
          <a:ln/>
        </p:spPr>
        <p:txBody>
          <a:bodyPr wrap="square" lIns="0" tIns="0" rIns="0" bIns="0" rtlCol="0" anchor="ctr">
            <a:normAutofit/>
          </a:bodyPr>
          <a:lstStyle/>
          <a:p>
            <a:pPr algn="ctr" indent="0" marL="0">
              <a:buNone/>
            </a:pPr>
            <a:r>
              <a:rPr lang="en-US" sz="1320" b="1" dirty="0">
                <a:solidFill>
                  <a:srgbClr val="12161C"/>
                </a:solidFill>
              </a:rPr>
              <a:t>Notificações</a:t>
            </a:r>
            <a:endParaRPr lang="en-US" sz="1320" dirty="0"/>
          </a:p>
        </p:txBody>
      </p:sp>
      <p:sp>
        <p:nvSpPr>
          <p:cNvPr id="20" name="Shape 17"/>
          <p:cNvSpPr/>
          <p:nvPr/>
        </p:nvSpPr>
        <p:spPr>
          <a:xfrm>
            <a:off x="3749040" y="3063240"/>
            <a:ext cx="1508760" cy="640080"/>
          </a:xfrm>
          <a:prstGeom prst="roundRect">
            <a:avLst>
              <a:gd name="adj" fmla="val 22857"/>
            </a:avLst>
          </a:prstGeom>
          <a:solidFill>
            <a:srgbClr val="FFF9E6"/>
          </a:solidFill>
          <a:ln w="12700">
            <a:solidFill>
              <a:srgbClr val="F1D777"/>
            </a:solidFill>
            <a:prstDash val="solid"/>
          </a:ln>
        </p:spPr>
        <p:txBody>
          <a:bodyPr/>
          <a:p/>
        </p:txBody>
      </p:sp>
      <p:sp>
        <p:nvSpPr>
          <p:cNvPr id="21" name="Text 18"/>
          <p:cNvSpPr/>
          <p:nvPr/>
        </p:nvSpPr>
        <p:spPr>
          <a:xfrm>
            <a:off x="3794760" y="3282696"/>
            <a:ext cx="1417320" cy="182880"/>
          </a:xfrm>
          <a:prstGeom prst="rect">
            <a:avLst/>
          </a:prstGeom>
          <a:noFill/>
          <a:ln/>
        </p:spPr>
        <p:txBody>
          <a:bodyPr wrap="square" lIns="0" tIns="0" rIns="0" bIns="0" rtlCol="0" anchor="ctr">
            <a:normAutofit/>
          </a:bodyPr>
          <a:lstStyle/>
          <a:p>
            <a:pPr algn="ctr" indent="0" marL="0">
              <a:buNone/>
            </a:pPr>
            <a:r>
              <a:rPr lang="en-US" sz="1320" b="1" dirty="0">
                <a:solidFill>
                  <a:srgbClr val="12161C"/>
                </a:solidFill>
              </a:rPr>
              <a:t>Biometria</a:t>
            </a:r>
            <a:endParaRPr lang="en-US" sz="1320" dirty="0"/>
          </a:p>
        </p:txBody>
      </p:sp>
      <p:sp>
        <p:nvSpPr>
          <p:cNvPr id="22" name="Shape 19"/>
          <p:cNvSpPr/>
          <p:nvPr/>
        </p:nvSpPr>
        <p:spPr>
          <a:xfrm>
            <a:off x="5760720" y="3063240"/>
            <a:ext cx="1508760" cy="640080"/>
          </a:xfrm>
          <a:prstGeom prst="roundRect">
            <a:avLst>
              <a:gd name="adj" fmla="val 22857"/>
            </a:avLst>
          </a:prstGeom>
          <a:solidFill>
            <a:srgbClr val="FFF5F5"/>
          </a:solidFill>
          <a:ln w="12700">
            <a:solidFill>
              <a:srgbClr val="F2BBBB"/>
            </a:solidFill>
            <a:prstDash val="solid"/>
          </a:ln>
        </p:spPr>
        <p:txBody>
          <a:bodyPr/>
          <a:p/>
        </p:txBody>
      </p:sp>
      <p:sp>
        <p:nvSpPr>
          <p:cNvPr id="23" name="Text 20"/>
          <p:cNvSpPr/>
          <p:nvPr/>
        </p:nvSpPr>
        <p:spPr>
          <a:xfrm>
            <a:off x="5806440" y="3282696"/>
            <a:ext cx="1417320" cy="182880"/>
          </a:xfrm>
          <a:prstGeom prst="rect">
            <a:avLst/>
          </a:prstGeom>
          <a:noFill/>
          <a:ln/>
        </p:spPr>
        <p:txBody>
          <a:bodyPr wrap="square" lIns="0" tIns="0" rIns="0" bIns="0" rtlCol="0" anchor="ctr">
            <a:normAutofit/>
          </a:bodyPr>
          <a:lstStyle/>
          <a:p>
            <a:pPr algn="ctr" indent="0" marL="0">
              <a:buNone/>
            </a:pPr>
            <a:r>
              <a:rPr lang="en-US" sz="1320" b="1" dirty="0">
                <a:solidFill>
                  <a:srgbClr val="12161C"/>
                </a:solidFill>
              </a:rPr>
              <a:t>Bluetooth</a:t>
            </a:r>
            <a:endParaRPr lang="en-US" sz="1320" dirty="0"/>
          </a:p>
        </p:txBody>
      </p:sp>
      <p:sp>
        <p:nvSpPr>
          <p:cNvPr id="24" name="Shape 21"/>
          <p:cNvSpPr/>
          <p:nvPr/>
        </p:nvSpPr>
        <p:spPr>
          <a:xfrm>
            <a:off x="7772400" y="3063240"/>
            <a:ext cx="1508760" cy="640080"/>
          </a:xfrm>
          <a:prstGeom prst="roundRect">
            <a:avLst>
              <a:gd name="adj" fmla="val 22857"/>
            </a:avLst>
          </a:prstGeom>
          <a:solidFill>
            <a:srgbClr val="FFF9E6"/>
          </a:solidFill>
          <a:ln w="12700">
            <a:solidFill>
              <a:srgbClr val="F1D777"/>
            </a:solidFill>
            <a:prstDash val="solid"/>
          </a:ln>
        </p:spPr>
        <p:txBody>
          <a:bodyPr/>
          <a:p/>
        </p:txBody>
      </p:sp>
      <p:sp>
        <p:nvSpPr>
          <p:cNvPr id="25" name="Text 22"/>
          <p:cNvSpPr/>
          <p:nvPr/>
        </p:nvSpPr>
        <p:spPr>
          <a:xfrm>
            <a:off x="7818120" y="3282696"/>
            <a:ext cx="1417320" cy="182880"/>
          </a:xfrm>
          <a:prstGeom prst="rect">
            <a:avLst/>
          </a:prstGeom>
          <a:noFill/>
          <a:ln/>
        </p:spPr>
        <p:txBody>
          <a:bodyPr wrap="square" lIns="0" tIns="0" rIns="0" bIns="0" rtlCol="0" anchor="ctr">
            <a:normAutofit/>
          </a:bodyPr>
          <a:lstStyle/>
          <a:p>
            <a:pPr algn="ctr" indent="0" marL="0">
              <a:buNone/>
            </a:pPr>
            <a:r>
              <a:rPr lang="en-US" sz="1320" b="1" dirty="0">
                <a:solidFill>
                  <a:srgbClr val="12161C"/>
                </a:solidFill>
              </a:rPr>
              <a:t>Armazenamento</a:t>
            </a:r>
            <a:endParaRPr lang="en-US" sz="1320" dirty="0"/>
          </a:p>
        </p:txBody>
      </p:sp>
      <p:sp>
        <p:nvSpPr>
          <p:cNvPr id="26" name="Text 23"/>
          <p:cNvSpPr/>
          <p:nvPr/>
        </p:nvSpPr>
        <p:spPr>
          <a:xfrm>
            <a:off x="3520440" y="4892040"/>
            <a:ext cx="6217920" cy="502920"/>
          </a:xfrm>
          <a:prstGeom prst="rect">
            <a:avLst/>
          </a:prstGeom>
          <a:noFill/>
          <a:ln/>
        </p:spPr>
        <p:txBody>
          <a:bodyPr wrap="square" lIns="0" tIns="0" rIns="0" bIns="0" rtlCol="0" anchor="ctr">
            <a:normAutofit/>
          </a:bodyPr>
          <a:lstStyle/>
          <a:p>
            <a:pPr algn="ctr" indent="0" marL="0">
              <a:buNone/>
            </a:pPr>
            <a:r>
              <a:rPr lang="en-US" sz="1350" dirty="0">
                <a:solidFill>
                  <a:srgbClr val="5A6472"/>
                </a:solidFill>
              </a:rPr>
              <a:t>Esses recursos existem também em alguns contextos web, mas no app instalado a integração costuma ser mais direta e controlada pela plataforma.</a:t>
            </a:r>
            <a:endParaRPr lang="en-US" sz="1350" dirty="0"/>
          </a:p>
        </p:txBody>
      </p:sp>
      <p:sp>
        <p:nvSpPr>
          <p:cNvPr id="28" name="Shape 24"/>
          <p:cNvSpPr/>
          <p:nvPr/>
        </p:nvSpPr>
        <p:spPr>
          <a:xfrm>
            <a:off x="621792" y="6455664"/>
            <a:ext cx="11018520" cy="0"/>
          </a:xfrm>
          <a:prstGeom prst="line">
            <a:avLst/>
          </a:prstGeom>
          <a:noFill/>
          <a:ln w="12700">
            <a:solidFill>
              <a:srgbClr val="E7E4DE"/>
            </a:solidFill>
            <a:prstDash val="solid"/>
          </a:ln>
        </p:spPr>
        <p:txBody>
          <a:bodyPr/>
          <a:p/>
        </p:txBody>
      </p:sp>
      <p:sp>
        <p:nvSpPr>
          <p:cNvPr id="29" name="Text 25"/>
          <p:cNvSpPr/>
          <p:nvPr/>
        </p:nvSpPr>
        <p:spPr>
          <a:xfrm>
            <a:off x="621792" y="6537960"/>
            <a:ext cx="2194560" cy="182880"/>
          </a:xfrm>
          <a:prstGeom prst="rect">
            <a:avLst/>
          </a:prstGeom>
          <a:noFill/>
          <a:ln/>
        </p:spPr>
        <p:txBody>
          <a:bodyPr wrap="square" lIns="0" tIns="0" rIns="0" bIns="0" rtlCol="0" anchor="ctr"/>
          <a:lstStyle/>
          <a:p>
            <a:pPr indent="0" marL="0">
              <a:buNone/>
            </a:pPr>
            <a:r>
              <a:rPr lang="en-US" sz="850" dirty="0">
                <a:solidFill>
                  <a:srgbClr val="5A6472"/>
                </a:solidFill>
              </a:rPr>
              <a:t>Emanuel Nascente</a:t>
            </a:r>
            <a:endParaRPr lang="en-US" sz="850" dirty="0"/>
          </a:p>
        </p:txBody>
      </p:sp>
      <p:sp>
        <p:nvSpPr>
          <p:cNvPr id="30" name="Text 26"/>
          <p:cNvSpPr/>
          <p:nvPr/>
        </p:nvSpPr>
        <p:spPr>
          <a:xfrm>
            <a:off x="11064240" y="6519672"/>
            <a:ext cx="548640" cy="228600"/>
          </a:xfrm>
          <a:prstGeom prst="rect">
            <a:avLst/>
          </a:prstGeom>
          <a:noFill/>
          <a:ln/>
        </p:spPr>
        <p:txBody>
          <a:bodyPr wrap="square" lIns="0" tIns="0" rIns="0" bIns="0" rtlCol="0" anchor="ctr"/>
          <a:lstStyle/>
          <a:p>
            <a:pPr algn="r" indent="0" marL="0">
              <a:buNone/>
            </a:pPr>
            <a:r>
              <a:rPr sz="850" b="1">
                <a:solidFill>
                  <a:srgbClr val="5A6472"/>
                </a:solidFill>
              </a:rPr>
              <a:t>09</a:t>
            </a:r>
            <a:endParaRPr lang="en-US" sz="850" dirty="0"/>
          </a:p>
        </p:txBody>
      </p:sp>
      <p:sp>
        <p:nvSpPr>
          <p:cNvPr id="31" name="Rounded Rectangle 30"/>
          <p:cNvSpPr/>
          <p:nvPr/>
        </p:nvSpPr>
        <p:spPr>
          <a:xfrm>
            <a:off x="1084456" y="2093976"/>
            <a:ext cx="1168647" cy="2395728"/>
          </a:xfrm>
          <a:prstGeom prst="roundRect">
            <a:avLst>
              <a:gd name="adj" fmla="val 14000"/>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142888" y="2152408"/>
            <a:ext cx="1051783" cy="2278864"/>
          </a:xfrm>
          <a:prstGeom prst="roundRect">
            <a:avLst>
              <a:gd name="adj" fmla="val 11000"/>
            </a:avLst>
          </a:prstGeom>
          <a:solidFill>
            <a:srgbClr val="202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493482" y="2188984"/>
            <a:ext cx="350594" cy="64008"/>
          </a:xfrm>
          <a:prstGeom prst="roundRect">
            <a:avLst>
              <a:gd name="adj" fmla="val 50000"/>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android.png"/>
          <p:cNvPicPr>
            <a:picLocks noChangeAspect="1"/>
          </p:cNvPicPr>
          <p:nvPr/>
        </p:nvPicPr>
        <p:blipFill>
          <a:blip r:embed="rId4"/>
          <a:stretch>
            <a:fillRect/>
          </a:stretch>
        </p:blipFill>
        <p:spPr>
          <a:xfrm>
            <a:off x="1394459" y="2764779"/>
            <a:ext cx="548640" cy="548640"/>
          </a:xfrm>
          <a:prstGeom prst="rect">
            <a:avLst/>
          </a:prstGeom>
        </p:spPr>
      </p:pic>
      <p:sp>
        <p:nvSpPr>
          <p:cNvPr id="35" name="TextBox 34"/>
          <p:cNvSpPr txBox="1"/>
          <p:nvPr/>
        </p:nvSpPr>
        <p:spPr>
          <a:xfrm>
            <a:off x="993016" y="3459540"/>
            <a:ext cx="1351527" cy="219456"/>
          </a:xfrm>
          <a:prstGeom prst="rect">
            <a:avLst/>
          </a:prstGeom>
          <a:noFill/>
        </p:spPr>
        <p:txBody>
          <a:bodyPr wrap="none">
            <a:spAutoFit/>
          </a:bodyPr>
          <a:lstStyle/>
          <a:p>
            <a:pPr algn="ctr"/>
            <a:r>
              <a:rPr sz="1000" b="1">
                <a:solidFill>
                  <a:srgbClr val="FFFFFF"/>
                </a:solidFill>
                <a:latin typeface="Aptos"/>
              </a:rPr>
              <a:t>APP</a:t>
            </a:r>
          </a:p>
        </p:txBody>
      </p:sp>
      <p:sp>
        <p:nvSpPr>
          <p:cNvPr id="36" name="TextBox 35"/>
          <p:cNvSpPr txBox="1"/>
          <p:nvPr/>
        </p:nvSpPr>
        <p:spPr>
          <a:xfrm>
            <a:off x="993016" y="3770985"/>
            <a:ext cx="1351527" cy="182880"/>
          </a:xfrm>
          <a:prstGeom prst="rect">
            <a:avLst/>
          </a:prstGeom>
          <a:noFill/>
        </p:spPr>
        <p:txBody>
          <a:bodyPr wrap="none">
            <a:spAutoFit/>
          </a:bodyPr>
          <a:lstStyle/>
          <a:p>
            <a:pPr algn="ctr"/>
            <a:r>
              <a:rPr sz="750">
                <a:solidFill>
                  <a:srgbClr val="9AA4B2"/>
                </a:solidFill>
                <a:latin typeface="Cascadia Mono"/>
              </a:rPr>
              <a:t>Android / iOS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D71920"/>
          </a:solidFill>
          <a:ln w="12700">
            <a:solidFill>
              <a:srgbClr val="D71920"/>
            </a:solidFill>
            <a:prstDash val="solid"/>
          </a:ln>
        </p:spPr>
        <p:txBody>
          <a:bodyPr/>
          <a:p/>
        </p:txBody>
      </p:sp>
      <p:sp>
        <p:nvSpPr>
          <p:cNvPr id="3" name="Shape 1"/>
          <p:cNvSpPr/>
          <p:nvPr/>
        </p:nvSpPr>
        <p:spPr>
          <a:xfrm>
            <a:off x="164592" y="0"/>
            <a:ext cx="54864" cy="6858000"/>
          </a:xfrm>
          <a:prstGeom prst="rect">
            <a:avLst/>
          </a:prstGeom>
          <a:solidFill>
            <a:srgbClr val="FFD322"/>
          </a:solidFill>
          <a:ln w="12700">
            <a:solidFill>
              <a:srgbClr val="FFD322"/>
            </a:solidFill>
            <a:prstDash val="solid"/>
          </a:ln>
        </p:spPr>
        <p:txBody>
          <a:bodyPr/>
          <a:p/>
        </p:txBody>
      </p:sp>
      <p:sp>
        <p:nvSpPr>
          <p:cNvPr id="4" name="Text 2"/>
          <p:cNvSpPr/>
          <p:nvPr/>
        </p:nvSpPr>
        <p:spPr>
          <a:xfrm>
            <a:off x="438912" y="210312"/>
            <a:ext cx="2103120" cy="256032"/>
          </a:xfrm>
          <a:prstGeom prst="rect">
            <a:avLst/>
          </a:prstGeom>
          <a:noFill/>
          <a:ln/>
        </p:spPr>
        <p:txBody>
          <a:bodyPr wrap="square" lIns="0" tIns="0" rIns="0" bIns="0" rtlCol="0" anchor="ctr"/>
          <a:lstStyle/>
          <a:p>
            <a:pPr indent="0" marL="0">
              <a:buNone/>
            </a:pPr>
            <a:r>
              <a:rPr lang="en-US" sz="950" b="1" dirty="0">
                <a:solidFill>
                  <a:srgbClr val="D71920"/>
                </a:solidFill>
                <a:latin typeface="Aptos" pitchFamily="34" charset="0"/>
                <a:ea typeface="Aptos" pitchFamily="34" charset="-122"/>
                <a:cs typeface="Aptos" pitchFamily="34" charset="-120"/>
              </a:rPr>
              <a:t>Aula 01</a:t>
            </a:r>
            <a:endParaRPr lang="en-US" sz="950" dirty="0"/>
          </a:p>
        </p:txBody>
      </p:sp>
      <p:sp>
        <p:nvSpPr>
          <p:cNvPr id="5" name="Text 3"/>
          <p:cNvSpPr/>
          <p:nvPr/>
        </p:nvSpPr>
        <p:spPr>
          <a:xfrm>
            <a:off x="2788920" y="210312"/>
            <a:ext cx="2743200" cy="256032"/>
          </a:xfrm>
          <a:prstGeom prst="rect">
            <a:avLst/>
          </a:prstGeom>
          <a:noFill/>
          <a:ln/>
        </p:spPr>
        <p:txBody>
          <a:bodyPr wrap="square" lIns="0" tIns="0" rIns="0" bIns="0" rtlCol="0" anchor="ctr"/>
          <a:lstStyle/>
          <a:p>
            <a:pPr indent="0" marL="0">
              <a:buNone/>
            </a:pPr>
            <a:r>
              <a:rPr lang="en-US" sz="950" dirty="0">
                <a:solidFill>
                  <a:srgbClr val="5A6472"/>
                </a:solidFill>
              </a:rPr>
              <a:t>Desenvolvimento Mobile</a:t>
            </a:r>
            <a:endParaRPr lang="en-US" sz="950" dirty="0"/>
          </a:p>
        </p:txBody>
      </p:sp>
      <p:pic>
        <p:nvPicPr>
          <p:cNvPr id="6" name="Image 0" descr="/mnt/data/logo_mesquita_stylized.png">    </p:cNvPr>
          <p:cNvPicPr>
            <a:picLocks noChangeAspect="1"/>
          </p:cNvPicPr>
          <p:nvPr/>
        </p:nvPicPr>
        <p:blipFill>
          <a:blip r:embed="rId1"/>
          <a:stretch>
            <a:fillRect/>
          </a:stretch>
        </p:blipFill>
        <p:spPr>
          <a:xfrm>
            <a:off x="10744200" y="128016"/>
            <a:ext cx="987552" cy="685800"/>
          </a:xfrm>
          <a:prstGeom prst="rect">
            <a:avLst/>
          </a:prstGeom>
        </p:spPr>
      </p:pic>
      <p:sp>
        <p:nvSpPr>
          <p:cNvPr id="7" name="Text 4"/>
          <p:cNvSpPr/>
          <p:nvPr/>
        </p:nvSpPr>
        <p:spPr>
          <a:xfrm>
            <a:off x="502920" y="749808"/>
            <a:ext cx="8503920" cy="530352"/>
          </a:xfrm>
          <a:prstGeom prst="rect">
            <a:avLst/>
          </a:prstGeom>
          <a:noFill/>
          <a:ln/>
        </p:spPr>
        <p:txBody>
          <a:bodyPr wrap="square" lIns="0" tIns="0" rIns="0" bIns="0" rtlCol="0" anchor="ctr">
            <a:normAutofit/>
          </a:bodyPr>
          <a:lstStyle/>
          <a:p>
            <a:pPr indent="0" marL="0">
              <a:buNone/>
            </a:pPr>
            <a:r>
              <a:rPr lang="en-US" sz="3000" b="1" dirty="0">
                <a:solidFill>
                  <a:srgbClr val="12161C"/>
                </a:solidFill>
                <a:latin typeface="Aptos Display" pitchFamily="34" charset="0"/>
                <a:ea typeface="Aptos Display" pitchFamily="34" charset="-122"/>
                <a:cs typeface="Aptos Display" pitchFamily="34" charset="-120"/>
              </a:rPr>
              <a:t>Aplicativo nativo</a:t>
            </a:r>
            <a:endParaRPr lang="en-US" sz="3000" dirty="0"/>
          </a:p>
        </p:txBody>
      </p:sp>
      <p:sp>
        <p:nvSpPr>
          <p:cNvPr id="8" name="Text 5"/>
          <p:cNvSpPr/>
          <p:nvPr/>
        </p:nvSpPr>
        <p:spPr>
          <a:xfrm>
            <a:off x="530352" y="1325880"/>
            <a:ext cx="7589520" cy="320040"/>
          </a:xfrm>
          <a:prstGeom prst="rect">
            <a:avLst/>
          </a:prstGeom>
          <a:noFill/>
          <a:ln/>
        </p:spPr>
        <p:txBody>
          <a:bodyPr wrap="square" lIns="0" tIns="0" rIns="0" bIns="0" rtlCol="0" anchor="ctr"/>
          <a:lstStyle/>
          <a:p>
            <a:pPr indent="0" marL="0">
              <a:buNone/>
            </a:pPr>
            <a:r>
              <a:rPr lang="en-US" sz="1350" dirty="0">
                <a:solidFill>
                  <a:srgbClr val="5A6472"/>
                </a:solidFill>
              </a:rPr>
              <a:t>Construído para uma plataforma específica.</a:t>
            </a:r>
            <a:endParaRPr lang="en-US" sz="1350" dirty="0"/>
          </a:p>
        </p:txBody>
      </p:sp>
      <p:sp>
        <p:nvSpPr>
          <p:cNvPr id="9" name="Shape 6"/>
          <p:cNvSpPr/>
          <p:nvPr/>
        </p:nvSpPr>
        <p:spPr>
          <a:xfrm>
            <a:off x="914400" y="1920240"/>
            <a:ext cx="4343400" cy="2697480"/>
          </a:xfrm>
          <a:prstGeom prst="roundRect">
            <a:avLst>
              <a:gd name="adj" fmla="val 5424"/>
            </a:avLst>
          </a:prstGeom>
          <a:solidFill>
            <a:srgbClr val="FFF5F5"/>
          </a:solidFill>
          <a:ln w="12700">
            <a:solidFill>
              <a:srgbClr val="F2BBBB"/>
            </a:solidFill>
            <a:prstDash val="solid"/>
          </a:ln>
        </p:spPr>
        <p:txBody>
          <a:bodyPr/>
          <a:p/>
        </p:txBody>
      </p:sp>
      <p:sp>
        <p:nvSpPr>
          <p:cNvPr id="15" name="Text 12"/>
          <p:cNvSpPr/>
          <p:nvPr/>
        </p:nvSpPr>
        <p:spPr>
          <a:xfrm>
            <a:off x="2834640" y="2331720"/>
            <a:ext cx="1874520" cy="292608"/>
          </a:xfrm>
          <a:prstGeom prst="rect">
            <a:avLst/>
          </a:prstGeom>
          <a:noFill/>
          <a:ln/>
        </p:spPr>
        <p:txBody>
          <a:bodyPr wrap="square" lIns="0" tIns="0" rIns="0" bIns="0" rtlCol="0" anchor="ctr"/>
          <a:lstStyle/>
          <a:p>
            <a:pPr indent="0" marL="0">
              <a:buNone/>
            </a:pPr>
            <a:r>
              <a:rPr lang="en-US" sz="2000" b="1" dirty="0">
                <a:solidFill>
                  <a:srgbClr val="D71920"/>
                </a:solidFill>
              </a:rPr>
              <a:t>Android nativo</a:t>
            </a:r>
            <a:endParaRPr lang="en-US" sz="2000" dirty="0"/>
          </a:p>
        </p:txBody>
      </p:sp>
      <p:sp>
        <p:nvSpPr>
          <p:cNvPr id="16" name="Shape 13"/>
          <p:cNvSpPr/>
          <p:nvPr/>
        </p:nvSpPr>
        <p:spPr>
          <a:xfrm>
            <a:off x="2852928" y="2953512"/>
            <a:ext cx="91440" cy="91440"/>
          </a:xfrm>
          <a:prstGeom prst="ellipse">
            <a:avLst/>
          </a:prstGeom>
          <a:solidFill>
            <a:srgbClr val="D71920"/>
          </a:solidFill>
          <a:ln w="12700">
            <a:solidFill>
              <a:srgbClr val="D71920"/>
            </a:solidFill>
            <a:prstDash val="solid"/>
          </a:ln>
        </p:spPr>
        <p:txBody>
          <a:bodyPr/>
          <a:p/>
        </p:txBody>
      </p:sp>
      <p:sp>
        <p:nvSpPr>
          <p:cNvPr id="17" name="Text 14"/>
          <p:cNvSpPr/>
          <p:nvPr/>
        </p:nvSpPr>
        <p:spPr>
          <a:xfrm>
            <a:off x="3054096" y="2880360"/>
            <a:ext cx="2011680" cy="292608"/>
          </a:xfrm>
          <a:prstGeom prst="rect">
            <a:avLst/>
          </a:prstGeom>
          <a:noFill/>
          <a:ln/>
        </p:spPr>
        <p:txBody>
          <a:bodyPr wrap="square" lIns="0" tIns="0" rIns="0" bIns="0" rtlCol="0" anchor="ctr">
            <a:normAutofit/>
          </a:bodyPr>
          <a:lstStyle/>
          <a:p>
            <a:pPr indent="0" marL="0">
              <a:buNone/>
            </a:pPr>
            <a:r>
              <a:rPr lang="en-US" sz="1280" dirty="0">
                <a:solidFill>
                  <a:srgbClr val="12161C"/>
                </a:solidFill>
              </a:rPr>
              <a:t>Kotlin ou Java</a:t>
            </a:r>
            <a:endParaRPr lang="en-US" sz="1280" dirty="0"/>
          </a:p>
        </p:txBody>
      </p:sp>
      <p:sp>
        <p:nvSpPr>
          <p:cNvPr id="18" name="Shape 15"/>
          <p:cNvSpPr/>
          <p:nvPr/>
        </p:nvSpPr>
        <p:spPr>
          <a:xfrm>
            <a:off x="2852928" y="3319272"/>
            <a:ext cx="91440" cy="91440"/>
          </a:xfrm>
          <a:prstGeom prst="ellipse">
            <a:avLst/>
          </a:prstGeom>
          <a:solidFill>
            <a:srgbClr val="D71920"/>
          </a:solidFill>
          <a:ln w="12700">
            <a:solidFill>
              <a:srgbClr val="D71920"/>
            </a:solidFill>
            <a:prstDash val="solid"/>
          </a:ln>
        </p:spPr>
        <p:txBody>
          <a:bodyPr/>
          <a:p/>
        </p:txBody>
      </p:sp>
      <p:sp>
        <p:nvSpPr>
          <p:cNvPr id="19" name="Text 16"/>
          <p:cNvSpPr/>
          <p:nvPr/>
        </p:nvSpPr>
        <p:spPr>
          <a:xfrm>
            <a:off x="3054096" y="3246120"/>
            <a:ext cx="2011680" cy="292608"/>
          </a:xfrm>
          <a:prstGeom prst="rect">
            <a:avLst/>
          </a:prstGeom>
          <a:noFill/>
          <a:ln/>
        </p:spPr>
        <p:txBody>
          <a:bodyPr wrap="square" lIns="0" tIns="0" rIns="0" bIns="0" rtlCol="0" anchor="ctr">
            <a:normAutofit/>
          </a:bodyPr>
          <a:lstStyle/>
          <a:p>
            <a:pPr indent="0" marL="0">
              <a:buNone/>
            </a:pPr>
            <a:r>
              <a:rPr lang="en-US" sz="1280" dirty="0">
                <a:solidFill>
                  <a:srgbClr val="12161C"/>
                </a:solidFill>
              </a:rPr>
              <a:t>Android Studio</a:t>
            </a:r>
            <a:endParaRPr lang="en-US" sz="1280" dirty="0"/>
          </a:p>
        </p:txBody>
      </p:sp>
      <p:sp>
        <p:nvSpPr>
          <p:cNvPr id="20" name="Shape 17"/>
          <p:cNvSpPr/>
          <p:nvPr/>
        </p:nvSpPr>
        <p:spPr>
          <a:xfrm>
            <a:off x="2852928" y="3685032"/>
            <a:ext cx="91440" cy="91440"/>
          </a:xfrm>
          <a:prstGeom prst="ellipse">
            <a:avLst/>
          </a:prstGeom>
          <a:solidFill>
            <a:srgbClr val="D71920"/>
          </a:solidFill>
          <a:ln w="12700">
            <a:solidFill>
              <a:srgbClr val="D71920"/>
            </a:solidFill>
            <a:prstDash val="solid"/>
          </a:ln>
        </p:spPr>
        <p:txBody>
          <a:bodyPr/>
          <a:p/>
        </p:txBody>
      </p:sp>
      <p:sp>
        <p:nvSpPr>
          <p:cNvPr id="21" name="Text 18"/>
          <p:cNvSpPr/>
          <p:nvPr/>
        </p:nvSpPr>
        <p:spPr>
          <a:xfrm>
            <a:off x="3054096" y="3611880"/>
            <a:ext cx="2011680" cy="292608"/>
          </a:xfrm>
          <a:prstGeom prst="rect">
            <a:avLst/>
          </a:prstGeom>
          <a:noFill/>
          <a:ln/>
        </p:spPr>
        <p:txBody>
          <a:bodyPr wrap="square" lIns="0" tIns="0" rIns="0" bIns="0" rtlCol="0" anchor="ctr">
            <a:normAutofit/>
          </a:bodyPr>
          <a:lstStyle/>
          <a:p>
            <a:pPr indent="0" marL="0">
              <a:buNone/>
            </a:pPr>
            <a:r>
              <a:rPr lang="en-US" sz="1280" dirty="0">
                <a:solidFill>
                  <a:srgbClr val="12161C"/>
                </a:solidFill>
              </a:rPr>
              <a:t>Integração direta com Android</a:t>
            </a:r>
            <a:endParaRPr lang="en-US" sz="1280" dirty="0"/>
          </a:p>
        </p:txBody>
      </p:sp>
      <p:sp>
        <p:nvSpPr>
          <p:cNvPr id="22" name="Shape 19"/>
          <p:cNvSpPr/>
          <p:nvPr/>
        </p:nvSpPr>
        <p:spPr>
          <a:xfrm>
            <a:off x="6766560" y="1920240"/>
            <a:ext cx="4343400" cy="2697480"/>
          </a:xfrm>
          <a:prstGeom prst="roundRect">
            <a:avLst>
              <a:gd name="adj" fmla="val 5424"/>
            </a:avLst>
          </a:prstGeom>
          <a:solidFill>
            <a:srgbClr val="F5F5F5"/>
          </a:solidFill>
          <a:ln w="12700">
            <a:solidFill>
              <a:srgbClr val="E7E4DE"/>
            </a:solidFill>
            <a:prstDash val="solid"/>
          </a:ln>
        </p:spPr>
        <p:txBody>
          <a:bodyPr/>
          <a:p/>
        </p:txBody>
      </p:sp>
      <p:sp>
        <p:nvSpPr>
          <p:cNvPr id="28" name="Text 25"/>
          <p:cNvSpPr/>
          <p:nvPr/>
        </p:nvSpPr>
        <p:spPr>
          <a:xfrm>
            <a:off x="8686800" y="2331720"/>
            <a:ext cx="1737360" cy="292608"/>
          </a:xfrm>
          <a:prstGeom prst="rect">
            <a:avLst/>
          </a:prstGeom>
          <a:noFill/>
          <a:ln/>
        </p:spPr>
        <p:txBody>
          <a:bodyPr wrap="square" lIns="0" tIns="0" rIns="0" bIns="0" rtlCol="0" anchor="ctr"/>
          <a:lstStyle/>
          <a:p>
            <a:pPr indent="0" marL="0">
              <a:buNone/>
            </a:pPr>
            <a:r>
              <a:rPr lang="en-US" sz="2000" b="1" dirty="0">
                <a:solidFill>
                  <a:srgbClr val="12161C"/>
                </a:solidFill>
              </a:rPr>
              <a:t>iOS nativo</a:t>
            </a:r>
            <a:endParaRPr lang="en-US" sz="2000" dirty="0"/>
          </a:p>
        </p:txBody>
      </p:sp>
      <p:sp>
        <p:nvSpPr>
          <p:cNvPr id="29" name="Shape 26"/>
          <p:cNvSpPr/>
          <p:nvPr/>
        </p:nvSpPr>
        <p:spPr>
          <a:xfrm>
            <a:off x="8705088" y="2953512"/>
            <a:ext cx="91440" cy="91440"/>
          </a:xfrm>
          <a:prstGeom prst="ellipse">
            <a:avLst/>
          </a:prstGeom>
          <a:solidFill>
            <a:srgbClr val="D71920"/>
          </a:solidFill>
          <a:ln w="12700">
            <a:solidFill>
              <a:srgbClr val="D71920"/>
            </a:solidFill>
            <a:prstDash val="solid"/>
          </a:ln>
        </p:spPr>
        <p:txBody>
          <a:bodyPr/>
          <a:p/>
        </p:txBody>
      </p:sp>
      <p:sp>
        <p:nvSpPr>
          <p:cNvPr id="30" name="Text 27"/>
          <p:cNvSpPr/>
          <p:nvPr/>
        </p:nvSpPr>
        <p:spPr>
          <a:xfrm>
            <a:off x="8906256" y="2880360"/>
            <a:ext cx="1828800" cy="292608"/>
          </a:xfrm>
          <a:prstGeom prst="rect">
            <a:avLst/>
          </a:prstGeom>
          <a:noFill/>
          <a:ln/>
        </p:spPr>
        <p:txBody>
          <a:bodyPr wrap="square" lIns="0" tIns="0" rIns="0" bIns="0" rtlCol="0" anchor="ctr">
            <a:normAutofit/>
          </a:bodyPr>
          <a:lstStyle/>
          <a:p>
            <a:pPr indent="0" marL="0">
              <a:buNone/>
            </a:pPr>
            <a:r>
              <a:rPr lang="en-US" sz="1280" dirty="0">
                <a:solidFill>
                  <a:srgbClr val="12161C"/>
                </a:solidFill>
              </a:rPr>
              <a:t>Swift</a:t>
            </a:r>
            <a:endParaRPr lang="en-US" sz="1280" dirty="0"/>
          </a:p>
        </p:txBody>
      </p:sp>
      <p:sp>
        <p:nvSpPr>
          <p:cNvPr id="31" name="Shape 28"/>
          <p:cNvSpPr/>
          <p:nvPr/>
        </p:nvSpPr>
        <p:spPr>
          <a:xfrm>
            <a:off x="8705088" y="3319272"/>
            <a:ext cx="91440" cy="91440"/>
          </a:xfrm>
          <a:prstGeom prst="ellipse">
            <a:avLst/>
          </a:prstGeom>
          <a:solidFill>
            <a:srgbClr val="D71920"/>
          </a:solidFill>
          <a:ln w="12700">
            <a:solidFill>
              <a:srgbClr val="D71920"/>
            </a:solidFill>
            <a:prstDash val="solid"/>
          </a:ln>
        </p:spPr>
        <p:txBody>
          <a:bodyPr/>
          <a:p/>
        </p:txBody>
      </p:sp>
      <p:sp>
        <p:nvSpPr>
          <p:cNvPr id="32" name="Text 29"/>
          <p:cNvSpPr/>
          <p:nvPr/>
        </p:nvSpPr>
        <p:spPr>
          <a:xfrm>
            <a:off x="8906256" y="3246120"/>
            <a:ext cx="1828800" cy="292608"/>
          </a:xfrm>
          <a:prstGeom prst="rect">
            <a:avLst/>
          </a:prstGeom>
          <a:noFill/>
          <a:ln/>
        </p:spPr>
        <p:txBody>
          <a:bodyPr wrap="square" lIns="0" tIns="0" rIns="0" bIns="0" rtlCol="0" anchor="ctr">
            <a:normAutofit/>
          </a:bodyPr>
          <a:lstStyle/>
          <a:p>
            <a:pPr indent="0" marL="0">
              <a:buNone/>
            </a:pPr>
            <a:r>
              <a:rPr lang="en-US" sz="1280" dirty="0">
                <a:solidFill>
                  <a:srgbClr val="12161C"/>
                </a:solidFill>
              </a:rPr>
              <a:t>Xcode</a:t>
            </a:r>
            <a:endParaRPr lang="en-US" sz="1280" dirty="0"/>
          </a:p>
        </p:txBody>
      </p:sp>
      <p:sp>
        <p:nvSpPr>
          <p:cNvPr id="33" name="Shape 30"/>
          <p:cNvSpPr/>
          <p:nvPr/>
        </p:nvSpPr>
        <p:spPr>
          <a:xfrm>
            <a:off x="8705088" y="3685032"/>
            <a:ext cx="91440" cy="91440"/>
          </a:xfrm>
          <a:prstGeom prst="ellipse">
            <a:avLst/>
          </a:prstGeom>
          <a:solidFill>
            <a:srgbClr val="D71920"/>
          </a:solidFill>
          <a:ln w="12700">
            <a:solidFill>
              <a:srgbClr val="D71920"/>
            </a:solidFill>
            <a:prstDash val="solid"/>
          </a:ln>
        </p:spPr>
        <p:txBody>
          <a:bodyPr/>
          <a:p/>
        </p:txBody>
      </p:sp>
      <p:sp>
        <p:nvSpPr>
          <p:cNvPr id="34" name="Text 31"/>
          <p:cNvSpPr/>
          <p:nvPr/>
        </p:nvSpPr>
        <p:spPr>
          <a:xfrm>
            <a:off x="8906256" y="3611880"/>
            <a:ext cx="1828800" cy="292608"/>
          </a:xfrm>
          <a:prstGeom prst="rect">
            <a:avLst/>
          </a:prstGeom>
          <a:noFill/>
          <a:ln/>
        </p:spPr>
        <p:txBody>
          <a:bodyPr wrap="square" lIns="0" tIns="0" rIns="0" bIns="0" rtlCol="0" anchor="ctr">
            <a:normAutofit/>
          </a:bodyPr>
          <a:lstStyle/>
          <a:p>
            <a:pPr indent="0" marL="0">
              <a:buNone/>
            </a:pPr>
            <a:r>
              <a:rPr lang="en-US" sz="1280" dirty="0">
                <a:solidFill>
                  <a:srgbClr val="12161C"/>
                </a:solidFill>
              </a:rPr>
              <a:t>Integração direta com iOS</a:t>
            </a:r>
            <a:endParaRPr lang="en-US" sz="1280" dirty="0"/>
          </a:p>
        </p:txBody>
      </p:sp>
      <p:sp>
        <p:nvSpPr>
          <p:cNvPr id="36" name="Shape 32"/>
          <p:cNvSpPr/>
          <p:nvPr/>
        </p:nvSpPr>
        <p:spPr>
          <a:xfrm>
            <a:off x="621792" y="6455664"/>
            <a:ext cx="11018520" cy="0"/>
          </a:xfrm>
          <a:prstGeom prst="line">
            <a:avLst/>
          </a:prstGeom>
          <a:noFill/>
          <a:ln w="12700">
            <a:solidFill>
              <a:srgbClr val="E7E4DE"/>
            </a:solidFill>
            <a:prstDash val="solid"/>
          </a:ln>
        </p:spPr>
        <p:txBody>
          <a:bodyPr/>
          <a:p/>
        </p:txBody>
      </p:sp>
      <p:sp>
        <p:nvSpPr>
          <p:cNvPr id="37" name="Text 33"/>
          <p:cNvSpPr/>
          <p:nvPr/>
        </p:nvSpPr>
        <p:spPr>
          <a:xfrm>
            <a:off x="621792" y="6537960"/>
            <a:ext cx="2194560" cy="182880"/>
          </a:xfrm>
          <a:prstGeom prst="rect">
            <a:avLst/>
          </a:prstGeom>
          <a:noFill/>
          <a:ln/>
        </p:spPr>
        <p:txBody>
          <a:bodyPr wrap="square" lIns="0" tIns="0" rIns="0" bIns="0" rtlCol="0" anchor="ctr"/>
          <a:lstStyle/>
          <a:p>
            <a:pPr indent="0" marL="0">
              <a:buNone/>
            </a:pPr>
            <a:r>
              <a:rPr lang="en-US" sz="850" dirty="0">
                <a:solidFill>
                  <a:srgbClr val="5A6472"/>
                </a:solidFill>
              </a:rPr>
              <a:t>Emanuel Nascente</a:t>
            </a:r>
            <a:endParaRPr lang="en-US" sz="850" dirty="0"/>
          </a:p>
        </p:txBody>
      </p:sp>
      <p:sp>
        <p:nvSpPr>
          <p:cNvPr id="38" name="Text 34"/>
          <p:cNvSpPr/>
          <p:nvPr/>
        </p:nvSpPr>
        <p:spPr>
          <a:xfrm>
            <a:off x="11064240" y="6519672"/>
            <a:ext cx="548640" cy="228600"/>
          </a:xfrm>
          <a:prstGeom prst="rect">
            <a:avLst/>
          </a:prstGeom>
          <a:noFill/>
          <a:ln/>
        </p:spPr>
        <p:txBody>
          <a:bodyPr wrap="square" lIns="0" tIns="0" rIns="0" bIns="0" rtlCol="0" anchor="ctr"/>
          <a:lstStyle/>
          <a:p>
            <a:pPr algn="r" indent="0" marL="0">
              <a:buNone/>
            </a:pPr>
            <a:r>
              <a:rPr sz="850" b="1">
                <a:solidFill>
                  <a:srgbClr val="5A6472"/>
                </a:solidFill>
              </a:rPr>
              <a:t>10</a:t>
            </a:r>
            <a:endParaRPr lang="en-US" sz="850" dirty="0"/>
          </a:p>
        </p:txBody>
      </p:sp>
      <p:sp>
        <p:nvSpPr>
          <p:cNvPr id="39" name="Rounded Rectangle 38"/>
          <p:cNvSpPr/>
          <p:nvPr/>
        </p:nvSpPr>
        <p:spPr>
          <a:xfrm>
            <a:off x="1554480" y="2423160"/>
            <a:ext cx="914400" cy="1874520"/>
          </a:xfrm>
          <a:prstGeom prst="roundRect">
            <a:avLst>
              <a:gd name="adj" fmla="val 14000"/>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600200" y="2468880"/>
            <a:ext cx="822960" cy="1783080"/>
          </a:xfrm>
          <a:prstGeom prst="roundRect">
            <a:avLst>
              <a:gd name="adj" fmla="val 11000"/>
            </a:avLst>
          </a:prstGeom>
          <a:solidFill>
            <a:srgbClr val="202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1874520" y="2505456"/>
            <a:ext cx="274320" cy="64008"/>
          </a:xfrm>
          <a:prstGeom prst="roundRect">
            <a:avLst>
              <a:gd name="adj" fmla="val 50000"/>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android.png"/>
          <p:cNvPicPr>
            <a:picLocks noChangeAspect="1"/>
          </p:cNvPicPr>
          <p:nvPr/>
        </p:nvPicPr>
        <p:blipFill>
          <a:blip r:embed="rId4"/>
          <a:stretch>
            <a:fillRect/>
          </a:stretch>
        </p:blipFill>
        <p:spPr>
          <a:xfrm>
            <a:off x="1792224" y="2948025"/>
            <a:ext cx="438912" cy="438912"/>
          </a:xfrm>
          <a:prstGeom prst="rect">
            <a:avLst/>
          </a:prstGeom>
        </p:spPr>
      </p:pic>
      <p:sp>
        <p:nvSpPr>
          <p:cNvPr id="43" name="TextBox 42"/>
          <p:cNvSpPr txBox="1"/>
          <p:nvPr/>
        </p:nvSpPr>
        <p:spPr>
          <a:xfrm>
            <a:off x="1463040" y="3491636"/>
            <a:ext cx="1097280" cy="219456"/>
          </a:xfrm>
          <a:prstGeom prst="rect">
            <a:avLst/>
          </a:prstGeom>
          <a:noFill/>
        </p:spPr>
        <p:txBody>
          <a:bodyPr wrap="none">
            <a:spAutoFit/>
          </a:bodyPr>
          <a:lstStyle/>
          <a:p>
            <a:pPr algn="ctr"/>
            <a:r>
              <a:rPr sz="1000" b="1">
                <a:solidFill>
                  <a:srgbClr val="FFFFFF"/>
                </a:solidFill>
                <a:latin typeface="Aptos"/>
              </a:rPr>
              <a:t>Android</a:t>
            </a:r>
          </a:p>
        </p:txBody>
      </p:sp>
      <p:sp>
        <p:nvSpPr>
          <p:cNvPr id="44" name="TextBox 43"/>
          <p:cNvSpPr txBox="1"/>
          <p:nvPr/>
        </p:nvSpPr>
        <p:spPr>
          <a:xfrm>
            <a:off x="1463040" y="3735324"/>
            <a:ext cx="1097280" cy="182880"/>
          </a:xfrm>
          <a:prstGeom prst="rect">
            <a:avLst/>
          </a:prstGeom>
          <a:noFill/>
        </p:spPr>
        <p:txBody>
          <a:bodyPr wrap="none">
            <a:spAutoFit/>
          </a:bodyPr>
          <a:lstStyle/>
          <a:p>
            <a:pPr algn="ctr"/>
            <a:r>
              <a:rPr sz="750">
                <a:solidFill>
                  <a:srgbClr val="9AA4B2"/>
                </a:solidFill>
                <a:latin typeface="Cascadia Mono"/>
              </a:rPr>
              <a:t>Kotlin / Java</a:t>
            </a:r>
          </a:p>
        </p:txBody>
      </p:sp>
      <p:sp>
        <p:nvSpPr>
          <p:cNvPr id="45" name="Rounded Rectangle 44"/>
          <p:cNvSpPr/>
          <p:nvPr/>
        </p:nvSpPr>
        <p:spPr>
          <a:xfrm>
            <a:off x="7406640" y="2423160"/>
            <a:ext cx="914400" cy="1874520"/>
          </a:xfrm>
          <a:prstGeom prst="roundRect">
            <a:avLst>
              <a:gd name="adj" fmla="val 14000"/>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7452360" y="2468880"/>
            <a:ext cx="822960" cy="1783080"/>
          </a:xfrm>
          <a:prstGeom prst="roundRect">
            <a:avLst>
              <a:gd name="adj" fmla="val 11000"/>
            </a:avLst>
          </a:prstGeom>
          <a:solidFill>
            <a:srgbClr val="202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7726680" y="2505456"/>
            <a:ext cx="274320" cy="64008"/>
          </a:xfrm>
          <a:prstGeom prst="roundRect">
            <a:avLst>
              <a:gd name="adj" fmla="val 50000"/>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apple.png"/>
          <p:cNvPicPr>
            <a:picLocks noChangeAspect="1"/>
          </p:cNvPicPr>
          <p:nvPr/>
        </p:nvPicPr>
        <p:blipFill>
          <a:blip r:embed="rId5"/>
          <a:stretch>
            <a:fillRect/>
          </a:stretch>
        </p:blipFill>
        <p:spPr>
          <a:xfrm>
            <a:off x="7644384" y="2948025"/>
            <a:ext cx="438912" cy="438912"/>
          </a:xfrm>
          <a:prstGeom prst="rect">
            <a:avLst/>
          </a:prstGeom>
        </p:spPr>
      </p:pic>
      <p:sp>
        <p:nvSpPr>
          <p:cNvPr id="49" name="TextBox 48"/>
          <p:cNvSpPr txBox="1"/>
          <p:nvPr/>
        </p:nvSpPr>
        <p:spPr>
          <a:xfrm>
            <a:off x="7315200" y="3491636"/>
            <a:ext cx="1097280" cy="219456"/>
          </a:xfrm>
          <a:prstGeom prst="rect">
            <a:avLst/>
          </a:prstGeom>
          <a:noFill/>
        </p:spPr>
        <p:txBody>
          <a:bodyPr wrap="none">
            <a:spAutoFit/>
          </a:bodyPr>
          <a:lstStyle/>
          <a:p>
            <a:pPr algn="ctr"/>
            <a:r>
              <a:rPr sz="1000" b="1">
                <a:solidFill>
                  <a:srgbClr val="FFFFFF"/>
                </a:solidFill>
                <a:latin typeface="Aptos"/>
              </a:rPr>
              <a:t>iOS</a:t>
            </a:r>
          </a:p>
        </p:txBody>
      </p:sp>
      <p:sp>
        <p:nvSpPr>
          <p:cNvPr id="50" name="TextBox 49"/>
          <p:cNvSpPr txBox="1"/>
          <p:nvPr/>
        </p:nvSpPr>
        <p:spPr>
          <a:xfrm>
            <a:off x="7315200" y="3735324"/>
            <a:ext cx="1097280" cy="182880"/>
          </a:xfrm>
          <a:prstGeom prst="rect">
            <a:avLst/>
          </a:prstGeom>
          <a:noFill/>
        </p:spPr>
        <p:txBody>
          <a:bodyPr wrap="none">
            <a:spAutoFit/>
          </a:bodyPr>
          <a:lstStyle/>
          <a:p>
            <a:pPr algn="ctr"/>
            <a:r>
              <a:rPr sz="750">
                <a:solidFill>
                  <a:srgbClr val="9AA4B2"/>
                </a:solidFill>
                <a:latin typeface="Cascadia Mono"/>
              </a:rPr>
              <a:t>Swift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D71920"/>
          </a:solidFill>
          <a:ln w="12700">
            <a:solidFill>
              <a:srgbClr val="D71920"/>
            </a:solidFill>
            <a:prstDash val="solid"/>
          </a:ln>
        </p:spPr>
        <p:txBody>
          <a:bodyPr/>
          <a:p/>
        </p:txBody>
      </p:sp>
      <p:sp>
        <p:nvSpPr>
          <p:cNvPr id="3" name="Shape 1"/>
          <p:cNvSpPr/>
          <p:nvPr/>
        </p:nvSpPr>
        <p:spPr>
          <a:xfrm>
            <a:off x="164592" y="0"/>
            <a:ext cx="54864" cy="6858000"/>
          </a:xfrm>
          <a:prstGeom prst="rect">
            <a:avLst/>
          </a:prstGeom>
          <a:solidFill>
            <a:srgbClr val="FFD322"/>
          </a:solidFill>
          <a:ln w="12700">
            <a:solidFill>
              <a:srgbClr val="FFD322"/>
            </a:solidFill>
            <a:prstDash val="solid"/>
          </a:ln>
        </p:spPr>
        <p:txBody>
          <a:bodyPr/>
          <a:p/>
        </p:txBody>
      </p:sp>
      <p:sp>
        <p:nvSpPr>
          <p:cNvPr id="4" name="Text 2"/>
          <p:cNvSpPr/>
          <p:nvPr/>
        </p:nvSpPr>
        <p:spPr>
          <a:xfrm>
            <a:off x="438912" y="210312"/>
            <a:ext cx="2103120" cy="256032"/>
          </a:xfrm>
          <a:prstGeom prst="rect">
            <a:avLst/>
          </a:prstGeom>
          <a:noFill/>
          <a:ln/>
        </p:spPr>
        <p:txBody>
          <a:bodyPr wrap="square" lIns="0" tIns="0" rIns="0" bIns="0" rtlCol="0" anchor="ctr"/>
          <a:lstStyle/>
          <a:p>
            <a:pPr indent="0" marL="0">
              <a:buNone/>
            </a:pPr>
            <a:r>
              <a:rPr lang="en-US" sz="950" b="1" dirty="0">
                <a:solidFill>
                  <a:srgbClr val="D71920"/>
                </a:solidFill>
                <a:latin typeface="Aptos" pitchFamily="34" charset="0"/>
                <a:ea typeface="Aptos" pitchFamily="34" charset="-122"/>
                <a:cs typeface="Aptos" pitchFamily="34" charset="-120"/>
              </a:rPr>
              <a:t>Aula 01</a:t>
            </a:r>
            <a:endParaRPr lang="en-US" sz="950" dirty="0"/>
          </a:p>
        </p:txBody>
      </p:sp>
      <p:sp>
        <p:nvSpPr>
          <p:cNvPr id="5" name="Text 3"/>
          <p:cNvSpPr/>
          <p:nvPr/>
        </p:nvSpPr>
        <p:spPr>
          <a:xfrm>
            <a:off x="2788920" y="210312"/>
            <a:ext cx="2743200" cy="256032"/>
          </a:xfrm>
          <a:prstGeom prst="rect">
            <a:avLst/>
          </a:prstGeom>
          <a:noFill/>
          <a:ln/>
        </p:spPr>
        <p:txBody>
          <a:bodyPr wrap="square" lIns="0" tIns="0" rIns="0" bIns="0" rtlCol="0" anchor="ctr"/>
          <a:lstStyle/>
          <a:p>
            <a:pPr indent="0" marL="0">
              <a:buNone/>
            </a:pPr>
            <a:r>
              <a:rPr lang="en-US" sz="950" dirty="0">
                <a:solidFill>
                  <a:srgbClr val="5A6472"/>
                </a:solidFill>
              </a:rPr>
              <a:t>Desenvolvimento Mobile</a:t>
            </a:r>
            <a:endParaRPr lang="en-US" sz="950" dirty="0"/>
          </a:p>
        </p:txBody>
      </p:sp>
      <p:pic>
        <p:nvPicPr>
          <p:cNvPr id="6" name="Image 0" descr="/mnt/data/logo_mesquita_stylized.png">    </p:cNvPr>
          <p:cNvPicPr>
            <a:picLocks noChangeAspect="1"/>
          </p:cNvPicPr>
          <p:nvPr/>
        </p:nvPicPr>
        <p:blipFill>
          <a:blip r:embed="rId1"/>
          <a:stretch>
            <a:fillRect/>
          </a:stretch>
        </p:blipFill>
        <p:spPr>
          <a:xfrm>
            <a:off x="10744200" y="128016"/>
            <a:ext cx="987552" cy="685800"/>
          </a:xfrm>
          <a:prstGeom prst="rect">
            <a:avLst/>
          </a:prstGeom>
        </p:spPr>
      </p:pic>
      <p:sp>
        <p:nvSpPr>
          <p:cNvPr id="7" name="Text 4"/>
          <p:cNvSpPr/>
          <p:nvPr/>
        </p:nvSpPr>
        <p:spPr>
          <a:xfrm>
            <a:off x="502920" y="749808"/>
            <a:ext cx="8503920" cy="530352"/>
          </a:xfrm>
          <a:prstGeom prst="rect">
            <a:avLst/>
          </a:prstGeom>
          <a:noFill/>
          <a:ln/>
        </p:spPr>
        <p:txBody>
          <a:bodyPr wrap="square" lIns="0" tIns="0" rIns="0" bIns="0" rtlCol="0" anchor="ctr">
            <a:normAutofit/>
          </a:bodyPr>
          <a:lstStyle/>
          <a:p>
            <a:pPr indent="0" marL="0">
              <a:buNone/>
            </a:pPr>
            <a:r>
              <a:rPr lang="en-US" sz="3000" b="1" dirty="0">
                <a:solidFill>
                  <a:srgbClr val="12161C"/>
                </a:solidFill>
                <a:latin typeface="Aptos Display" pitchFamily="34" charset="0"/>
                <a:ea typeface="Aptos Display" pitchFamily="34" charset="-122"/>
                <a:cs typeface="Aptos Display" pitchFamily="34" charset="-120"/>
              </a:rPr>
              <a:t>Aplicativo híbrido / multiplataforma</a:t>
            </a:r>
            <a:endParaRPr lang="en-US" sz="3000" dirty="0"/>
          </a:p>
        </p:txBody>
      </p:sp>
      <p:sp>
        <p:nvSpPr>
          <p:cNvPr id="8" name="Text 5"/>
          <p:cNvSpPr/>
          <p:nvPr/>
        </p:nvSpPr>
        <p:spPr>
          <a:xfrm>
            <a:off x="530352" y="1325880"/>
            <a:ext cx="7589520" cy="320040"/>
          </a:xfrm>
          <a:prstGeom prst="rect">
            <a:avLst/>
          </a:prstGeom>
          <a:noFill/>
          <a:ln/>
        </p:spPr>
        <p:txBody>
          <a:bodyPr wrap="square" lIns="0" tIns="0" rIns="0" bIns="0" rtlCol="0" anchor="ctr"/>
          <a:lstStyle/>
          <a:p>
            <a:pPr indent="0" marL="0">
              <a:buNone/>
            </a:pPr>
            <a:r>
              <a:rPr lang="en-US" sz="1350" dirty="0">
                <a:solidFill>
                  <a:srgbClr val="5A6472"/>
                </a:solidFill>
              </a:rPr>
              <a:t>Uma abordagem para reaproveitar parte da base de código.</a:t>
            </a:r>
            <a:endParaRPr lang="en-US" sz="1350" dirty="0"/>
          </a:p>
        </p:txBody>
      </p:sp>
      <p:sp>
        <p:nvSpPr>
          <p:cNvPr id="9" name="Shape 6"/>
          <p:cNvSpPr/>
          <p:nvPr/>
        </p:nvSpPr>
        <p:spPr>
          <a:xfrm>
            <a:off x="4206240" y="1737360"/>
            <a:ext cx="3840480" cy="1097280"/>
          </a:xfrm>
          <a:prstGeom prst="roundRect">
            <a:avLst>
              <a:gd name="adj" fmla="val 13333"/>
            </a:avLst>
          </a:prstGeom>
          <a:solidFill>
            <a:srgbClr val="FFF9E6"/>
          </a:solidFill>
          <a:ln w="12700">
            <a:solidFill>
              <a:srgbClr val="E7C950"/>
            </a:solidFill>
            <a:prstDash val="solid"/>
          </a:ln>
        </p:spPr>
        <p:txBody>
          <a:bodyPr/>
          <a:p/>
        </p:txBody>
      </p:sp>
      <p:sp>
        <p:nvSpPr>
          <p:cNvPr id="10" name="Text 7"/>
          <p:cNvSpPr/>
          <p:nvPr/>
        </p:nvSpPr>
        <p:spPr>
          <a:xfrm>
            <a:off x="4434840" y="2075688"/>
            <a:ext cx="3383280" cy="274320"/>
          </a:xfrm>
          <a:prstGeom prst="rect">
            <a:avLst/>
          </a:prstGeom>
          <a:noFill/>
          <a:ln/>
        </p:spPr>
        <p:txBody>
          <a:bodyPr wrap="square" lIns="0" tIns="0" rIns="0" bIns="0" rtlCol="0" anchor="ctr">
            <a:normAutofit/>
          </a:bodyPr>
          <a:lstStyle/>
          <a:p>
            <a:pPr algn="ctr" indent="0" marL="0">
              <a:buNone/>
            </a:pPr>
            <a:r>
              <a:rPr lang="en-US" sz="1800" b="1" dirty="0">
                <a:solidFill>
                  <a:srgbClr val="12161C"/>
                </a:solidFill>
              </a:rPr>
              <a:t>Framework / base compartilhada</a:t>
            </a:r>
            <a:endParaRPr lang="en-US" sz="1800" dirty="0"/>
          </a:p>
        </p:txBody>
      </p:sp>
      <p:sp>
        <p:nvSpPr>
          <p:cNvPr id="26" name="Shape 23"/>
          <p:cNvSpPr/>
          <p:nvPr/>
        </p:nvSpPr>
        <p:spPr>
          <a:xfrm>
            <a:off x="4251960" y="3063240"/>
            <a:ext cx="1371600" cy="384048"/>
          </a:xfrm>
          <a:prstGeom prst="roundRect">
            <a:avLst>
              <a:gd name="adj" fmla="val 28571"/>
            </a:avLst>
          </a:prstGeom>
          <a:solidFill>
            <a:srgbClr val="D71920"/>
          </a:solidFill>
          <a:ln w="12700">
            <a:solidFill>
              <a:srgbClr val="FFFFFF">
                <a:alpha val="0"/>
              </a:srgbClr>
            </a:solidFill>
            <a:prstDash val="solid"/>
          </a:ln>
        </p:spPr>
        <p:txBody>
          <a:bodyPr/>
          <a:p/>
        </p:txBody>
      </p:sp>
      <p:sp>
        <p:nvSpPr>
          <p:cNvPr id="27" name="Text 24"/>
          <p:cNvSpPr/>
          <p:nvPr/>
        </p:nvSpPr>
        <p:spPr>
          <a:xfrm>
            <a:off x="4379976" y="3163824"/>
            <a:ext cx="1115568" cy="164592"/>
          </a:xfrm>
          <a:prstGeom prst="rect">
            <a:avLst/>
          </a:prstGeom>
          <a:noFill/>
          <a:ln/>
        </p:spPr>
        <p:txBody>
          <a:bodyPr wrap="square" lIns="0" tIns="0" rIns="0" bIns="0" rtlCol="0" anchor="ctr"/>
          <a:lstStyle/>
          <a:p>
            <a:pPr algn="ctr" indent="0" marL="0">
              <a:buNone/>
            </a:pPr>
            <a:r>
              <a:rPr lang="en-US" sz="950" b="1" dirty="0">
                <a:solidFill>
                  <a:srgbClr val="FFFFFF"/>
                </a:solidFill>
              </a:rPr>
              <a:t>React Native</a:t>
            </a:r>
            <a:endParaRPr lang="en-US" sz="950" dirty="0"/>
          </a:p>
        </p:txBody>
      </p:sp>
      <p:sp>
        <p:nvSpPr>
          <p:cNvPr id="28" name="Shape 25"/>
          <p:cNvSpPr/>
          <p:nvPr/>
        </p:nvSpPr>
        <p:spPr>
          <a:xfrm>
            <a:off x="5806440" y="3063240"/>
            <a:ext cx="1097280" cy="384048"/>
          </a:xfrm>
          <a:prstGeom prst="roundRect">
            <a:avLst>
              <a:gd name="adj" fmla="val 28571"/>
            </a:avLst>
          </a:prstGeom>
          <a:solidFill>
            <a:srgbClr val="D71920"/>
          </a:solidFill>
          <a:ln w="12700">
            <a:solidFill>
              <a:srgbClr val="FFFFFF">
                <a:alpha val="0"/>
              </a:srgbClr>
            </a:solidFill>
            <a:prstDash val="solid"/>
          </a:ln>
        </p:spPr>
        <p:txBody>
          <a:bodyPr/>
          <a:p/>
        </p:txBody>
      </p:sp>
      <p:sp>
        <p:nvSpPr>
          <p:cNvPr id="29" name="Text 26"/>
          <p:cNvSpPr/>
          <p:nvPr/>
        </p:nvSpPr>
        <p:spPr>
          <a:xfrm>
            <a:off x="5934456" y="3163824"/>
            <a:ext cx="841248" cy="164592"/>
          </a:xfrm>
          <a:prstGeom prst="rect">
            <a:avLst/>
          </a:prstGeom>
          <a:noFill/>
          <a:ln/>
        </p:spPr>
        <p:txBody>
          <a:bodyPr wrap="square" lIns="0" tIns="0" rIns="0" bIns="0" rtlCol="0" anchor="ctr"/>
          <a:lstStyle/>
          <a:p>
            <a:pPr algn="ctr" indent="0" marL="0">
              <a:buNone/>
            </a:pPr>
            <a:r>
              <a:rPr lang="en-US" sz="950" b="1" dirty="0">
                <a:solidFill>
                  <a:srgbClr val="FFFFFF"/>
                </a:solidFill>
              </a:rPr>
              <a:t>Flutter</a:t>
            </a:r>
            <a:endParaRPr lang="en-US" sz="950" dirty="0"/>
          </a:p>
        </p:txBody>
      </p:sp>
      <p:sp>
        <p:nvSpPr>
          <p:cNvPr id="30" name="Shape 27"/>
          <p:cNvSpPr/>
          <p:nvPr/>
        </p:nvSpPr>
        <p:spPr>
          <a:xfrm>
            <a:off x="7059168" y="3063240"/>
            <a:ext cx="822960" cy="384048"/>
          </a:xfrm>
          <a:prstGeom prst="roundRect">
            <a:avLst>
              <a:gd name="adj" fmla="val 28571"/>
            </a:avLst>
          </a:prstGeom>
          <a:solidFill>
            <a:srgbClr val="D71920"/>
          </a:solidFill>
          <a:ln w="12700">
            <a:solidFill>
              <a:srgbClr val="FFFFFF">
                <a:alpha val="0"/>
              </a:srgbClr>
            </a:solidFill>
            <a:prstDash val="solid"/>
          </a:ln>
        </p:spPr>
        <p:txBody>
          <a:bodyPr/>
          <a:p/>
        </p:txBody>
      </p:sp>
      <p:sp>
        <p:nvSpPr>
          <p:cNvPr id="31" name="Text 28"/>
          <p:cNvSpPr/>
          <p:nvPr/>
        </p:nvSpPr>
        <p:spPr>
          <a:xfrm>
            <a:off x="7187184" y="3163824"/>
            <a:ext cx="566928" cy="164592"/>
          </a:xfrm>
          <a:prstGeom prst="rect">
            <a:avLst/>
          </a:prstGeom>
          <a:noFill/>
          <a:ln/>
        </p:spPr>
        <p:txBody>
          <a:bodyPr wrap="square" lIns="0" tIns="0" rIns="0" bIns="0" rtlCol="0" anchor="ctr"/>
          <a:lstStyle/>
          <a:p>
            <a:pPr algn="ctr" indent="0" marL="0">
              <a:buNone/>
            </a:pPr>
            <a:r>
              <a:rPr lang="en-US" sz="950" b="1" dirty="0">
                <a:solidFill>
                  <a:srgbClr val="FFFFFF"/>
                </a:solidFill>
              </a:rPr>
              <a:t>Expo</a:t>
            </a:r>
            <a:endParaRPr lang="en-US" sz="950" dirty="0"/>
          </a:p>
        </p:txBody>
      </p:sp>
      <p:sp>
        <p:nvSpPr>
          <p:cNvPr id="33" name="Shape 29"/>
          <p:cNvSpPr/>
          <p:nvPr/>
        </p:nvSpPr>
        <p:spPr>
          <a:xfrm>
            <a:off x="621792" y="6455664"/>
            <a:ext cx="11018520" cy="0"/>
          </a:xfrm>
          <a:prstGeom prst="line">
            <a:avLst/>
          </a:prstGeom>
          <a:noFill/>
          <a:ln w="12700">
            <a:solidFill>
              <a:srgbClr val="E7E4DE"/>
            </a:solidFill>
            <a:prstDash val="solid"/>
          </a:ln>
        </p:spPr>
        <p:txBody>
          <a:bodyPr/>
          <a:p/>
        </p:txBody>
      </p:sp>
      <p:sp>
        <p:nvSpPr>
          <p:cNvPr id="34" name="Text 30"/>
          <p:cNvSpPr/>
          <p:nvPr/>
        </p:nvSpPr>
        <p:spPr>
          <a:xfrm>
            <a:off x="621792" y="6537960"/>
            <a:ext cx="2194560" cy="182880"/>
          </a:xfrm>
          <a:prstGeom prst="rect">
            <a:avLst/>
          </a:prstGeom>
          <a:noFill/>
          <a:ln/>
        </p:spPr>
        <p:txBody>
          <a:bodyPr wrap="square" lIns="0" tIns="0" rIns="0" bIns="0" rtlCol="0" anchor="ctr"/>
          <a:lstStyle/>
          <a:p>
            <a:pPr indent="0" marL="0">
              <a:buNone/>
            </a:pPr>
            <a:r>
              <a:rPr lang="en-US" sz="850" dirty="0">
                <a:solidFill>
                  <a:srgbClr val="5A6472"/>
                </a:solidFill>
              </a:rPr>
              <a:t>Emanuel Nascente</a:t>
            </a:r>
            <a:endParaRPr lang="en-US" sz="850" dirty="0"/>
          </a:p>
        </p:txBody>
      </p:sp>
      <p:sp>
        <p:nvSpPr>
          <p:cNvPr id="35" name="Text 31"/>
          <p:cNvSpPr/>
          <p:nvPr/>
        </p:nvSpPr>
        <p:spPr>
          <a:xfrm>
            <a:off x="11064240" y="6519672"/>
            <a:ext cx="548640" cy="228600"/>
          </a:xfrm>
          <a:prstGeom prst="rect">
            <a:avLst/>
          </a:prstGeom>
          <a:noFill/>
          <a:ln/>
        </p:spPr>
        <p:txBody>
          <a:bodyPr wrap="square" lIns="0" tIns="0" rIns="0" bIns="0" rtlCol="0" anchor="ctr"/>
          <a:lstStyle/>
          <a:p>
            <a:pPr algn="r" indent="0" marL="0">
              <a:buNone/>
            </a:pPr>
            <a:r>
              <a:rPr sz="850" b="1">
                <a:solidFill>
                  <a:srgbClr val="5A6472"/>
                </a:solidFill>
              </a:rPr>
              <a:t>11</a:t>
            </a:r>
            <a:endParaRPr lang="en-US" sz="850" dirty="0"/>
          </a:p>
        </p:txBody>
      </p:sp>
      <p:sp>
        <p:nvSpPr>
          <p:cNvPr id="36" name="Rounded Rectangle 35"/>
          <p:cNvSpPr/>
          <p:nvPr/>
        </p:nvSpPr>
        <p:spPr>
          <a:xfrm>
            <a:off x="2128768" y="3703320"/>
            <a:ext cx="1137424" cy="2331720"/>
          </a:xfrm>
          <a:prstGeom prst="roundRect">
            <a:avLst>
              <a:gd name="adj" fmla="val 14000"/>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2185639" y="3760191"/>
            <a:ext cx="1023682" cy="2217978"/>
          </a:xfrm>
          <a:prstGeom prst="roundRect">
            <a:avLst>
              <a:gd name="adj" fmla="val 11000"/>
            </a:avLst>
          </a:prstGeom>
          <a:solidFill>
            <a:srgbClr val="202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2526866" y="3796767"/>
            <a:ext cx="341227" cy="64008"/>
          </a:xfrm>
          <a:prstGeom prst="roundRect">
            <a:avLst>
              <a:gd name="adj" fmla="val 50000"/>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android.png"/>
          <p:cNvPicPr>
            <a:picLocks noChangeAspect="1"/>
          </p:cNvPicPr>
          <p:nvPr/>
        </p:nvPicPr>
        <p:blipFill>
          <a:blip r:embed="rId4"/>
          <a:stretch>
            <a:fillRect/>
          </a:stretch>
        </p:blipFill>
        <p:spPr>
          <a:xfrm>
            <a:off x="2424498" y="4356201"/>
            <a:ext cx="545963" cy="545963"/>
          </a:xfrm>
          <a:prstGeom prst="rect">
            <a:avLst/>
          </a:prstGeom>
        </p:spPr>
      </p:pic>
      <p:sp>
        <p:nvSpPr>
          <p:cNvPr id="40" name="TextBox 39"/>
          <p:cNvSpPr txBox="1"/>
          <p:nvPr/>
        </p:nvSpPr>
        <p:spPr>
          <a:xfrm>
            <a:off x="2037328" y="5032400"/>
            <a:ext cx="1320304" cy="219456"/>
          </a:xfrm>
          <a:prstGeom prst="rect">
            <a:avLst/>
          </a:prstGeom>
          <a:noFill/>
        </p:spPr>
        <p:txBody>
          <a:bodyPr wrap="none">
            <a:spAutoFit/>
          </a:bodyPr>
          <a:lstStyle/>
          <a:p>
            <a:pPr algn="ctr"/>
            <a:r>
              <a:rPr sz="1000" b="1">
                <a:solidFill>
                  <a:srgbClr val="FFFFFF"/>
                </a:solidFill>
                <a:latin typeface="Aptos"/>
              </a:rPr>
              <a:t>Android</a:t>
            </a:r>
          </a:p>
        </p:txBody>
      </p:sp>
      <p:sp>
        <p:nvSpPr>
          <p:cNvPr id="41" name="TextBox 40"/>
          <p:cNvSpPr txBox="1"/>
          <p:nvPr/>
        </p:nvSpPr>
        <p:spPr>
          <a:xfrm>
            <a:off x="2037328" y="5335524"/>
            <a:ext cx="1320304" cy="182880"/>
          </a:xfrm>
          <a:prstGeom prst="rect">
            <a:avLst/>
          </a:prstGeom>
          <a:noFill/>
        </p:spPr>
        <p:txBody>
          <a:bodyPr wrap="none">
            <a:spAutoFit/>
          </a:bodyPr>
          <a:lstStyle/>
          <a:p>
            <a:pPr algn="ctr"/>
            <a:r>
              <a:rPr sz="750">
                <a:solidFill>
                  <a:srgbClr val="9AA4B2"/>
                </a:solidFill>
                <a:latin typeface="Cascadia Mono"/>
              </a:rPr>
              <a:t>App final</a:t>
            </a:r>
          </a:p>
        </p:txBody>
      </p:sp>
      <p:sp>
        <p:nvSpPr>
          <p:cNvPr id="42" name="Rounded Rectangle 41"/>
          <p:cNvSpPr/>
          <p:nvPr/>
        </p:nvSpPr>
        <p:spPr>
          <a:xfrm>
            <a:off x="5557768" y="3703320"/>
            <a:ext cx="1137424" cy="2331720"/>
          </a:xfrm>
          <a:prstGeom prst="roundRect">
            <a:avLst>
              <a:gd name="adj" fmla="val 14000"/>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614639" y="3760191"/>
            <a:ext cx="1023682" cy="2217978"/>
          </a:xfrm>
          <a:prstGeom prst="roundRect">
            <a:avLst>
              <a:gd name="adj" fmla="val 11000"/>
            </a:avLst>
          </a:prstGeom>
          <a:solidFill>
            <a:srgbClr val="202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955866" y="3796767"/>
            <a:ext cx="341227" cy="64008"/>
          </a:xfrm>
          <a:prstGeom prst="roundRect">
            <a:avLst>
              <a:gd name="adj" fmla="val 50000"/>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apple.png"/>
          <p:cNvPicPr>
            <a:picLocks noChangeAspect="1"/>
          </p:cNvPicPr>
          <p:nvPr/>
        </p:nvPicPr>
        <p:blipFill>
          <a:blip r:embed="rId5"/>
          <a:stretch>
            <a:fillRect/>
          </a:stretch>
        </p:blipFill>
        <p:spPr>
          <a:xfrm>
            <a:off x="5853498" y="4356201"/>
            <a:ext cx="545963" cy="545963"/>
          </a:xfrm>
          <a:prstGeom prst="rect">
            <a:avLst/>
          </a:prstGeom>
        </p:spPr>
      </p:pic>
      <p:sp>
        <p:nvSpPr>
          <p:cNvPr id="46" name="TextBox 45"/>
          <p:cNvSpPr txBox="1"/>
          <p:nvPr/>
        </p:nvSpPr>
        <p:spPr>
          <a:xfrm>
            <a:off x="5466328" y="5032400"/>
            <a:ext cx="1320304" cy="219456"/>
          </a:xfrm>
          <a:prstGeom prst="rect">
            <a:avLst/>
          </a:prstGeom>
          <a:noFill/>
        </p:spPr>
        <p:txBody>
          <a:bodyPr wrap="none">
            <a:spAutoFit/>
          </a:bodyPr>
          <a:lstStyle/>
          <a:p>
            <a:pPr algn="ctr"/>
            <a:r>
              <a:rPr sz="1000" b="1">
                <a:solidFill>
                  <a:srgbClr val="FFFFFF"/>
                </a:solidFill>
                <a:latin typeface="Aptos"/>
              </a:rPr>
              <a:t>iOS</a:t>
            </a:r>
          </a:p>
        </p:txBody>
      </p:sp>
      <p:sp>
        <p:nvSpPr>
          <p:cNvPr id="47" name="TextBox 46"/>
          <p:cNvSpPr txBox="1"/>
          <p:nvPr/>
        </p:nvSpPr>
        <p:spPr>
          <a:xfrm>
            <a:off x="5466328" y="5335524"/>
            <a:ext cx="1320304" cy="182880"/>
          </a:xfrm>
          <a:prstGeom prst="rect">
            <a:avLst/>
          </a:prstGeom>
          <a:noFill/>
        </p:spPr>
        <p:txBody>
          <a:bodyPr wrap="none">
            <a:spAutoFit/>
          </a:bodyPr>
          <a:lstStyle/>
          <a:p>
            <a:pPr algn="ctr"/>
            <a:r>
              <a:rPr sz="750">
                <a:solidFill>
                  <a:srgbClr val="9AA4B2"/>
                </a:solidFill>
                <a:latin typeface="Cascadia Mono"/>
              </a:rPr>
              <a:t>App final</a:t>
            </a:r>
          </a:p>
        </p:txBody>
      </p:sp>
      <p:sp>
        <p:nvSpPr>
          <p:cNvPr id="48" name="Rounded Rectangle 47"/>
          <p:cNvSpPr/>
          <p:nvPr/>
        </p:nvSpPr>
        <p:spPr>
          <a:xfrm>
            <a:off x="8986768" y="3703320"/>
            <a:ext cx="1137424" cy="2331720"/>
          </a:xfrm>
          <a:prstGeom prst="roundRect">
            <a:avLst>
              <a:gd name="adj" fmla="val 14000"/>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9043639" y="3760191"/>
            <a:ext cx="1023682" cy="2217978"/>
          </a:xfrm>
          <a:prstGeom prst="roundRect">
            <a:avLst>
              <a:gd name="adj" fmla="val 11000"/>
            </a:avLst>
          </a:prstGeom>
          <a:solidFill>
            <a:srgbClr val="202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9384866" y="3796767"/>
            <a:ext cx="341227" cy="64008"/>
          </a:xfrm>
          <a:prstGeom prst="roundRect">
            <a:avLst>
              <a:gd name="adj" fmla="val 50000"/>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Picture 50" descr="javascript.png"/>
          <p:cNvPicPr>
            <a:picLocks noChangeAspect="1"/>
          </p:cNvPicPr>
          <p:nvPr/>
        </p:nvPicPr>
        <p:blipFill>
          <a:blip r:embed="rId6"/>
          <a:stretch>
            <a:fillRect/>
          </a:stretch>
        </p:blipFill>
        <p:spPr>
          <a:xfrm>
            <a:off x="9282498" y="4356201"/>
            <a:ext cx="545963" cy="545963"/>
          </a:xfrm>
          <a:prstGeom prst="rect">
            <a:avLst/>
          </a:prstGeom>
        </p:spPr>
      </p:pic>
      <p:sp>
        <p:nvSpPr>
          <p:cNvPr id="52" name="TextBox 51"/>
          <p:cNvSpPr txBox="1"/>
          <p:nvPr/>
        </p:nvSpPr>
        <p:spPr>
          <a:xfrm>
            <a:off x="8895328" y="5032400"/>
            <a:ext cx="1320304" cy="219456"/>
          </a:xfrm>
          <a:prstGeom prst="rect">
            <a:avLst/>
          </a:prstGeom>
          <a:noFill/>
        </p:spPr>
        <p:txBody>
          <a:bodyPr wrap="none">
            <a:spAutoFit/>
          </a:bodyPr>
          <a:lstStyle/>
          <a:p>
            <a:pPr algn="ctr"/>
            <a:r>
              <a:rPr sz="1000" b="1">
                <a:solidFill>
                  <a:srgbClr val="FFFFFF"/>
                </a:solidFill>
                <a:latin typeface="Aptos"/>
              </a:rPr>
              <a:t>Web?</a:t>
            </a:r>
          </a:p>
        </p:txBody>
      </p:sp>
      <p:sp>
        <p:nvSpPr>
          <p:cNvPr id="53" name="TextBox 52"/>
          <p:cNvSpPr txBox="1"/>
          <p:nvPr/>
        </p:nvSpPr>
        <p:spPr>
          <a:xfrm>
            <a:off x="8895328" y="5335524"/>
            <a:ext cx="1320304" cy="182880"/>
          </a:xfrm>
          <a:prstGeom prst="rect">
            <a:avLst/>
          </a:prstGeom>
          <a:noFill/>
        </p:spPr>
        <p:txBody>
          <a:bodyPr wrap="none">
            <a:spAutoFit/>
          </a:bodyPr>
          <a:lstStyle/>
          <a:p>
            <a:pPr algn="ctr"/>
            <a:r>
              <a:rPr sz="750">
                <a:solidFill>
                  <a:srgbClr val="9AA4B2"/>
                </a:solidFill>
                <a:latin typeface="Cascadia Mono"/>
              </a:rPr>
              <a:t>dependendo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D71920"/>
          </a:solidFill>
          <a:ln w="12700">
            <a:solidFill>
              <a:srgbClr val="D71920"/>
            </a:solidFill>
            <a:prstDash val="solid"/>
          </a:ln>
        </p:spPr>
        <p:txBody>
          <a:bodyPr/>
          <a:p/>
        </p:txBody>
      </p:sp>
      <p:sp>
        <p:nvSpPr>
          <p:cNvPr id="3" name="Shape 1"/>
          <p:cNvSpPr/>
          <p:nvPr/>
        </p:nvSpPr>
        <p:spPr>
          <a:xfrm>
            <a:off x="164592" y="0"/>
            <a:ext cx="54864" cy="6858000"/>
          </a:xfrm>
          <a:prstGeom prst="rect">
            <a:avLst/>
          </a:prstGeom>
          <a:solidFill>
            <a:srgbClr val="FFD322"/>
          </a:solidFill>
          <a:ln w="12700">
            <a:solidFill>
              <a:srgbClr val="FFD322"/>
            </a:solidFill>
            <a:prstDash val="solid"/>
          </a:ln>
        </p:spPr>
        <p:txBody>
          <a:bodyPr/>
          <a:p/>
        </p:txBody>
      </p:sp>
      <p:sp>
        <p:nvSpPr>
          <p:cNvPr id="4" name="Text 2"/>
          <p:cNvSpPr/>
          <p:nvPr/>
        </p:nvSpPr>
        <p:spPr>
          <a:xfrm>
            <a:off x="438912" y="210312"/>
            <a:ext cx="2103120" cy="256032"/>
          </a:xfrm>
          <a:prstGeom prst="rect">
            <a:avLst/>
          </a:prstGeom>
          <a:noFill/>
          <a:ln/>
        </p:spPr>
        <p:txBody>
          <a:bodyPr wrap="square" lIns="0" tIns="0" rIns="0" bIns="0" rtlCol="0" anchor="ctr"/>
          <a:lstStyle/>
          <a:p>
            <a:pPr indent="0" marL="0">
              <a:buNone/>
            </a:pPr>
            <a:r>
              <a:rPr lang="en-US" sz="950" b="1" dirty="0">
                <a:solidFill>
                  <a:srgbClr val="D71920"/>
                </a:solidFill>
                <a:latin typeface="Aptos" pitchFamily="34" charset="0"/>
                <a:ea typeface="Aptos" pitchFamily="34" charset="-122"/>
                <a:cs typeface="Aptos" pitchFamily="34" charset="-120"/>
              </a:rPr>
              <a:t>Aula 01</a:t>
            </a:r>
            <a:endParaRPr lang="en-US" sz="950" dirty="0"/>
          </a:p>
        </p:txBody>
      </p:sp>
      <p:sp>
        <p:nvSpPr>
          <p:cNvPr id="5" name="Text 3"/>
          <p:cNvSpPr/>
          <p:nvPr/>
        </p:nvSpPr>
        <p:spPr>
          <a:xfrm>
            <a:off x="2788920" y="210312"/>
            <a:ext cx="2743200" cy="256032"/>
          </a:xfrm>
          <a:prstGeom prst="rect">
            <a:avLst/>
          </a:prstGeom>
          <a:noFill/>
          <a:ln/>
        </p:spPr>
        <p:txBody>
          <a:bodyPr wrap="square" lIns="0" tIns="0" rIns="0" bIns="0" rtlCol="0" anchor="ctr"/>
          <a:lstStyle/>
          <a:p>
            <a:pPr indent="0" marL="0">
              <a:buNone/>
            </a:pPr>
            <a:r>
              <a:rPr lang="en-US" sz="950" dirty="0">
                <a:solidFill>
                  <a:srgbClr val="5A6472"/>
                </a:solidFill>
              </a:rPr>
              <a:t>Desenvolvimento Mobile</a:t>
            </a:r>
            <a:endParaRPr lang="en-US" sz="950" dirty="0"/>
          </a:p>
        </p:txBody>
      </p:sp>
      <p:pic>
        <p:nvPicPr>
          <p:cNvPr id="6" name="Image 0" descr="/mnt/data/logo_mesquita_stylized.png">    </p:cNvPr>
          <p:cNvPicPr>
            <a:picLocks noChangeAspect="1"/>
          </p:cNvPicPr>
          <p:nvPr/>
        </p:nvPicPr>
        <p:blipFill>
          <a:blip r:embed="rId1"/>
          <a:stretch>
            <a:fillRect/>
          </a:stretch>
        </p:blipFill>
        <p:spPr>
          <a:xfrm>
            <a:off x="10744200" y="128016"/>
            <a:ext cx="987552" cy="685800"/>
          </a:xfrm>
          <a:prstGeom prst="rect">
            <a:avLst/>
          </a:prstGeom>
        </p:spPr>
      </p:pic>
      <p:sp>
        <p:nvSpPr>
          <p:cNvPr id="7" name="Text 4"/>
          <p:cNvSpPr/>
          <p:nvPr/>
        </p:nvSpPr>
        <p:spPr>
          <a:xfrm>
            <a:off x="502920" y="749808"/>
            <a:ext cx="8503920" cy="530352"/>
          </a:xfrm>
          <a:prstGeom prst="rect">
            <a:avLst/>
          </a:prstGeom>
          <a:noFill/>
          <a:ln/>
        </p:spPr>
        <p:txBody>
          <a:bodyPr wrap="square" lIns="0" tIns="0" rIns="0" bIns="0" rtlCol="0" anchor="ctr">
            <a:normAutofit/>
          </a:bodyPr>
          <a:lstStyle/>
          <a:p>
            <a:pPr indent="0" marL="0">
              <a:buNone/>
            </a:pPr>
            <a:r>
              <a:rPr lang="en-US" sz="3000" b="1" dirty="0">
                <a:solidFill>
                  <a:srgbClr val="12161C"/>
                </a:solidFill>
                <a:latin typeface="Aptos Display" pitchFamily="34" charset="0"/>
                <a:ea typeface="Aptos Display" pitchFamily="34" charset="-122"/>
                <a:cs typeface="Aptos Display" pitchFamily="34" charset="-120"/>
              </a:rPr>
              <a:t>Comparação simples</a:t>
            </a:r>
            <a:endParaRPr lang="en-US" sz="3000" dirty="0"/>
          </a:p>
        </p:txBody>
      </p:sp>
      <p:sp>
        <p:nvSpPr>
          <p:cNvPr id="8" name="Text 5"/>
          <p:cNvSpPr/>
          <p:nvPr/>
        </p:nvSpPr>
        <p:spPr>
          <a:xfrm>
            <a:off x="530352" y="1325880"/>
            <a:ext cx="7589520" cy="320040"/>
          </a:xfrm>
          <a:prstGeom prst="rect">
            <a:avLst/>
          </a:prstGeom>
          <a:noFill/>
          <a:ln/>
        </p:spPr>
        <p:txBody>
          <a:bodyPr wrap="square" lIns="0" tIns="0" rIns="0" bIns="0" rtlCol="0" anchor="ctr"/>
          <a:lstStyle/>
          <a:p>
            <a:pPr indent="0" marL="0">
              <a:buNone/>
            </a:pPr>
            <a:r>
              <a:rPr lang="en-US" sz="1350" dirty="0">
                <a:solidFill>
                  <a:srgbClr val="5A6472"/>
                </a:solidFill>
              </a:rPr>
              <a:t>A pergunta não é “qual é melhor?”, mas “qual faz sentido para o problema?”.</a:t>
            </a:r>
            <a:endParaRPr lang="en-US" sz="1350" dirty="0"/>
          </a:p>
        </p:txBody>
      </p:sp>
      <p:sp>
        <p:nvSpPr>
          <p:cNvPr id="9" name="Shape 6"/>
          <p:cNvSpPr/>
          <p:nvPr/>
        </p:nvSpPr>
        <p:spPr>
          <a:xfrm>
            <a:off x="731520" y="1755648"/>
            <a:ext cx="2057400" cy="530352"/>
          </a:xfrm>
          <a:prstGeom prst="rect">
            <a:avLst/>
          </a:prstGeom>
          <a:solidFill>
            <a:srgbClr val="12161C"/>
          </a:solidFill>
          <a:ln w="6350">
            <a:solidFill>
              <a:srgbClr val="E7E4DE"/>
            </a:solidFill>
            <a:prstDash val="solid"/>
          </a:ln>
        </p:spPr>
        <p:txBody>
          <a:bodyPr/>
          <a:p/>
        </p:txBody>
      </p:sp>
      <p:sp>
        <p:nvSpPr>
          <p:cNvPr id="10" name="Text 7"/>
          <p:cNvSpPr/>
          <p:nvPr/>
        </p:nvSpPr>
        <p:spPr>
          <a:xfrm>
            <a:off x="841248" y="1911096"/>
            <a:ext cx="1837944" cy="182880"/>
          </a:xfrm>
          <a:prstGeom prst="rect">
            <a:avLst/>
          </a:prstGeom>
          <a:noFill/>
          <a:ln/>
        </p:spPr>
        <p:txBody>
          <a:bodyPr wrap="square" lIns="0" tIns="0" rIns="0" bIns="0" rtlCol="0" anchor="ctr">
            <a:normAutofit/>
          </a:bodyPr>
          <a:lstStyle/>
          <a:p>
            <a:pPr indent="0" marL="0">
              <a:buNone/>
            </a:pPr>
            <a:r>
              <a:rPr lang="en-US" sz="1150" b="1" dirty="0">
                <a:solidFill>
                  <a:srgbClr val="FFFFFF"/>
                </a:solidFill>
              </a:rPr>
              <a:t>Critério</a:t>
            </a:r>
            <a:endParaRPr lang="en-US" sz="1150" dirty="0"/>
          </a:p>
        </p:txBody>
      </p:sp>
      <p:sp>
        <p:nvSpPr>
          <p:cNvPr id="11" name="Shape 8"/>
          <p:cNvSpPr/>
          <p:nvPr/>
        </p:nvSpPr>
        <p:spPr>
          <a:xfrm>
            <a:off x="3291840" y="1755648"/>
            <a:ext cx="2468880" cy="530352"/>
          </a:xfrm>
          <a:prstGeom prst="rect">
            <a:avLst/>
          </a:prstGeom>
          <a:solidFill>
            <a:srgbClr val="12161C"/>
          </a:solidFill>
          <a:ln w="6350">
            <a:solidFill>
              <a:srgbClr val="E7E4DE"/>
            </a:solidFill>
            <a:prstDash val="solid"/>
          </a:ln>
        </p:spPr>
        <p:txBody>
          <a:bodyPr/>
          <a:p/>
        </p:txBody>
      </p:sp>
      <p:sp>
        <p:nvSpPr>
          <p:cNvPr id="12" name="Text 9"/>
          <p:cNvSpPr/>
          <p:nvPr/>
        </p:nvSpPr>
        <p:spPr>
          <a:xfrm>
            <a:off x="3401568" y="1911096"/>
            <a:ext cx="2249424" cy="182880"/>
          </a:xfrm>
          <a:prstGeom prst="rect">
            <a:avLst/>
          </a:prstGeom>
          <a:noFill/>
          <a:ln/>
        </p:spPr>
        <p:txBody>
          <a:bodyPr wrap="square" lIns="0" tIns="0" rIns="0" bIns="0" rtlCol="0" anchor="ctr">
            <a:normAutofit/>
          </a:bodyPr>
          <a:lstStyle/>
          <a:p>
            <a:pPr indent="0" marL="0">
              <a:buNone/>
            </a:pPr>
            <a:r>
              <a:rPr lang="en-US" sz="1150" b="1" dirty="0">
                <a:solidFill>
                  <a:srgbClr val="FFFFFF"/>
                </a:solidFill>
              </a:rPr>
              <a:t>Nativo</a:t>
            </a:r>
            <a:endParaRPr lang="en-US" sz="1150" dirty="0"/>
          </a:p>
        </p:txBody>
      </p:sp>
      <p:sp>
        <p:nvSpPr>
          <p:cNvPr id="13" name="Shape 10"/>
          <p:cNvSpPr/>
          <p:nvPr/>
        </p:nvSpPr>
        <p:spPr>
          <a:xfrm>
            <a:off x="6446520" y="1755648"/>
            <a:ext cx="3977640" cy="530352"/>
          </a:xfrm>
          <a:prstGeom prst="rect">
            <a:avLst/>
          </a:prstGeom>
          <a:solidFill>
            <a:srgbClr val="12161C"/>
          </a:solidFill>
          <a:ln w="6350">
            <a:solidFill>
              <a:srgbClr val="E7E4DE"/>
            </a:solidFill>
            <a:prstDash val="solid"/>
          </a:ln>
        </p:spPr>
        <p:txBody>
          <a:bodyPr/>
          <a:p/>
        </p:txBody>
      </p:sp>
      <p:sp>
        <p:nvSpPr>
          <p:cNvPr id="14" name="Text 11"/>
          <p:cNvSpPr/>
          <p:nvPr/>
        </p:nvSpPr>
        <p:spPr>
          <a:xfrm>
            <a:off x="6556248" y="1911096"/>
            <a:ext cx="3758184" cy="182880"/>
          </a:xfrm>
          <a:prstGeom prst="rect">
            <a:avLst/>
          </a:prstGeom>
          <a:noFill/>
          <a:ln/>
        </p:spPr>
        <p:txBody>
          <a:bodyPr wrap="square" lIns="0" tIns="0" rIns="0" bIns="0" rtlCol="0" anchor="ctr">
            <a:normAutofit/>
          </a:bodyPr>
          <a:lstStyle/>
          <a:p>
            <a:pPr indent="0" marL="0">
              <a:buNone/>
            </a:pPr>
            <a:r>
              <a:rPr lang="en-US" sz="1150" b="1" dirty="0">
                <a:solidFill>
                  <a:srgbClr val="FFFFFF"/>
                </a:solidFill>
              </a:rPr>
              <a:t>Híbrido / multiplataforma</a:t>
            </a:r>
            <a:endParaRPr lang="en-US" sz="1150" dirty="0"/>
          </a:p>
        </p:txBody>
      </p:sp>
      <p:sp>
        <p:nvSpPr>
          <p:cNvPr id="15" name="Shape 12"/>
          <p:cNvSpPr/>
          <p:nvPr/>
        </p:nvSpPr>
        <p:spPr>
          <a:xfrm>
            <a:off x="731520" y="2414016"/>
            <a:ext cx="2057400" cy="530352"/>
          </a:xfrm>
          <a:prstGeom prst="rect">
            <a:avLst/>
          </a:prstGeom>
          <a:solidFill>
            <a:srgbClr val="FFFFFF"/>
          </a:solidFill>
          <a:ln w="6350">
            <a:solidFill>
              <a:srgbClr val="E7E4DE"/>
            </a:solidFill>
            <a:prstDash val="solid"/>
          </a:ln>
        </p:spPr>
        <p:txBody>
          <a:bodyPr/>
          <a:p/>
        </p:txBody>
      </p:sp>
      <p:sp>
        <p:nvSpPr>
          <p:cNvPr id="16" name="Text 13"/>
          <p:cNvSpPr/>
          <p:nvPr/>
        </p:nvSpPr>
        <p:spPr>
          <a:xfrm>
            <a:off x="841248" y="2569464"/>
            <a:ext cx="1837944" cy="182880"/>
          </a:xfrm>
          <a:prstGeom prst="rect">
            <a:avLst/>
          </a:prstGeom>
          <a:noFill/>
          <a:ln/>
        </p:spPr>
        <p:txBody>
          <a:bodyPr wrap="square" lIns="0" tIns="0" rIns="0" bIns="0" rtlCol="0" anchor="ctr">
            <a:normAutofit/>
          </a:bodyPr>
          <a:lstStyle/>
          <a:p>
            <a:pPr indent="0" marL="0">
              <a:buNone/>
            </a:pPr>
            <a:r>
              <a:rPr lang="en-US" sz="1100" dirty="0">
                <a:solidFill>
                  <a:srgbClr val="12161C"/>
                </a:solidFill>
              </a:rPr>
              <a:t>Foco</a:t>
            </a:r>
            <a:endParaRPr lang="en-US" sz="1100" dirty="0"/>
          </a:p>
        </p:txBody>
      </p:sp>
      <p:sp>
        <p:nvSpPr>
          <p:cNvPr id="17" name="Shape 14"/>
          <p:cNvSpPr/>
          <p:nvPr/>
        </p:nvSpPr>
        <p:spPr>
          <a:xfrm>
            <a:off x="3291840" y="2414016"/>
            <a:ext cx="2468880" cy="530352"/>
          </a:xfrm>
          <a:prstGeom prst="rect">
            <a:avLst/>
          </a:prstGeom>
          <a:solidFill>
            <a:srgbClr val="FFFFFF"/>
          </a:solidFill>
          <a:ln w="6350">
            <a:solidFill>
              <a:srgbClr val="E7E4DE"/>
            </a:solidFill>
            <a:prstDash val="solid"/>
          </a:ln>
        </p:spPr>
        <p:txBody>
          <a:bodyPr/>
          <a:p/>
        </p:txBody>
      </p:sp>
      <p:sp>
        <p:nvSpPr>
          <p:cNvPr id="18" name="Text 15"/>
          <p:cNvSpPr/>
          <p:nvPr/>
        </p:nvSpPr>
        <p:spPr>
          <a:xfrm>
            <a:off x="3401568" y="2569464"/>
            <a:ext cx="2249424" cy="182880"/>
          </a:xfrm>
          <a:prstGeom prst="rect">
            <a:avLst/>
          </a:prstGeom>
          <a:noFill/>
          <a:ln/>
        </p:spPr>
        <p:txBody>
          <a:bodyPr wrap="square" lIns="0" tIns="0" rIns="0" bIns="0" rtlCol="0" anchor="ctr">
            <a:normAutofit/>
          </a:bodyPr>
          <a:lstStyle/>
          <a:p>
            <a:pPr indent="0" marL="0">
              <a:buNone/>
            </a:pPr>
            <a:r>
              <a:rPr lang="en-US" sz="1100" dirty="0">
                <a:solidFill>
                  <a:srgbClr val="12161C"/>
                </a:solidFill>
              </a:rPr>
              <a:t>Uma plataforma</a:t>
            </a:r>
            <a:endParaRPr lang="en-US" sz="1100" dirty="0"/>
          </a:p>
        </p:txBody>
      </p:sp>
      <p:sp>
        <p:nvSpPr>
          <p:cNvPr id="19" name="Shape 16"/>
          <p:cNvSpPr/>
          <p:nvPr/>
        </p:nvSpPr>
        <p:spPr>
          <a:xfrm>
            <a:off x="6446520" y="2414016"/>
            <a:ext cx="3977640" cy="530352"/>
          </a:xfrm>
          <a:prstGeom prst="rect">
            <a:avLst/>
          </a:prstGeom>
          <a:solidFill>
            <a:srgbClr val="FFFFFF"/>
          </a:solidFill>
          <a:ln w="6350">
            <a:solidFill>
              <a:srgbClr val="E7E4DE"/>
            </a:solidFill>
            <a:prstDash val="solid"/>
          </a:ln>
        </p:spPr>
        <p:txBody>
          <a:bodyPr/>
          <a:p/>
        </p:txBody>
      </p:sp>
      <p:sp>
        <p:nvSpPr>
          <p:cNvPr id="20" name="Text 17"/>
          <p:cNvSpPr/>
          <p:nvPr/>
        </p:nvSpPr>
        <p:spPr>
          <a:xfrm>
            <a:off x="6556248" y="2569464"/>
            <a:ext cx="3758184" cy="182880"/>
          </a:xfrm>
          <a:prstGeom prst="rect">
            <a:avLst/>
          </a:prstGeom>
          <a:noFill/>
          <a:ln/>
        </p:spPr>
        <p:txBody>
          <a:bodyPr wrap="square" lIns="0" tIns="0" rIns="0" bIns="0" rtlCol="0" anchor="ctr">
            <a:normAutofit/>
          </a:bodyPr>
          <a:lstStyle/>
          <a:p>
            <a:pPr indent="0" marL="0">
              <a:buNone/>
            </a:pPr>
            <a:r>
              <a:rPr lang="en-US" sz="1100" dirty="0">
                <a:solidFill>
                  <a:srgbClr val="12161C"/>
                </a:solidFill>
              </a:rPr>
              <a:t>Mais de uma plataforma</a:t>
            </a:r>
            <a:endParaRPr lang="en-US" sz="1100" dirty="0"/>
          </a:p>
        </p:txBody>
      </p:sp>
      <p:sp>
        <p:nvSpPr>
          <p:cNvPr id="21" name="Shape 18"/>
          <p:cNvSpPr/>
          <p:nvPr/>
        </p:nvSpPr>
        <p:spPr>
          <a:xfrm>
            <a:off x="731520" y="3072384"/>
            <a:ext cx="2057400" cy="530352"/>
          </a:xfrm>
          <a:prstGeom prst="rect">
            <a:avLst/>
          </a:prstGeom>
          <a:solidFill>
            <a:srgbClr val="F6F7F9"/>
          </a:solidFill>
          <a:ln w="6350">
            <a:solidFill>
              <a:srgbClr val="E7E4DE"/>
            </a:solidFill>
            <a:prstDash val="solid"/>
          </a:ln>
        </p:spPr>
        <p:txBody>
          <a:bodyPr/>
          <a:p/>
        </p:txBody>
      </p:sp>
      <p:sp>
        <p:nvSpPr>
          <p:cNvPr id="22" name="Text 19"/>
          <p:cNvSpPr/>
          <p:nvPr/>
        </p:nvSpPr>
        <p:spPr>
          <a:xfrm>
            <a:off x="841248" y="3227832"/>
            <a:ext cx="1837944" cy="182880"/>
          </a:xfrm>
          <a:prstGeom prst="rect">
            <a:avLst/>
          </a:prstGeom>
          <a:noFill/>
          <a:ln/>
        </p:spPr>
        <p:txBody>
          <a:bodyPr wrap="square" lIns="0" tIns="0" rIns="0" bIns="0" rtlCol="0" anchor="ctr">
            <a:normAutofit/>
          </a:bodyPr>
          <a:lstStyle/>
          <a:p>
            <a:pPr indent="0" marL="0">
              <a:buNone/>
            </a:pPr>
            <a:r>
              <a:rPr lang="en-US" sz="1100" dirty="0">
                <a:solidFill>
                  <a:srgbClr val="12161C"/>
                </a:solidFill>
              </a:rPr>
              <a:t>Android</a:t>
            </a:r>
            <a:endParaRPr lang="en-US" sz="1100" dirty="0"/>
          </a:p>
        </p:txBody>
      </p:sp>
      <p:sp>
        <p:nvSpPr>
          <p:cNvPr id="23" name="Shape 20"/>
          <p:cNvSpPr/>
          <p:nvPr/>
        </p:nvSpPr>
        <p:spPr>
          <a:xfrm>
            <a:off x="3291840" y="3072384"/>
            <a:ext cx="2468880" cy="530352"/>
          </a:xfrm>
          <a:prstGeom prst="rect">
            <a:avLst/>
          </a:prstGeom>
          <a:solidFill>
            <a:srgbClr val="F6F7F9"/>
          </a:solidFill>
          <a:ln w="6350">
            <a:solidFill>
              <a:srgbClr val="E7E4DE"/>
            </a:solidFill>
            <a:prstDash val="solid"/>
          </a:ln>
        </p:spPr>
        <p:txBody>
          <a:bodyPr/>
          <a:p/>
        </p:txBody>
      </p:sp>
      <p:sp>
        <p:nvSpPr>
          <p:cNvPr id="24" name="Text 21"/>
          <p:cNvSpPr/>
          <p:nvPr/>
        </p:nvSpPr>
        <p:spPr>
          <a:xfrm>
            <a:off x="3401568" y="3227832"/>
            <a:ext cx="2249424" cy="182880"/>
          </a:xfrm>
          <a:prstGeom prst="rect">
            <a:avLst/>
          </a:prstGeom>
          <a:noFill/>
          <a:ln/>
        </p:spPr>
        <p:txBody>
          <a:bodyPr wrap="square" lIns="0" tIns="0" rIns="0" bIns="0" rtlCol="0" anchor="ctr">
            <a:normAutofit/>
          </a:bodyPr>
          <a:lstStyle/>
          <a:p>
            <a:pPr indent="0" marL="0">
              <a:buNone/>
            </a:pPr>
            <a:r>
              <a:rPr lang="en-US" sz="1100" dirty="0">
                <a:solidFill>
                  <a:srgbClr val="12161C"/>
                </a:solidFill>
              </a:rPr>
              <a:t>Kotlin / Java</a:t>
            </a:r>
            <a:endParaRPr lang="en-US" sz="1100" dirty="0"/>
          </a:p>
        </p:txBody>
      </p:sp>
      <p:sp>
        <p:nvSpPr>
          <p:cNvPr id="25" name="Shape 22"/>
          <p:cNvSpPr/>
          <p:nvPr/>
        </p:nvSpPr>
        <p:spPr>
          <a:xfrm>
            <a:off x="6446520" y="3072384"/>
            <a:ext cx="3977640" cy="530352"/>
          </a:xfrm>
          <a:prstGeom prst="rect">
            <a:avLst/>
          </a:prstGeom>
          <a:solidFill>
            <a:srgbClr val="F6F7F9"/>
          </a:solidFill>
          <a:ln w="6350">
            <a:solidFill>
              <a:srgbClr val="E7E4DE"/>
            </a:solidFill>
            <a:prstDash val="solid"/>
          </a:ln>
        </p:spPr>
        <p:txBody>
          <a:bodyPr/>
          <a:p/>
        </p:txBody>
      </p:sp>
      <p:sp>
        <p:nvSpPr>
          <p:cNvPr id="26" name="Text 23"/>
          <p:cNvSpPr/>
          <p:nvPr/>
        </p:nvSpPr>
        <p:spPr>
          <a:xfrm>
            <a:off x="6556248" y="3227832"/>
            <a:ext cx="3758184" cy="182880"/>
          </a:xfrm>
          <a:prstGeom prst="rect">
            <a:avLst/>
          </a:prstGeom>
          <a:noFill/>
          <a:ln/>
        </p:spPr>
        <p:txBody>
          <a:bodyPr wrap="square" lIns="0" tIns="0" rIns="0" bIns="0" rtlCol="0" anchor="ctr">
            <a:normAutofit/>
          </a:bodyPr>
          <a:lstStyle/>
          <a:p>
            <a:pPr indent="0" marL="0">
              <a:buNone/>
            </a:pPr>
            <a:r>
              <a:rPr lang="en-US" sz="1100" dirty="0">
                <a:solidFill>
                  <a:srgbClr val="12161C"/>
                </a:solidFill>
              </a:rPr>
              <a:t>React Native / Flutter</a:t>
            </a:r>
            <a:endParaRPr lang="en-US" sz="1100" dirty="0"/>
          </a:p>
        </p:txBody>
      </p:sp>
      <p:sp>
        <p:nvSpPr>
          <p:cNvPr id="27" name="Shape 24"/>
          <p:cNvSpPr/>
          <p:nvPr/>
        </p:nvSpPr>
        <p:spPr>
          <a:xfrm>
            <a:off x="731520" y="3730752"/>
            <a:ext cx="2057400" cy="530352"/>
          </a:xfrm>
          <a:prstGeom prst="rect">
            <a:avLst/>
          </a:prstGeom>
          <a:solidFill>
            <a:srgbClr val="FFFFFF"/>
          </a:solidFill>
          <a:ln w="6350">
            <a:solidFill>
              <a:srgbClr val="E7E4DE"/>
            </a:solidFill>
            <a:prstDash val="solid"/>
          </a:ln>
        </p:spPr>
        <p:txBody>
          <a:bodyPr/>
          <a:p/>
        </p:txBody>
      </p:sp>
      <p:sp>
        <p:nvSpPr>
          <p:cNvPr id="28" name="Text 25"/>
          <p:cNvSpPr/>
          <p:nvPr/>
        </p:nvSpPr>
        <p:spPr>
          <a:xfrm>
            <a:off x="841248" y="3886200"/>
            <a:ext cx="1837944" cy="182880"/>
          </a:xfrm>
          <a:prstGeom prst="rect">
            <a:avLst/>
          </a:prstGeom>
          <a:noFill/>
          <a:ln/>
        </p:spPr>
        <p:txBody>
          <a:bodyPr wrap="square" lIns="0" tIns="0" rIns="0" bIns="0" rtlCol="0" anchor="ctr">
            <a:normAutofit/>
          </a:bodyPr>
          <a:lstStyle/>
          <a:p>
            <a:pPr indent="0" marL="0">
              <a:buNone/>
            </a:pPr>
            <a:r>
              <a:rPr lang="en-US" sz="1100" dirty="0">
                <a:solidFill>
                  <a:srgbClr val="12161C"/>
                </a:solidFill>
              </a:rPr>
              <a:t>iOS</a:t>
            </a:r>
            <a:endParaRPr lang="en-US" sz="1100" dirty="0"/>
          </a:p>
        </p:txBody>
      </p:sp>
      <p:sp>
        <p:nvSpPr>
          <p:cNvPr id="29" name="Shape 26"/>
          <p:cNvSpPr/>
          <p:nvPr/>
        </p:nvSpPr>
        <p:spPr>
          <a:xfrm>
            <a:off x="3291840" y="3730752"/>
            <a:ext cx="2468880" cy="530352"/>
          </a:xfrm>
          <a:prstGeom prst="rect">
            <a:avLst/>
          </a:prstGeom>
          <a:solidFill>
            <a:srgbClr val="FFFFFF"/>
          </a:solidFill>
          <a:ln w="6350">
            <a:solidFill>
              <a:srgbClr val="E7E4DE"/>
            </a:solidFill>
            <a:prstDash val="solid"/>
          </a:ln>
        </p:spPr>
        <p:txBody>
          <a:bodyPr/>
          <a:p/>
        </p:txBody>
      </p:sp>
      <p:sp>
        <p:nvSpPr>
          <p:cNvPr id="30" name="Text 27"/>
          <p:cNvSpPr/>
          <p:nvPr/>
        </p:nvSpPr>
        <p:spPr>
          <a:xfrm>
            <a:off x="3401568" y="3886200"/>
            <a:ext cx="2249424" cy="182880"/>
          </a:xfrm>
          <a:prstGeom prst="rect">
            <a:avLst/>
          </a:prstGeom>
          <a:noFill/>
          <a:ln/>
        </p:spPr>
        <p:txBody>
          <a:bodyPr wrap="square" lIns="0" tIns="0" rIns="0" bIns="0" rtlCol="0" anchor="ctr">
            <a:normAutofit/>
          </a:bodyPr>
          <a:lstStyle/>
          <a:p>
            <a:pPr indent="0" marL="0">
              <a:buNone/>
            </a:pPr>
            <a:r>
              <a:rPr lang="en-US" sz="1100" dirty="0">
                <a:solidFill>
                  <a:srgbClr val="12161C"/>
                </a:solidFill>
              </a:rPr>
              <a:t>Swift</a:t>
            </a:r>
            <a:endParaRPr lang="en-US" sz="1100" dirty="0"/>
          </a:p>
        </p:txBody>
      </p:sp>
      <p:sp>
        <p:nvSpPr>
          <p:cNvPr id="31" name="Shape 28"/>
          <p:cNvSpPr/>
          <p:nvPr/>
        </p:nvSpPr>
        <p:spPr>
          <a:xfrm>
            <a:off x="6446520" y="3730752"/>
            <a:ext cx="3977640" cy="530352"/>
          </a:xfrm>
          <a:prstGeom prst="rect">
            <a:avLst/>
          </a:prstGeom>
          <a:solidFill>
            <a:srgbClr val="FFFFFF"/>
          </a:solidFill>
          <a:ln w="6350">
            <a:solidFill>
              <a:srgbClr val="E7E4DE"/>
            </a:solidFill>
            <a:prstDash val="solid"/>
          </a:ln>
        </p:spPr>
        <p:txBody>
          <a:bodyPr/>
          <a:p/>
        </p:txBody>
      </p:sp>
      <p:sp>
        <p:nvSpPr>
          <p:cNvPr id="32" name="Text 29"/>
          <p:cNvSpPr/>
          <p:nvPr/>
        </p:nvSpPr>
        <p:spPr>
          <a:xfrm>
            <a:off x="6556248" y="3886200"/>
            <a:ext cx="3758184" cy="182880"/>
          </a:xfrm>
          <a:prstGeom prst="rect">
            <a:avLst/>
          </a:prstGeom>
          <a:noFill/>
          <a:ln/>
        </p:spPr>
        <p:txBody>
          <a:bodyPr wrap="square" lIns="0" tIns="0" rIns="0" bIns="0" rtlCol="0" anchor="ctr">
            <a:normAutofit/>
          </a:bodyPr>
          <a:lstStyle/>
          <a:p>
            <a:pPr indent="0" marL="0">
              <a:buNone/>
            </a:pPr>
            <a:r>
              <a:rPr lang="en-US" sz="1100" dirty="0">
                <a:solidFill>
                  <a:srgbClr val="12161C"/>
                </a:solidFill>
              </a:rPr>
              <a:t>React Native / Flutter</a:t>
            </a:r>
            <a:endParaRPr lang="en-US" sz="1100" dirty="0"/>
          </a:p>
        </p:txBody>
      </p:sp>
      <p:sp>
        <p:nvSpPr>
          <p:cNvPr id="33" name="Shape 30"/>
          <p:cNvSpPr/>
          <p:nvPr/>
        </p:nvSpPr>
        <p:spPr>
          <a:xfrm>
            <a:off x="731520" y="4389120"/>
            <a:ext cx="2057400" cy="530352"/>
          </a:xfrm>
          <a:prstGeom prst="rect">
            <a:avLst/>
          </a:prstGeom>
          <a:solidFill>
            <a:srgbClr val="F6F7F9"/>
          </a:solidFill>
          <a:ln w="6350">
            <a:solidFill>
              <a:srgbClr val="E7E4DE"/>
            </a:solidFill>
            <a:prstDash val="solid"/>
          </a:ln>
        </p:spPr>
        <p:txBody>
          <a:bodyPr/>
          <a:p/>
        </p:txBody>
      </p:sp>
      <p:sp>
        <p:nvSpPr>
          <p:cNvPr id="34" name="Text 31"/>
          <p:cNvSpPr/>
          <p:nvPr/>
        </p:nvSpPr>
        <p:spPr>
          <a:xfrm>
            <a:off x="841248" y="4544568"/>
            <a:ext cx="1837944" cy="182880"/>
          </a:xfrm>
          <a:prstGeom prst="rect">
            <a:avLst/>
          </a:prstGeom>
          <a:noFill/>
          <a:ln/>
        </p:spPr>
        <p:txBody>
          <a:bodyPr wrap="square" lIns="0" tIns="0" rIns="0" bIns="0" rtlCol="0" anchor="ctr">
            <a:normAutofit/>
          </a:bodyPr>
          <a:lstStyle/>
          <a:p>
            <a:pPr indent="0" marL="0">
              <a:buNone/>
            </a:pPr>
            <a:r>
              <a:rPr lang="en-US" sz="1100" dirty="0">
                <a:solidFill>
                  <a:srgbClr val="12161C"/>
                </a:solidFill>
              </a:rPr>
              <a:t>Código</a:t>
            </a:r>
            <a:endParaRPr lang="en-US" sz="1100" dirty="0"/>
          </a:p>
        </p:txBody>
      </p:sp>
      <p:sp>
        <p:nvSpPr>
          <p:cNvPr id="35" name="Shape 32"/>
          <p:cNvSpPr/>
          <p:nvPr/>
        </p:nvSpPr>
        <p:spPr>
          <a:xfrm>
            <a:off x="3291840" y="4389120"/>
            <a:ext cx="2468880" cy="530352"/>
          </a:xfrm>
          <a:prstGeom prst="rect">
            <a:avLst/>
          </a:prstGeom>
          <a:solidFill>
            <a:srgbClr val="F6F7F9"/>
          </a:solidFill>
          <a:ln w="6350">
            <a:solidFill>
              <a:srgbClr val="E7E4DE"/>
            </a:solidFill>
            <a:prstDash val="solid"/>
          </a:ln>
        </p:spPr>
        <p:txBody>
          <a:bodyPr/>
          <a:p/>
        </p:txBody>
      </p:sp>
      <p:sp>
        <p:nvSpPr>
          <p:cNvPr id="36" name="Text 33"/>
          <p:cNvSpPr/>
          <p:nvPr/>
        </p:nvSpPr>
        <p:spPr>
          <a:xfrm>
            <a:off x="3401568" y="4544568"/>
            <a:ext cx="2249424" cy="182880"/>
          </a:xfrm>
          <a:prstGeom prst="rect">
            <a:avLst/>
          </a:prstGeom>
          <a:noFill/>
          <a:ln/>
        </p:spPr>
        <p:txBody>
          <a:bodyPr wrap="square" lIns="0" tIns="0" rIns="0" bIns="0" rtlCol="0" anchor="ctr">
            <a:normAutofit/>
          </a:bodyPr>
          <a:lstStyle/>
          <a:p>
            <a:pPr indent="0" marL="0">
              <a:buNone/>
            </a:pPr>
            <a:r>
              <a:rPr lang="en-US" sz="1100" dirty="0">
                <a:solidFill>
                  <a:srgbClr val="12161C"/>
                </a:solidFill>
              </a:rPr>
              <a:t>Mais específico</a:t>
            </a:r>
            <a:endParaRPr lang="en-US" sz="1100" dirty="0"/>
          </a:p>
        </p:txBody>
      </p:sp>
      <p:sp>
        <p:nvSpPr>
          <p:cNvPr id="37" name="Shape 34"/>
          <p:cNvSpPr/>
          <p:nvPr/>
        </p:nvSpPr>
        <p:spPr>
          <a:xfrm>
            <a:off x="6446520" y="4389120"/>
            <a:ext cx="3977640" cy="530352"/>
          </a:xfrm>
          <a:prstGeom prst="rect">
            <a:avLst/>
          </a:prstGeom>
          <a:solidFill>
            <a:srgbClr val="F6F7F9"/>
          </a:solidFill>
          <a:ln w="6350">
            <a:solidFill>
              <a:srgbClr val="E7E4DE"/>
            </a:solidFill>
            <a:prstDash val="solid"/>
          </a:ln>
        </p:spPr>
        <p:txBody>
          <a:bodyPr/>
          <a:p/>
        </p:txBody>
      </p:sp>
      <p:sp>
        <p:nvSpPr>
          <p:cNvPr id="38" name="Text 35"/>
          <p:cNvSpPr/>
          <p:nvPr/>
        </p:nvSpPr>
        <p:spPr>
          <a:xfrm>
            <a:off x="6556248" y="4544568"/>
            <a:ext cx="3758184" cy="182880"/>
          </a:xfrm>
          <a:prstGeom prst="rect">
            <a:avLst/>
          </a:prstGeom>
          <a:noFill/>
          <a:ln/>
        </p:spPr>
        <p:txBody>
          <a:bodyPr wrap="square" lIns="0" tIns="0" rIns="0" bIns="0" rtlCol="0" anchor="ctr">
            <a:normAutofit/>
          </a:bodyPr>
          <a:lstStyle/>
          <a:p>
            <a:pPr indent="0" marL="0">
              <a:buNone/>
            </a:pPr>
            <a:r>
              <a:rPr lang="en-US" sz="1100" dirty="0">
                <a:solidFill>
                  <a:srgbClr val="12161C"/>
                </a:solidFill>
              </a:rPr>
              <a:t>Maior reaproveitamento</a:t>
            </a:r>
            <a:endParaRPr lang="en-US" sz="1100" dirty="0"/>
          </a:p>
        </p:txBody>
      </p:sp>
      <p:sp>
        <p:nvSpPr>
          <p:cNvPr id="39" name="Shape 36"/>
          <p:cNvSpPr/>
          <p:nvPr/>
        </p:nvSpPr>
        <p:spPr>
          <a:xfrm>
            <a:off x="731520" y="5047488"/>
            <a:ext cx="2057400" cy="530352"/>
          </a:xfrm>
          <a:prstGeom prst="rect">
            <a:avLst/>
          </a:prstGeom>
          <a:solidFill>
            <a:srgbClr val="FFFFFF"/>
          </a:solidFill>
          <a:ln w="6350">
            <a:solidFill>
              <a:srgbClr val="E7E4DE"/>
            </a:solidFill>
            <a:prstDash val="solid"/>
          </a:ln>
        </p:spPr>
        <p:txBody>
          <a:bodyPr/>
          <a:p/>
        </p:txBody>
      </p:sp>
      <p:sp>
        <p:nvSpPr>
          <p:cNvPr id="40" name="Text 37"/>
          <p:cNvSpPr/>
          <p:nvPr/>
        </p:nvSpPr>
        <p:spPr>
          <a:xfrm>
            <a:off x="841248" y="5202936"/>
            <a:ext cx="1837944" cy="182880"/>
          </a:xfrm>
          <a:prstGeom prst="rect">
            <a:avLst/>
          </a:prstGeom>
          <a:noFill/>
          <a:ln/>
        </p:spPr>
        <p:txBody>
          <a:bodyPr wrap="square" lIns="0" tIns="0" rIns="0" bIns="0" rtlCol="0" anchor="ctr">
            <a:normAutofit/>
          </a:bodyPr>
          <a:lstStyle/>
          <a:p>
            <a:pPr indent="0" marL="0">
              <a:buNone/>
            </a:pPr>
            <a:r>
              <a:rPr lang="en-US" sz="1100" dirty="0">
                <a:solidFill>
                  <a:srgbClr val="12161C"/>
                </a:solidFill>
              </a:rPr>
              <a:t>Uso ideal</a:t>
            </a:r>
            <a:endParaRPr lang="en-US" sz="1100" dirty="0"/>
          </a:p>
        </p:txBody>
      </p:sp>
      <p:sp>
        <p:nvSpPr>
          <p:cNvPr id="41" name="Shape 38"/>
          <p:cNvSpPr/>
          <p:nvPr/>
        </p:nvSpPr>
        <p:spPr>
          <a:xfrm>
            <a:off x="3291840" y="5047488"/>
            <a:ext cx="2468880" cy="530352"/>
          </a:xfrm>
          <a:prstGeom prst="rect">
            <a:avLst/>
          </a:prstGeom>
          <a:solidFill>
            <a:srgbClr val="FFFFFF"/>
          </a:solidFill>
          <a:ln w="6350">
            <a:solidFill>
              <a:srgbClr val="E7E4DE"/>
            </a:solidFill>
            <a:prstDash val="solid"/>
          </a:ln>
        </p:spPr>
        <p:txBody>
          <a:bodyPr/>
          <a:p/>
        </p:txBody>
      </p:sp>
      <p:sp>
        <p:nvSpPr>
          <p:cNvPr id="42" name="Text 39"/>
          <p:cNvSpPr/>
          <p:nvPr/>
        </p:nvSpPr>
        <p:spPr>
          <a:xfrm>
            <a:off x="3401568" y="5202936"/>
            <a:ext cx="2249424" cy="182880"/>
          </a:xfrm>
          <a:prstGeom prst="rect">
            <a:avLst/>
          </a:prstGeom>
          <a:noFill/>
          <a:ln/>
        </p:spPr>
        <p:txBody>
          <a:bodyPr wrap="square" lIns="0" tIns="0" rIns="0" bIns="0" rtlCol="0" anchor="ctr">
            <a:normAutofit/>
          </a:bodyPr>
          <a:lstStyle/>
          <a:p>
            <a:pPr indent="0" marL="0">
              <a:buNone/>
            </a:pPr>
            <a:r>
              <a:rPr lang="en-US" sz="1100" dirty="0">
                <a:solidFill>
                  <a:srgbClr val="12161C"/>
                </a:solidFill>
              </a:rPr>
              <a:t>Quando a plataforma importa muito</a:t>
            </a:r>
            <a:endParaRPr lang="en-US" sz="1100" dirty="0"/>
          </a:p>
        </p:txBody>
      </p:sp>
      <p:sp>
        <p:nvSpPr>
          <p:cNvPr id="43" name="Shape 40"/>
          <p:cNvSpPr/>
          <p:nvPr/>
        </p:nvSpPr>
        <p:spPr>
          <a:xfrm>
            <a:off x="6446520" y="5047488"/>
            <a:ext cx="3977640" cy="530352"/>
          </a:xfrm>
          <a:prstGeom prst="rect">
            <a:avLst/>
          </a:prstGeom>
          <a:solidFill>
            <a:srgbClr val="FFFFFF"/>
          </a:solidFill>
          <a:ln w="6350">
            <a:solidFill>
              <a:srgbClr val="E7E4DE"/>
            </a:solidFill>
            <a:prstDash val="solid"/>
          </a:ln>
        </p:spPr>
        <p:txBody>
          <a:bodyPr/>
          <a:p/>
        </p:txBody>
      </p:sp>
      <p:sp>
        <p:nvSpPr>
          <p:cNvPr id="44" name="Text 41"/>
          <p:cNvSpPr/>
          <p:nvPr/>
        </p:nvSpPr>
        <p:spPr>
          <a:xfrm>
            <a:off x="6556248" y="5202936"/>
            <a:ext cx="3758184" cy="182880"/>
          </a:xfrm>
          <a:prstGeom prst="rect">
            <a:avLst/>
          </a:prstGeom>
          <a:noFill/>
          <a:ln/>
        </p:spPr>
        <p:txBody>
          <a:bodyPr wrap="square" lIns="0" tIns="0" rIns="0" bIns="0" rtlCol="0" anchor="ctr">
            <a:normAutofit/>
          </a:bodyPr>
          <a:lstStyle/>
          <a:p>
            <a:pPr indent="0" marL="0">
              <a:buNone/>
            </a:pPr>
            <a:r>
              <a:rPr lang="en-US" sz="1100" dirty="0">
                <a:solidFill>
                  <a:srgbClr val="12161C"/>
                </a:solidFill>
              </a:rPr>
              <a:t>Quando precisamos lançar rápido em mais plataformas</a:t>
            </a:r>
            <a:endParaRPr lang="en-US" sz="1100" dirty="0"/>
          </a:p>
        </p:txBody>
      </p:sp>
      <p:sp>
        <p:nvSpPr>
          <p:cNvPr id="46" name="Shape 42"/>
          <p:cNvSpPr/>
          <p:nvPr/>
        </p:nvSpPr>
        <p:spPr>
          <a:xfrm>
            <a:off x="621792" y="6455664"/>
            <a:ext cx="11018520" cy="0"/>
          </a:xfrm>
          <a:prstGeom prst="line">
            <a:avLst/>
          </a:prstGeom>
          <a:noFill/>
          <a:ln w="12700">
            <a:solidFill>
              <a:srgbClr val="E7E4DE"/>
            </a:solidFill>
            <a:prstDash val="solid"/>
          </a:ln>
        </p:spPr>
        <p:txBody>
          <a:bodyPr/>
          <a:p/>
        </p:txBody>
      </p:sp>
      <p:sp>
        <p:nvSpPr>
          <p:cNvPr id="47" name="Text 43"/>
          <p:cNvSpPr/>
          <p:nvPr/>
        </p:nvSpPr>
        <p:spPr>
          <a:xfrm>
            <a:off x="621792" y="6537960"/>
            <a:ext cx="2194560" cy="182880"/>
          </a:xfrm>
          <a:prstGeom prst="rect">
            <a:avLst/>
          </a:prstGeom>
          <a:noFill/>
          <a:ln/>
        </p:spPr>
        <p:txBody>
          <a:bodyPr wrap="square" lIns="0" tIns="0" rIns="0" bIns="0" rtlCol="0" anchor="ctr"/>
          <a:lstStyle/>
          <a:p>
            <a:pPr indent="0" marL="0">
              <a:buNone/>
            </a:pPr>
            <a:r>
              <a:rPr lang="en-US" sz="850" dirty="0">
                <a:solidFill>
                  <a:srgbClr val="5A6472"/>
                </a:solidFill>
              </a:rPr>
              <a:t>Emanuel Nascente</a:t>
            </a:r>
            <a:endParaRPr lang="en-US" sz="850" dirty="0"/>
          </a:p>
        </p:txBody>
      </p:sp>
      <p:sp>
        <p:nvSpPr>
          <p:cNvPr id="48" name="Text 44"/>
          <p:cNvSpPr/>
          <p:nvPr/>
        </p:nvSpPr>
        <p:spPr>
          <a:xfrm>
            <a:off x="11064240" y="6519672"/>
            <a:ext cx="548640" cy="228600"/>
          </a:xfrm>
          <a:prstGeom prst="rect">
            <a:avLst/>
          </a:prstGeom>
          <a:noFill/>
          <a:ln/>
        </p:spPr>
        <p:txBody>
          <a:bodyPr wrap="square" lIns="0" tIns="0" rIns="0" bIns="0" rtlCol="0" anchor="ctr"/>
          <a:lstStyle/>
          <a:p>
            <a:pPr algn="r" indent="0" marL="0">
              <a:buNone/>
            </a:pPr>
            <a:r>
              <a:rPr sz="850" b="1">
                <a:solidFill>
                  <a:srgbClr val="5A6472"/>
                </a:solidFill>
              </a:rPr>
              <a:t>12</a:t>
            </a:r>
            <a:endParaRPr lang="en-US" sz="85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0"/>
          <p:cNvSpPr/>
          <p:nvPr/>
        </p:nvSpPr>
        <p:spPr>
          <a:xfrm>
            <a:off x="0" y="0"/>
            <a:ext cx="164592" cy="6858000"/>
          </a:xfrm>
          <a:prstGeom prst="rect">
            <a:avLst/>
          </a:prstGeom>
          <a:solidFill>
            <a:srgbClr val="D71920"/>
          </a:solidFill>
          <a:ln w="12700">
            <a:solidFill>
              <a:srgbClr val="D71920"/>
            </a:solidFill>
            <a:prstDash val="solid"/>
          </a:ln>
        </p:spPr>
        <p:txBody>
          <a:bodyPr/>
          <a:p/>
        </p:txBody>
      </p:sp>
      <p:sp>
        <p:nvSpPr>
          <p:cNvPr id="3" name="Shape 1"/>
          <p:cNvSpPr/>
          <p:nvPr/>
        </p:nvSpPr>
        <p:spPr>
          <a:xfrm>
            <a:off x="164592" y="0"/>
            <a:ext cx="54864" cy="6858000"/>
          </a:xfrm>
          <a:prstGeom prst="rect">
            <a:avLst/>
          </a:prstGeom>
          <a:solidFill>
            <a:srgbClr val="FFD322"/>
          </a:solidFill>
          <a:ln w="12700">
            <a:solidFill>
              <a:srgbClr val="FFD322"/>
            </a:solidFill>
            <a:prstDash val="solid"/>
          </a:ln>
        </p:spPr>
        <p:txBody>
          <a:bodyPr/>
          <a:p/>
        </p:txBody>
      </p:sp>
      <p:sp>
        <p:nvSpPr>
          <p:cNvPr id="4" name="Text 2"/>
          <p:cNvSpPr/>
          <p:nvPr/>
        </p:nvSpPr>
        <p:spPr>
          <a:xfrm>
            <a:off x="438912" y="210312"/>
            <a:ext cx="2103120" cy="256032"/>
          </a:xfrm>
          <a:prstGeom prst="rect">
            <a:avLst/>
          </a:prstGeom>
          <a:noFill/>
          <a:ln/>
        </p:spPr>
        <p:txBody>
          <a:bodyPr wrap="square" lIns="0" tIns="0" rIns="0" bIns="0" rtlCol="0" anchor="ctr"/>
          <a:lstStyle/>
          <a:p>
            <a:pPr indent="0" marL="0">
              <a:buNone/>
            </a:pPr>
            <a:r>
              <a:rPr lang="en-US" sz="950" b="1" dirty="0">
                <a:solidFill>
                  <a:srgbClr val="D71920"/>
                </a:solidFill>
                <a:latin typeface="Aptos" pitchFamily="34" charset="0"/>
                <a:ea typeface="Aptos" pitchFamily="34" charset="-122"/>
                <a:cs typeface="Aptos" pitchFamily="34" charset="-120"/>
              </a:rPr>
              <a:t>Aula 01</a:t>
            </a:r>
            <a:endParaRPr lang="en-US" sz="950" dirty="0"/>
          </a:p>
        </p:txBody>
      </p:sp>
      <p:sp>
        <p:nvSpPr>
          <p:cNvPr id="5" name="Text 3"/>
          <p:cNvSpPr/>
          <p:nvPr/>
        </p:nvSpPr>
        <p:spPr>
          <a:xfrm>
            <a:off x="2788920" y="210312"/>
            <a:ext cx="2743200" cy="256032"/>
          </a:xfrm>
          <a:prstGeom prst="rect">
            <a:avLst/>
          </a:prstGeom>
          <a:noFill/>
          <a:ln/>
        </p:spPr>
        <p:txBody>
          <a:bodyPr wrap="square" lIns="0" tIns="0" rIns="0" bIns="0" rtlCol="0" anchor="ctr"/>
          <a:lstStyle/>
          <a:p>
            <a:pPr indent="0" marL="0">
              <a:buNone/>
            </a:pPr>
            <a:r>
              <a:rPr lang="en-US" sz="950" dirty="0">
                <a:solidFill>
                  <a:srgbClr val="5A6472"/>
                </a:solidFill>
              </a:rPr>
              <a:t>Desenvolvimento Mobile</a:t>
            </a:r>
            <a:endParaRPr lang="en-US" sz="950" dirty="0"/>
          </a:p>
        </p:txBody>
      </p:sp>
      <p:sp>
        <p:nvSpPr>
          <p:cNvPr id="7" name="Text 4"/>
          <p:cNvSpPr/>
          <p:nvPr/>
        </p:nvSpPr>
        <p:spPr>
          <a:xfrm>
            <a:off x="502920" y="749808"/>
            <a:ext cx="8503920" cy="530352"/>
          </a:xfrm>
          <a:prstGeom prst="rect">
            <a:avLst/>
          </a:prstGeom>
          <a:noFill/>
          <a:ln/>
        </p:spPr>
        <p:txBody>
          <a:bodyPr wrap="square" lIns="0" tIns="0" rIns="0" bIns="0" rtlCol="0" anchor="ctr">
            <a:normAutofit/>
          </a:bodyPr>
          <a:lstStyle/>
          <a:p>
            <a:pPr indent="0" marL="0">
              <a:buNone/>
            </a:pPr>
            <a:r>
              <a:rPr sz="3000" b="1">
                <a:solidFill>
                  <a:srgbClr val="12161C"/>
                </a:solidFill>
                <a:latin typeface="Aptos Display"/>
              </a:rPr>
              <a:t>Mitos que vamos desfazer</a:t>
            </a:r>
            <a:endParaRPr lang="en-US" sz="3000" dirty="0"/>
          </a:p>
        </p:txBody>
      </p:sp>
      <p:sp>
        <p:nvSpPr>
          <p:cNvPr id="46" name="Shape 42"/>
          <p:cNvSpPr/>
          <p:nvPr/>
        </p:nvSpPr>
        <p:spPr>
          <a:xfrm>
            <a:off x="621792" y="6455664"/>
            <a:ext cx="11018520" cy="0"/>
          </a:xfrm>
          <a:prstGeom prst="line">
            <a:avLst/>
          </a:prstGeom>
          <a:noFill/>
          <a:ln w="12700">
            <a:solidFill>
              <a:srgbClr val="E7E4DE"/>
            </a:solidFill>
            <a:prstDash val="solid"/>
          </a:ln>
        </p:spPr>
        <p:txBody>
          <a:bodyPr/>
          <a:p/>
        </p:txBody>
      </p:sp>
      <p:sp>
        <p:nvSpPr>
          <p:cNvPr id="47" name="Text 43"/>
          <p:cNvSpPr/>
          <p:nvPr/>
        </p:nvSpPr>
        <p:spPr>
          <a:xfrm>
            <a:off x="621792" y="6537960"/>
            <a:ext cx="2194560" cy="182880"/>
          </a:xfrm>
          <a:prstGeom prst="rect">
            <a:avLst/>
          </a:prstGeom>
          <a:noFill/>
          <a:ln/>
        </p:spPr>
        <p:txBody>
          <a:bodyPr wrap="square" lIns="0" tIns="0" rIns="0" bIns="0" rtlCol="0" anchor="ctr"/>
          <a:lstStyle/>
          <a:p>
            <a:pPr indent="0" marL="0">
              <a:buNone/>
            </a:pPr>
            <a:r>
              <a:rPr lang="en-US" sz="850" dirty="0">
                <a:solidFill>
                  <a:srgbClr val="5A6472"/>
                </a:solidFill>
              </a:rPr>
              <a:t>Emanuel Nascente</a:t>
            </a:r>
            <a:endParaRPr lang="en-US" sz="850" dirty="0"/>
          </a:p>
        </p:txBody>
      </p:sp>
      <p:sp>
        <p:nvSpPr>
          <p:cNvPr id="48" name="Text 44"/>
          <p:cNvSpPr/>
          <p:nvPr/>
        </p:nvSpPr>
        <p:spPr>
          <a:xfrm>
            <a:off x="11064240" y="6519672"/>
            <a:ext cx="548640" cy="228600"/>
          </a:xfrm>
          <a:prstGeom prst="rect">
            <a:avLst/>
          </a:prstGeom>
          <a:noFill/>
          <a:ln/>
        </p:spPr>
        <p:txBody>
          <a:bodyPr wrap="square" lIns="0" tIns="0" rIns="0" bIns="0" rtlCol="0" anchor="ctr"/>
          <a:lstStyle/>
          <a:p>
            <a:pPr algn="r" indent="0" marL="0">
              <a:buNone/>
            </a:pPr>
            <a:r>
              <a:rPr sz="850" b="1">
                <a:solidFill>
                  <a:srgbClr val="5A6472"/>
                </a:solidFill>
              </a:rPr>
              <a:t>13</a:t>
            </a:r>
            <a:endParaRPr lang="en-US" sz="850" dirty="0"/>
          </a:p>
        </p:txBody>
      </p:sp>
      <p:pic>
        <p:nvPicPr>
          <p:cNvPr id="49" name="Picture 48" descr="image.png"/>
          <p:cNvPicPr>
            <a:picLocks noChangeAspect="1"/>
          </p:cNvPicPr>
          <p:nvPr/>
        </p:nvPicPr>
        <p:blipFill>
          <a:blip r:embed="rId2"/>
          <a:stretch>
            <a:fillRect/>
          </a:stretch>
        </p:blipFill>
        <p:spPr>
          <a:xfrm>
            <a:off x="10744200" y="128016"/>
            <a:ext cx="987552" cy="685800"/>
          </a:xfrm>
          <a:prstGeom prst="rect">
            <a:avLst/>
          </a:prstGeom>
        </p:spPr>
      </p:pic>
      <p:sp>
        <p:nvSpPr>
          <p:cNvPr id="50" name="TextBox 49"/>
          <p:cNvSpPr txBox="1"/>
          <p:nvPr/>
        </p:nvSpPr>
        <p:spPr>
          <a:xfrm>
            <a:off x="868680" y="1371600"/>
            <a:ext cx="8686800" cy="292608"/>
          </a:xfrm>
          <a:prstGeom prst="rect">
            <a:avLst/>
          </a:prstGeom>
          <a:noFill/>
        </p:spPr>
        <p:txBody>
          <a:bodyPr wrap="square" anchor="t">
            <a:spAutoFit/>
          </a:bodyPr>
          <a:lstStyle/>
          <a:p>
            <a:pPr algn="l"/>
            <a:r>
              <a:rPr sz="1300" b="0">
                <a:solidFill>
                  <a:srgbClr val="5A6472"/>
                </a:solidFill>
                <a:latin typeface="Aptos"/>
              </a:rPr>
              <a:t>Frases comuns que não sobrevivem a um projeto real.</a:t>
            </a:r>
          </a:p>
        </p:txBody>
      </p:sp>
      <p:sp>
        <p:nvSpPr>
          <p:cNvPr id="51" name="Rounded Rectangle 50"/>
          <p:cNvSpPr/>
          <p:nvPr/>
        </p:nvSpPr>
        <p:spPr>
          <a:xfrm>
            <a:off x="868680" y="1965960"/>
            <a:ext cx="5138928" cy="1170432"/>
          </a:xfrm>
          <a:prstGeom prst="roundRect">
            <a:avLst>
              <a:gd name="adj" fmla="val 6000"/>
            </a:avLst>
          </a:prstGeom>
          <a:solidFill>
            <a:srgbClr val="F6F7F9"/>
          </a:solidFill>
          <a:ln w="12700">
            <a:solidFill>
              <a:srgbClr val="E3E7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69848" y="2240279"/>
            <a:ext cx="237744" cy="237744"/>
          </a:xfrm>
          <a:prstGeom prst="ellipse">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900" b="1">
                <a:solidFill>
                  <a:srgbClr val="FFFFFF"/>
                </a:solidFill>
              </a:rPr>
              <a:t>✕</a:t>
            </a:r>
          </a:p>
        </p:txBody>
      </p:sp>
      <p:sp>
        <p:nvSpPr>
          <p:cNvPr id="53" name="TextBox 52"/>
          <p:cNvSpPr txBox="1"/>
          <p:nvPr/>
        </p:nvSpPr>
        <p:spPr>
          <a:xfrm>
            <a:off x="1417319" y="2148840"/>
            <a:ext cx="4361688" cy="384048"/>
          </a:xfrm>
          <a:prstGeom prst="rect">
            <a:avLst/>
          </a:prstGeom>
          <a:noFill/>
        </p:spPr>
        <p:txBody>
          <a:bodyPr wrap="square" anchor="t">
            <a:spAutoFit/>
          </a:bodyPr>
          <a:lstStyle/>
          <a:p>
            <a:pPr algn="l"/>
            <a:r>
              <a:rPr sz="1250" b="1">
                <a:solidFill>
                  <a:srgbClr val="12161C"/>
                </a:solidFill>
                <a:latin typeface="Aptos"/>
              </a:rPr>
              <a:t>“Nativo é sempre mais rápido”</a:t>
            </a:r>
          </a:p>
        </p:txBody>
      </p:sp>
      <p:sp>
        <p:nvSpPr>
          <p:cNvPr id="54" name="TextBox 53"/>
          <p:cNvSpPr txBox="1"/>
          <p:nvPr/>
        </p:nvSpPr>
        <p:spPr>
          <a:xfrm>
            <a:off x="1417319" y="2587752"/>
            <a:ext cx="4361688" cy="420624"/>
          </a:xfrm>
          <a:prstGeom prst="rect">
            <a:avLst/>
          </a:prstGeom>
          <a:noFill/>
        </p:spPr>
        <p:txBody>
          <a:bodyPr wrap="square" anchor="t">
            <a:spAutoFit/>
          </a:bodyPr>
          <a:lstStyle/>
          <a:p>
            <a:pPr algn="l"/>
            <a:r>
              <a:rPr sz="1100" b="0">
                <a:solidFill>
                  <a:srgbClr val="5A6472"/>
                </a:solidFill>
                <a:latin typeface="Aptos"/>
              </a:rPr>
              <a:t>Depende do app e de quem escreveu.</a:t>
            </a:r>
          </a:p>
        </p:txBody>
      </p:sp>
      <p:sp>
        <p:nvSpPr>
          <p:cNvPr id="55" name="Rounded Rectangle 54"/>
          <p:cNvSpPr/>
          <p:nvPr/>
        </p:nvSpPr>
        <p:spPr>
          <a:xfrm>
            <a:off x="6208776" y="1965960"/>
            <a:ext cx="5138928" cy="1170432"/>
          </a:xfrm>
          <a:prstGeom prst="roundRect">
            <a:avLst>
              <a:gd name="adj" fmla="val 6000"/>
            </a:avLst>
          </a:prstGeom>
          <a:solidFill>
            <a:srgbClr val="F6F7F9"/>
          </a:solidFill>
          <a:ln w="12700">
            <a:solidFill>
              <a:srgbClr val="E3E7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6409944" y="2240279"/>
            <a:ext cx="237744" cy="237744"/>
          </a:xfrm>
          <a:prstGeom prst="ellipse">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900" b="1">
                <a:solidFill>
                  <a:srgbClr val="FFFFFF"/>
                </a:solidFill>
              </a:rPr>
              <a:t>✕</a:t>
            </a:r>
          </a:p>
        </p:txBody>
      </p:sp>
      <p:sp>
        <p:nvSpPr>
          <p:cNvPr id="57" name="TextBox 56"/>
          <p:cNvSpPr txBox="1"/>
          <p:nvPr/>
        </p:nvSpPr>
        <p:spPr>
          <a:xfrm>
            <a:off x="6757416" y="2148840"/>
            <a:ext cx="4361688" cy="384048"/>
          </a:xfrm>
          <a:prstGeom prst="rect">
            <a:avLst/>
          </a:prstGeom>
          <a:noFill/>
        </p:spPr>
        <p:txBody>
          <a:bodyPr wrap="square" anchor="t">
            <a:spAutoFit/>
          </a:bodyPr>
          <a:lstStyle/>
          <a:p>
            <a:pPr algn="l"/>
            <a:r>
              <a:rPr sz="1250" b="1">
                <a:solidFill>
                  <a:srgbClr val="12161C"/>
                </a:solidFill>
                <a:latin typeface="Aptos"/>
              </a:rPr>
              <a:t>“Híbrido não acessa câmera nem GPS”</a:t>
            </a:r>
          </a:p>
        </p:txBody>
      </p:sp>
      <p:sp>
        <p:nvSpPr>
          <p:cNvPr id="58" name="TextBox 57"/>
          <p:cNvSpPr txBox="1"/>
          <p:nvPr/>
        </p:nvSpPr>
        <p:spPr>
          <a:xfrm>
            <a:off x="6757416" y="2587752"/>
            <a:ext cx="4361688" cy="420624"/>
          </a:xfrm>
          <a:prstGeom prst="rect">
            <a:avLst/>
          </a:prstGeom>
          <a:noFill/>
        </p:spPr>
        <p:txBody>
          <a:bodyPr wrap="square" anchor="t">
            <a:spAutoFit/>
          </a:bodyPr>
          <a:lstStyle/>
          <a:p>
            <a:pPr algn="l"/>
            <a:r>
              <a:rPr sz="1100" b="0">
                <a:solidFill>
                  <a:srgbClr val="5A6472"/>
                </a:solidFill>
                <a:latin typeface="Aptos"/>
              </a:rPr>
              <a:t>Acessa. React Native e Flutter também.</a:t>
            </a:r>
          </a:p>
        </p:txBody>
      </p:sp>
      <p:sp>
        <p:nvSpPr>
          <p:cNvPr id="59" name="Rounded Rectangle 58"/>
          <p:cNvSpPr/>
          <p:nvPr/>
        </p:nvSpPr>
        <p:spPr>
          <a:xfrm>
            <a:off x="868680" y="3337560"/>
            <a:ext cx="5138928" cy="1170432"/>
          </a:xfrm>
          <a:prstGeom prst="roundRect">
            <a:avLst>
              <a:gd name="adj" fmla="val 6000"/>
            </a:avLst>
          </a:prstGeom>
          <a:solidFill>
            <a:srgbClr val="F6F7F9"/>
          </a:solidFill>
          <a:ln w="12700">
            <a:solidFill>
              <a:srgbClr val="E3E7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69848" y="3611879"/>
            <a:ext cx="237744" cy="237744"/>
          </a:xfrm>
          <a:prstGeom prst="ellipse">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900" b="1">
                <a:solidFill>
                  <a:srgbClr val="FFFFFF"/>
                </a:solidFill>
              </a:rPr>
              <a:t>✕</a:t>
            </a:r>
          </a:p>
        </p:txBody>
      </p:sp>
      <p:sp>
        <p:nvSpPr>
          <p:cNvPr id="61" name="TextBox 60"/>
          <p:cNvSpPr txBox="1"/>
          <p:nvPr/>
        </p:nvSpPr>
        <p:spPr>
          <a:xfrm>
            <a:off x="1417319" y="3520440"/>
            <a:ext cx="4361688" cy="384048"/>
          </a:xfrm>
          <a:prstGeom prst="rect">
            <a:avLst/>
          </a:prstGeom>
          <a:noFill/>
        </p:spPr>
        <p:txBody>
          <a:bodyPr wrap="square" anchor="t">
            <a:spAutoFit/>
          </a:bodyPr>
          <a:lstStyle/>
          <a:p>
            <a:pPr algn="l"/>
            <a:r>
              <a:rPr sz="1250" b="1">
                <a:solidFill>
                  <a:srgbClr val="12161C"/>
                </a:solidFill>
                <a:latin typeface="Aptos"/>
              </a:rPr>
              <a:t>“Bluetooth obriga usar nativo”</a:t>
            </a:r>
          </a:p>
        </p:txBody>
      </p:sp>
      <p:sp>
        <p:nvSpPr>
          <p:cNvPr id="62" name="TextBox 61"/>
          <p:cNvSpPr txBox="1"/>
          <p:nvPr/>
        </p:nvSpPr>
        <p:spPr>
          <a:xfrm>
            <a:off x="1417319" y="3959352"/>
            <a:ext cx="4361688" cy="420624"/>
          </a:xfrm>
          <a:prstGeom prst="rect">
            <a:avLst/>
          </a:prstGeom>
          <a:noFill/>
        </p:spPr>
        <p:txBody>
          <a:bodyPr wrap="square" anchor="t">
            <a:spAutoFit/>
          </a:bodyPr>
          <a:lstStyle/>
          <a:p>
            <a:pPr algn="l"/>
            <a:r>
              <a:rPr sz="1100" b="0">
                <a:solidFill>
                  <a:srgbClr val="5A6472"/>
                </a:solidFill>
                <a:latin typeface="Aptos"/>
              </a:rPr>
              <a:t>Não obriga. Muda o custo da integração.</a:t>
            </a:r>
          </a:p>
        </p:txBody>
      </p:sp>
      <p:sp>
        <p:nvSpPr>
          <p:cNvPr id="63" name="Rounded Rectangle 62"/>
          <p:cNvSpPr/>
          <p:nvPr/>
        </p:nvSpPr>
        <p:spPr>
          <a:xfrm>
            <a:off x="6208776" y="3337560"/>
            <a:ext cx="5138928" cy="1170432"/>
          </a:xfrm>
          <a:prstGeom prst="roundRect">
            <a:avLst>
              <a:gd name="adj" fmla="val 6000"/>
            </a:avLst>
          </a:prstGeom>
          <a:solidFill>
            <a:srgbClr val="F6F7F9"/>
          </a:solidFill>
          <a:ln w="12700">
            <a:solidFill>
              <a:srgbClr val="E3E7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6409944" y="3611879"/>
            <a:ext cx="237744" cy="237744"/>
          </a:xfrm>
          <a:prstGeom prst="ellipse">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900" b="1">
                <a:solidFill>
                  <a:srgbClr val="FFFFFF"/>
                </a:solidFill>
              </a:rPr>
              <a:t>✕</a:t>
            </a:r>
          </a:p>
        </p:txBody>
      </p:sp>
      <p:sp>
        <p:nvSpPr>
          <p:cNvPr id="65" name="TextBox 64"/>
          <p:cNvSpPr txBox="1"/>
          <p:nvPr/>
        </p:nvSpPr>
        <p:spPr>
          <a:xfrm>
            <a:off x="6757416" y="3520440"/>
            <a:ext cx="4361688" cy="384048"/>
          </a:xfrm>
          <a:prstGeom prst="rect">
            <a:avLst/>
          </a:prstGeom>
          <a:noFill/>
        </p:spPr>
        <p:txBody>
          <a:bodyPr wrap="square" anchor="t">
            <a:spAutoFit/>
          </a:bodyPr>
          <a:lstStyle/>
          <a:p>
            <a:pPr algn="l"/>
            <a:r>
              <a:rPr sz="1250" b="1">
                <a:solidFill>
                  <a:srgbClr val="12161C"/>
                </a:solidFill>
                <a:latin typeface="Aptos"/>
              </a:rPr>
              <a:t>“Multiplataforma é sempre mais barato”</a:t>
            </a:r>
          </a:p>
        </p:txBody>
      </p:sp>
      <p:sp>
        <p:nvSpPr>
          <p:cNvPr id="66" name="TextBox 65"/>
          <p:cNvSpPr txBox="1"/>
          <p:nvPr/>
        </p:nvSpPr>
        <p:spPr>
          <a:xfrm>
            <a:off x="6757416" y="3959352"/>
            <a:ext cx="4361688" cy="420624"/>
          </a:xfrm>
          <a:prstGeom prst="rect">
            <a:avLst/>
          </a:prstGeom>
          <a:noFill/>
        </p:spPr>
        <p:txBody>
          <a:bodyPr wrap="square" anchor="t">
            <a:spAutoFit/>
          </a:bodyPr>
          <a:lstStyle/>
          <a:p>
            <a:pPr algn="l"/>
            <a:r>
              <a:rPr sz="1100" b="0">
                <a:solidFill>
                  <a:srgbClr val="5A6472"/>
                </a:solidFill>
                <a:latin typeface="Aptos"/>
              </a:rPr>
              <a:t>Só se a equipe já dominar o framework.</a:t>
            </a:r>
          </a:p>
        </p:txBody>
      </p:sp>
      <p:sp>
        <p:nvSpPr>
          <p:cNvPr id="67" name="Rounded Rectangle 66"/>
          <p:cNvSpPr/>
          <p:nvPr/>
        </p:nvSpPr>
        <p:spPr>
          <a:xfrm>
            <a:off x="868680" y="4709160"/>
            <a:ext cx="5138928" cy="1170432"/>
          </a:xfrm>
          <a:prstGeom prst="roundRect">
            <a:avLst>
              <a:gd name="adj" fmla="val 6000"/>
            </a:avLst>
          </a:prstGeom>
          <a:solidFill>
            <a:srgbClr val="F6F7F9"/>
          </a:solidFill>
          <a:ln w="12700">
            <a:solidFill>
              <a:srgbClr val="E3E7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1069848" y="4983480"/>
            <a:ext cx="237744" cy="237744"/>
          </a:xfrm>
          <a:prstGeom prst="ellipse">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900" b="1">
                <a:solidFill>
                  <a:srgbClr val="FFFFFF"/>
                </a:solidFill>
              </a:rPr>
              <a:t>✕</a:t>
            </a:r>
          </a:p>
        </p:txBody>
      </p:sp>
      <p:sp>
        <p:nvSpPr>
          <p:cNvPr id="69" name="TextBox 68"/>
          <p:cNvSpPr txBox="1"/>
          <p:nvPr/>
        </p:nvSpPr>
        <p:spPr>
          <a:xfrm>
            <a:off x="1417319" y="4892040"/>
            <a:ext cx="4361688" cy="384048"/>
          </a:xfrm>
          <a:prstGeom prst="rect">
            <a:avLst/>
          </a:prstGeom>
          <a:noFill/>
        </p:spPr>
        <p:txBody>
          <a:bodyPr wrap="square" anchor="t">
            <a:spAutoFit/>
          </a:bodyPr>
          <a:lstStyle/>
          <a:p>
            <a:pPr algn="l"/>
            <a:r>
              <a:rPr sz="1250" b="1">
                <a:solidFill>
                  <a:srgbClr val="12161C"/>
                </a:solidFill>
                <a:latin typeface="Aptos"/>
              </a:rPr>
              <a:t>“Site no celular vira app”</a:t>
            </a:r>
          </a:p>
        </p:txBody>
      </p:sp>
      <p:sp>
        <p:nvSpPr>
          <p:cNvPr id="70" name="TextBox 69"/>
          <p:cNvSpPr txBox="1"/>
          <p:nvPr/>
        </p:nvSpPr>
        <p:spPr>
          <a:xfrm>
            <a:off x="1417319" y="5330952"/>
            <a:ext cx="4361688" cy="420624"/>
          </a:xfrm>
          <a:prstGeom prst="rect">
            <a:avLst/>
          </a:prstGeom>
          <a:noFill/>
        </p:spPr>
        <p:txBody>
          <a:bodyPr wrap="square" anchor="t">
            <a:spAutoFit/>
          </a:bodyPr>
          <a:lstStyle/>
          <a:p>
            <a:pPr algn="l"/>
            <a:r>
              <a:rPr sz="1100" b="0">
                <a:solidFill>
                  <a:srgbClr val="5A6472"/>
                </a:solidFill>
                <a:latin typeface="Aptos"/>
              </a:rPr>
              <a:t>O ambiente de execução continua sendo o navegador.</a:t>
            </a:r>
          </a:p>
        </p:txBody>
      </p:sp>
      <p:sp>
        <p:nvSpPr>
          <p:cNvPr id="71" name="Rounded Rectangle 70"/>
          <p:cNvSpPr/>
          <p:nvPr/>
        </p:nvSpPr>
        <p:spPr>
          <a:xfrm>
            <a:off x="6208776" y="4709160"/>
            <a:ext cx="5138928" cy="1170432"/>
          </a:xfrm>
          <a:prstGeom prst="roundRect">
            <a:avLst>
              <a:gd name="adj" fmla="val 6000"/>
            </a:avLst>
          </a:prstGeom>
          <a:solidFill>
            <a:srgbClr val="F6F7F9"/>
          </a:solidFill>
          <a:ln w="12700">
            <a:solidFill>
              <a:srgbClr val="E3E7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6409944" y="4983480"/>
            <a:ext cx="237744" cy="237744"/>
          </a:xfrm>
          <a:prstGeom prst="ellipse">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900" b="1">
                <a:solidFill>
                  <a:srgbClr val="FFFFFF"/>
                </a:solidFill>
              </a:rPr>
              <a:t>✕</a:t>
            </a:r>
          </a:p>
        </p:txBody>
      </p:sp>
      <p:sp>
        <p:nvSpPr>
          <p:cNvPr id="73" name="TextBox 72"/>
          <p:cNvSpPr txBox="1"/>
          <p:nvPr/>
        </p:nvSpPr>
        <p:spPr>
          <a:xfrm>
            <a:off x="6757416" y="4892040"/>
            <a:ext cx="4361688" cy="384048"/>
          </a:xfrm>
          <a:prstGeom prst="rect">
            <a:avLst/>
          </a:prstGeom>
          <a:noFill/>
        </p:spPr>
        <p:txBody>
          <a:bodyPr wrap="square" anchor="t">
            <a:spAutoFit/>
          </a:bodyPr>
          <a:lstStyle/>
          <a:p>
            <a:pPr algn="l"/>
            <a:r>
              <a:rPr sz="1250" b="1">
                <a:solidFill>
                  <a:srgbClr val="12161C"/>
                </a:solidFill>
                <a:latin typeface="Aptos"/>
              </a:rPr>
              <a:t>“Multiplataforma = 100% do código”</a:t>
            </a:r>
          </a:p>
        </p:txBody>
      </p:sp>
      <p:sp>
        <p:nvSpPr>
          <p:cNvPr id="74" name="TextBox 73"/>
          <p:cNvSpPr txBox="1"/>
          <p:nvPr/>
        </p:nvSpPr>
        <p:spPr>
          <a:xfrm>
            <a:off x="6757416" y="5330952"/>
            <a:ext cx="4361688" cy="420624"/>
          </a:xfrm>
          <a:prstGeom prst="rect">
            <a:avLst/>
          </a:prstGeom>
          <a:noFill/>
        </p:spPr>
        <p:txBody>
          <a:bodyPr wrap="square" anchor="t">
            <a:spAutoFit/>
          </a:bodyPr>
          <a:lstStyle/>
          <a:p>
            <a:pPr algn="l"/>
            <a:r>
              <a:rPr sz="1100" b="0">
                <a:solidFill>
                  <a:srgbClr val="5A6472"/>
                </a:solidFill>
                <a:latin typeface="Aptos"/>
              </a:rPr>
              <a:t>Quase sempre sobra código por plataforma.</a:t>
            </a:r>
          </a:p>
        </p:txBody>
      </p:sp>
      <p:sp>
        <p:nvSpPr>
          <p:cNvPr id="75" name="TextBox 74"/>
          <p:cNvSpPr txBox="1"/>
          <p:nvPr/>
        </p:nvSpPr>
        <p:spPr>
          <a:xfrm>
            <a:off x="868680" y="6108192"/>
            <a:ext cx="10424160" cy="292608"/>
          </a:xfrm>
          <a:prstGeom prst="rect">
            <a:avLst/>
          </a:prstGeom>
          <a:noFill/>
        </p:spPr>
        <p:txBody>
          <a:bodyPr wrap="square" anchor="t">
            <a:spAutoFit/>
          </a:bodyPr>
          <a:lstStyle/>
          <a:p>
            <a:pPr algn="l"/>
            <a:r>
              <a:rPr sz="1150" b="1">
                <a:solidFill>
                  <a:srgbClr val="D71920"/>
                </a:solidFill>
                <a:latin typeface="Aptos"/>
              </a:rPr>
              <a:t>Nenhuma dessas frases é regra. Todas são trade-offs que dependem do contexto.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D71920"/>
          </a:solidFill>
          <a:ln w="12700">
            <a:solidFill>
              <a:srgbClr val="D71920"/>
            </a:solidFill>
            <a:prstDash val="solid"/>
          </a:ln>
        </p:spPr>
        <p:txBody>
          <a:bodyPr/>
          <a:p/>
        </p:txBody>
      </p:sp>
      <p:sp>
        <p:nvSpPr>
          <p:cNvPr id="3" name="Shape 1"/>
          <p:cNvSpPr/>
          <p:nvPr/>
        </p:nvSpPr>
        <p:spPr>
          <a:xfrm>
            <a:off x="164592" y="0"/>
            <a:ext cx="54864" cy="6858000"/>
          </a:xfrm>
          <a:prstGeom prst="rect">
            <a:avLst/>
          </a:prstGeom>
          <a:solidFill>
            <a:srgbClr val="FFD322"/>
          </a:solidFill>
          <a:ln w="12700">
            <a:solidFill>
              <a:srgbClr val="FFD322"/>
            </a:solidFill>
            <a:prstDash val="solid"/>
          </a:ln>
        </p:spPr>
        <p:txBody>
          <a:bodyPr/>
          <a:p/>
        </p:txBody>
      </p:sp>
      <p:sp>
        <p:nvSpPr>
          <p:cNvPr id="4" name="Text 2"/>
          <p:cNvSpPr/>
          <p:nvPr/>
        </p:nvSpPr>
        <p:spPr>
          <a:xfrm>
            <a:off x="438912" y="210312"/>
            <a:ext cx="2103120" cy="256032"/>
          </a:xfrm>
          <a:prstGeom prst="rect">
            <a:avLst/>
          </a:prstGeom>
          <a:noFill/>
          <a:ln/>
        </p:spPr>
        <p:txBody>
          <a:bodyPr wrap="square" lIns="0" tIns="0" rIns="0" bIns="0" rtlCol="0" anchor="ctr"/>
          <a:lstStyle/>
          <a:p>
            <a:pPr indent="0" marL="0">
              <a:buNone/>
            </a:pPr>
            <a:r>
              <a:rPr lang="en-US" sz="950" b="1" dirty="0">
                <a:solidFill>
                  <a:srgbClr val="D71920"/>
                </a:solidFill>
                <a:latin typeface="Aptos" pitchFamily="34" charset="0"/>
                <a:ea typeface="Aptos" pitchFamily="34" charset="-122"/>
                <a:cs typeface="Aptos" pitchFamily="34" charset="-120"/>
              </a:rPr>
              <a:t>Aula 01</a:t>
            </a:r>
            <a:endParaRPr lang="en-US" sz="950" dirty="0"/>
          </a:p>
        </p:txBody>
      </p:sp>
      <p:sp>
        <p:nvSpPr>
          <p:cNvPr id="5" name="Text 3"/>
          <p:cNvSpPr/>
          <p:nvPr/>
        </p:nvSpPr>
        <p:spPr>
          <a:xfrm>
            <a:off x="2788920" y="210312"/>
            <a:ext cx="2743200" cy="256032"/>
          </a:xfrm>
          <a:prstGeom prst="rect">
            <a:avLst/>
          </a:prstGeom>
          <a:noFill/>
          <a:ln/>
        </p:spPr>
        <p:txBody>
          <a:bodyPr wrap="square" lIns="0" tIns="0" rIns="0" bIns="0" rtlCol="0" anchor="ctr"/>
          <a:lstStyle/>
          <a:p>
            <a:pPr indent="0" marL="0">
              <a:buNone/>
            </a:pPr>
            <a:r>
              <a:rPr lang="en-US" sz="950" dirty="0">
                <a:solidFill>
                  <a:srgbClr val="5A6472"/>
                </a:solidFill>
              </a:rPr>
              <a:t>Desenvolvimento Mobile</a:t>
            </a:r>
            <a:endParaRPr lang="en-US" sz="950" dirty="0"/>
          </a:p>
        </p:txBody>
      </p:sp>
      <p:pic>
        <p:nvPicPr>
          <p:cNvPr id="6" name="Image 0" descr="/mnt/data/logo_mesquita_stylized.png">    </p:cNvPr>
          <p:cNvPicPr>
            <a:picLocks noChangeAspect="1"/>
          </p:cNvPicPr>
          <p:nvPr/>
        </p:nvPicPr>
        <p:blipFill>
          <a:blip r:embed="rId1"/>
          <a:stretch>
            <a:fillRect/>
          </a:stretch>
        </p:blipFill>
        <p:spPr>
          <a:xfrm>
            <a:off x="10744200" y="128016"/>
            <a:ext cx="987552" cy="685800"/>
          </a:xfrm>
          <a:prstGeom prst="rect">
            <a:avLst/>
          </a:prstGeom>
        </p:spPr>
      </p:pic>
      <p:sp>
        <p:nvSpPr>
          <p:cNvPr id="7" name="Text 4"/>
          <p:cNvSpPr/>
          <p:nvPr/>
        </p:nvSpPr>
        <p:spPr>
          <a:xfrm>
            <a:off x="502920" y="749808"/>
            <a:ext cx="8503920" cy="530352"/>
          </a:xfrm>
          <a:prstGeom prst="rect">
            <a:avLst/>
          </a:prstGeom>
          <a:noFill/>
          <a:ln/>
        </p:spPr>
        <p:txBody>
          <a:bodyPr wrap="square" lIns="0" tIns="0" rIns="0" bIns="0" rtlCol="0" anchor="ctr">
            <a:normAutofit/>
          </a:bodyPr>
          <a:lstStyle/>
          <a:p>
            <a:pPr indent="0" marL="0">
              <a:buNone/>
            </a:pPr>
            <a:r>
              <a:rPr lang="en-US" sz="3000" b="1" dirty="0">
                <a:solidFill>
                  <a:srgbClr val="12161C"/>
                </a:solidFill>
                <a:latin typeface="Aptos Display" pitchFamily="34" charset="0"/>
                <a:ea typeface="Aptos Display" pitchFamily="34" charset="-122"/>
                <a:cs typeface="Aptos Display" pitchFamily="34" charset="-120"/>
              </a:rPr>
              <a:t>Atividade relâmpago antes do intervalo</a:t>
            </a:r>
            <a:endParaRPr lang="en-US" sz="3000" dirty="0"/>
          </a:p>
        </p:txBody>
      </p:sp>
      <p:sp>
        <p:nvSpPr>
          <p:cNvPr id="8" name="Text 5"/>
          <p:cNvSpPr/>
          <p:nvPr/>
        </p:nvSpPr>
        <p:spPr>
          <a:xfrm>
            <a:off x="530352" y="1325880"/>
            <a:ext cx="7589520" cy="320040"/>
          </a:xfrm>
          <a:prstGeom prst="rect">
            <a:avLst/>
          </a:prstGeom>
          <a:noFill/>
          <a:ln/>
        </p:spPr>
        <p:txBody>
          <a:bodyPr wrap="square" lIns="0" tIns="0" rIns="0" bIns="0" rtlCol="0" anchor="ctr"/>
          <a:lstStyle/>
          <a:p>
            <a:pPr indent="0" marL="0">
              <a:buNone/>
            </a:pPr>
            <a:r>
              <a:rPr lang="en-US" sz="1350" dirty="0">
                <a:solidFill>
                  <a:srgbClr val="5A6472"/>
                </a:solidFill>
              </a:rPr>
              <a:t>Pensar como equipe de desenvolvimento.</a:t>
            </a:r>
            <a:endParaRPr lang="en-US" sz="1350" dirty="0"/>
          </a:p>
        </p:txBody>
      </p:sp>
      <p:sp>
        <p:nvSpPr>
          <p:cNvPr id="9" name="Shape 6"/>
          <p:cNvSpPr/>
          <p:nvPr/>
        </p:nvSpPr>
        <p:spPr>
          <a:xfrm>
            <a:off x="868680" y="1874520"/>
            <a:ext cx="4983480" cy="2423160"/>
          </a:xfrm>
          <a:prstGeom prst="roundRect">
            <a:avLst>
              <a:gd name="adj" fmla="val 6038"/>
            </a:avLst>
          </a:prstGeom>
          <a:solidFill>
            <a:srgbClr val="FFF5F5"/>
          </a:solidFill>
          <a:ln w="12700">
            <a:solidFill>
              <a:srgbClr val="F2BBBB"/>
            </a:solidFill>
            <a:prstDash val="solid"/>
          </a:ln>
        </p:spPr>
        <p:txBody>
          <a:bodyPr/>
          <a:p/>
        </p:txBody>
      </p:sp>
      <p:sp>
        <p:nvSpPr>
          <p:cNvPr id="10" name="Text 7"/>
          <p:cNvSpPr/>
          <p:nvPr/>
        </p:nvSpPr>
        <p:spPr>
          <a:xfrm>
            <a:off x="1143000" y="2148840"/>
            <a:ext cx="1371600" cy="256032"/>
          </a:xfrm>
          <a:prstGeom prst="rect">
            <a:avLst/>
          </a:prstGeom>
          <a:noFill/>
          <a:ln/>
        </p:spPr>
        <p:txBody>
          <a:bodyPr wrap="square" lIns="0" tIns="0" rIns="0" bIns="0" rtlCol="0" anchor="ctr"/>
          <a:lstStyle/>
          <a:p>
            <a:pPr indent="0" marL="0">
              <a:buNone/>
            </a:pPr>
            <a:r>
              <a:rPr lang="en-US" sz="1600" b="1" dirty="0">
                <a:solidFill>
                  <a:srgbClr val="D71920"/>
                </a:solidFill>
              </a:rPr>
              <a:t>Cenário A</a:t>
            </a:r>
            <a:endParaRPr lang="en-US" sz="1600" dirty="0"/>
          </a:p>
        </p:txBody>
      </p:sp>
      <p:sp>
        <p:nvSpPr>
          <p:cNvPr id="11" name="Text 8"/>
          <p:cNvSpPr/>
          <p:nvPr/>
        </p:nvSpPr>
        <p:spPr>
          <a:xfrm>
            <a:off x="1143000" y="2651760"/>
            <a:ext cx="4343400" cy="685800"/>
          </a:xfrm>
          <a:prstGeom prst="rect">
            <a:avLst/>
          </a:prstGeom>
          <a:noFill/>
          <a:ln/>
        </p:spPr>
        <p:txBody>
          <a:bodyPr wrap="square" lIns="254" tIns="254" rIns="254" bIns="254" rtlCol="0" anchor="ctr">
            <a:normAutofit/>
          </a:bodyPr>
          <a:lstStyle/>
          <a:p>
            <a:pPr indent="0" marL="0">
              <a:buNone/>
            </a:pPr>
            <a:r>
              <a:rPr lang="en-US" sz="1600" dirty="0">
                <a:solidFill>
                  <a:srgbClr val="12161C"/>
                </a:solidFill>
              </a:rPr>
              <a:t>Uma pequena empresa quer lançar um app de delivery para Android e iPhone em pouco tempo.</a:t>
            </a:r>
            <a:endParaRPr lang="en-US" sz="1600" dirty="0"/>
          </a:p>
        </p:txBody>
      </p:sp>
      <p:sp>
        <p:nvSpPr>
          <p:cNvPr id="12" name="Text 9"/>
          <p:cNvSpPr/>
          <p:nvPr/>
        </p:nvSpPr>
        <p:spPr>
          <a:xfrm>
            <a:off x="1143000" y="3657600"/>
            <a:ext cx="3383280" cy="256032"/>
          </a:xfrm>
          <a:prstGeom prst="rect">
            <a:avLst/>
          </a:prstGeom>
          <a:noFill/>
          <a:ln/>
        </p:spPr>
        <p:txBody>
          <a:bodyPr wrap="square" lIns="0" tIns="0" rIns="0" bIns="0" rtlCol="0" anchor="ctr"/>
          <a:lstStyle/>
          <a:p>
            <a:pPr indent="0" marL="0">
              <a:buNone/>
            </a:pPr>
            <a:r>
              <a:rPr lang="en-US" sz="1450" b="1" dirty="0">
                <a:solidFill>
                  <a:srgbClr val="12161C"/>
                </a:solidFill>
              </a:rPr>
              <a:t>Qual caminho você escolheria?</a:t>
            </a:r>
            <a:endParaRPr lang="en-US" sz="1450" dirty="0"/>
          </a:p>
        </p:txBody>
      </p:sp>
      <p:sp>
        <p:nvSpPr>
          <p:cNvPr id="13" name="Shape 10"/>
          <p:cNvSpPr/>
          <p:nvPr/>
        </p:nvSpPr>
        <p:spPr>
          <a:xfrm>
            <a:off x="6400800" y="1874520"/>
            <a:ext cx="4983480" cy="2423160"/>
          </a:xfrm>
          <a:prstGeom prst="roundRect">
            <a:avLst>
              <a:gd name="adj" fmla="val 6038"/>
            </a:avLst>
          </a:prstGeom>
          <a:solidFill>
            <a:srgbClr val="FFF9E6"/>
          </a:solidFill>
          <a:ln w="12700">
            <a:solidFill>
              <a:srgbClr val="F1D777"/>
            </a:solidFill>
            <a:prstDash val="solid"/>
          </a:ln>
        </p:spPr>
        <p:txBody>
          <a:bodyPr/>
          <a:p/>
        </p:txBody>
      </p:sp>
      <p:sp>
        <p:nvSpPr>
          <p:cNvPr id="14" name="Text 11"/>
          <p:cNvSpPr/>
          <p:nvPr/>
        </p:nvSpPr>
        <p:spPr>
          <a:xfrm>
            <a:off x="6675120" y="2148840"/>
            <a:ext cx="1371600" cy="256032"/>
          </a:xfrm>
          <a:prstGeom prst="rect">
            <a:avLst/>
          </a:prstGeom>
          <a:noFill/>
          <a:ln/>
        </p:spPr>
        <p:txBody>
          <a:bodyPr wrap="square" lIns="0" tIns="0" rIns="0" bIns="0" rtlCol="0" anchor="ctr"/>
          <a:lstStyle/>
          <a:p>
            <a:pPr indent="0" marL="0">
              <a:buNone/>
            </a:pPr>
            <a:r>
              <a:rPr lang="en-US" sz="1600" b="1" dirty="0">
                <a:solidFill>
                  <a:srgbClr val="D71920"/>
                </a:solidFill>
              </a:rPr>
              <a:t>Cenário B</a:t>
            </a:r>
            <a:endParaRPr lang="en-US" sz="1600" dirty="0"/>
          </a:p>
        </p:txBody>
      </p:sp>
      <p:sp>
        <p:nvSpPr>
          <p:cNvPr id="15" name="Text 12"/>
          <p:cNvSpPr/>
          <p:nvPr/>
        </p:nvSpPr>
        <p:spPr>
          <a:xfrm>
            <a:off x="6675120" y="2651760"/>
            <a:ext cx="4343400" cy="685800"/>
          </a:xfrm>
          <a:prstGeom prst="rect">
            <a:avLst/>
          </a:prstGeom>
          <a:noFill/>
          <a:ln/>
        </p:spPr>
        <p:txBody>
          <a:bodyPr wrap="square" lIns="254" tIns="254" rIns="254" bIns="254" rtlCol="0" anchor="ctr">
            <a:normAutofit/>
          </a:bodyPr>
          <a:lstStyle/>
          <a:p>
            <a:pPr indent="0" marL="0">
              <a:buNone/>
            </a:pPr>
            <a:r>
              <a:rPr lang="en-US" sz="1600" dirty="0">
                <a:solidFill>
                  <a:srgbClr val="12161C"/>
                </a:solidFill>
              </a:rPr>
              <a:t>Uma empresa precisa usar câmera, sensores, Bluetooth e recursos específicos do aparelho.</a:t>
            </a:r>
            <a:endParaRPr lang="en-US" sz="1600" dirty="0"/>
          </a:p>
        </p:txBody>
      </p:sp>
      <p:sp>
        <p:nvSpPr>
          <p:cNvPr id="16" name="Text 13"/>
          <p:cNvSpPr/>
          <p:nvPr/>
        </p:nvSpPr>
        <p:spPr>
          <a:xfrm>
            <a:off x="6675120" y="3657600"/>
            <a:ext cx="3383280" cy="256032"/>
          </a:xfrm>
          <a:prstGeom prst="rect">
            <a:avLst/>
          </a:prstGeom>
          <a:noFill/>
          <a:ln/>
        </p:spPr>
        <p:txBody>
          <a:bodyPr wrap="square" lIns="0" tIns="0" rIns="0" bIns="0" rtlCol="0" anchor="ctr"/>
          <a:lstStyle/>
          <a:p>
            <a:pPr indent="0" marL="0">
              <a:buNone/>
            </a:pPr>
            <a:r>
              <a:rPr lang="en-US" sz="1450" b="1" dirty="0">
                <a:solidFill>
                  <a:srgbClr val="12161C"/>
                </a:solidFill>
              </a:rPr>
              <a:t>Você manteria a mesma escolha?</a:t>
            </a:r>
            <a:endParaRPr lang="en-US" sz="1450" dirty="0"/>
          </a:p>
        </p:txBody>
      </p:sp>
      <p:sp>
        <p:nvSpPr>
          <p:cNvPr id="17" name="Text 14"/>
          <p:cNvSpPr/>
          <p:nvPr/>
        </p:nvSpPr>
        <p:spPr>
          <a:xfrm>
            <a:off x="2377440" y="5074920"/>
            <a:ext cx="7315200" cy="320040"/>
          </a:xfrm>
          <a:prstGeom prst="rect">
            <a:avLst/>
          </a:prstGeom>
          <a:noFill/>
          <a:ln/>
        </p:spPr>
        <p:txBody>
          <a:bodyPr wrap="square" lIns="0" tIns="0" rIns="0" bIns="0" rtlCol="0" anchor="ctr"/>
          <a:lstStyle/>
          <a:p>
            <a:pPr algn="ctr" indent="0" marL="0">
              <a:buNone/>
            </a:pPr>
            <a:r>
              <a:rPr lang="en-US" sz="1700" b="1" dirty="0">
                <a:solidFill>
                  <a:srgbClr val="12161C"/>
                </a:solidFill>
              </a:rPr>
              <a:t>Anote 3 argumentos. Não existe resposta única.</a:t>
            </a:r>
            <a:endParaRPr lang="en-US" sz="1700" dirty="0"/>
          </a:p>
        </p:txBody>
      </p:sp>
      <p:sp>
        <p:nvSpPr>
          <p:cNvPr id="19" name="Shape 15"/>
          <p:cNvSpPr/>
          <p:nvPr/>
        </p:nvSpPr>
        <p:spPr>
          <a:xfrm>
            <a:off x="621792" y="6455664"/>
            <a:ext cx="11018520" cy="0"/>
          </a:xfrm>
          <a:prstGeom prst="line">
            <a:avLst/>
          </a:prstGeom>
          <a:noFill/>
          <a:ln w="12700">
            <a:solidFill>
              <a:srgbClr val="E7E4DE"/>
            </a:solidFill>
            <a:prstDash val="solid"/>
          </a:ln>
        </p:spPr>
        <p:txBody>
          <a:bodyPr/>
          <a:p/>
        </p:txBody>
      </p:sp>
      <p:sp>
        <p:nvSpPr>
          <p:cNvPr id="20" name="Text 16"/>
          <p:cNvSpPr/>
          <p:nvPr/>
        </p:nvSpPr>
        <p:spPr>
          <a:xfrm>
            <a:off x="621792" y="6537960"/>
            <a:ext cx="2194560" cy="182880"/>
          </a:xfrm>
          <a:prstGeom prst="rect">
            <a:avLst/>
          </a:prstGeom>
          <a:noFill/>
          <a:ln/>
        </p:spPr>
        <p:txBody>
          <a:bodyPr wrap="square" lIns="0" tIns="0" rIns="0" bIns="0" rtlCol="0" anchor="ctr"/>
          <a:lstStyle/>
          <a:p>
            <a:pPr indent="0" marL="0">
              <a:buNone/>
            </a:pPr>
            <a:r>
              <a:rPr lang="en-US" sz="850" dirty="0">
                <a:solidFill>
                  <a:srgbClr val="5A6472"/>
                </a:solidFill>
              </a:rPr>
              <a:t>Emanuel Nascente</a:t>
            </a:r>
            <a:endParaRPr lang="en-US" sz="850" dirty="0"/>
          </a:p>
        </p:txBody>
      </p:sp>
      <p:sp>
        <p:nvSpPr>
          <p:cNvPr id="21" name="Text 17"/>
          <p:cNvSpPr/>
          <p:nvPr/>
        </p:nvSpPr>
        <p:spPr>
          <a:xfrm>
            <a:off x="11064240" y="6519672"/>
            <a:ext cx="548640" cy="228600"/>
          </a:xfrm>
          <a:prstGeom prst="rect">
            <a:avLst/>
          </a:prstGeom>
          <a:noFill/>
          <a:ln/>
        </p:spPr>
        <p:txBody>
          <a:bodyPr wrap="square" lIns="0" tIns="0" rIns="0" bIns="0" rtlCol="0" anchor="ctr"/>
          <a:lstStyle/>
          <a:p>
            <a:pPr algn="r" indent="0" marL="0">
              <a:buNone/>
            </a:pPr>
            <a:r>
              <a:rPr sz="850" b="1">
                <a:solidFill>
                  <a:srgbClr val="5A6472"/>
                </a:solidFill>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D71920"/>
          </a:solidFill>
          <a:ln w="12700">
            <a:solidFill>
              <a:srgbClr val="D71920"/>
            </a:solidFill>
            <a:prstDash val="solid"/>
          </a:ln>
        </p:spPr>
        <p:txBody>
          <a:bodyPr/>
          <a:p/>
        </p:txBody>
      </p:sp>
      <p:sp>
        <p:nvSpPr>
          <p:cNvPr id="3" name="Shape 1"/>
          <p:cNvSpPr/>
          <p:nvPr/>
        </p:nvSpPr>
        <p:spPr>
          <a:xfrm>
            <a:off x="164592" y="0"/>
            <a:ext cx="54864" cy="6858000"/>
          </a:xfrm>
          <a:prstGeom prst="rect">
            <a:avLst/>
          </a:prstGeom>
          <a:solidFill>
            <a:srgbClr val="FFD322"/>
          </a:solidFill>
          <a:ln w="12700">
            <a:solidFill>
              <a:srgbClr val="FFD322"/>
            </a:solidFill>
            <a:prstDash val="solid"/>
          </a:ln>
        </p:spPr>
        <p:txBody>
          <a:bodyPr/>
          <a:p/>
        </p:txBody>
      </p:sp>
      <p:sp>
        <p:nvSpPr>
          <p:cNvPr id="4" name="Text 2"/>
          <p:cNvSpPr/>
          <p:nvPr/>
        </p:nvSpPr>
        <p:spPr>
          <a:xfrm>
            <a:off x="438912" y="210312"/>
            <a:ext cx="2103120" cy="256032"/>
          </a:xfrm>
          <a:prstGeom prst="rect">
            <a:avLst/>
          </a:prstGeom>
          <a:noFill/>
          <a:ln/>
        </p:spPr>
        <p:txBody>
          <a:bodyPr wrap="square" lIns="0" tIns="0" rIns="0" bIns="0" rtlCol="0" anchor="ctr"/>
          <a:lstStyle/>
          <a:p>
            <a:pPr indent="0" marL="0">
              <a:buNone/>
            </a:pPr>
            <a:r>
              <a:rPr lang="en-US" sz="950" b="1" dirty="0">
                <a:solidFill>
                  <a:srgbClr val="D71920"/>
                </a:solidFill>
                <a:latin typeface="Aptos" pitchFamily="34" charset="0"/>
                <a:ea typeface="Aptos" pitchFamily="34" charset="-122"/>
                <a:cs typeface="Aptos" pitchFamily="34" charset="-120"/>
              </a:rPr>
              <a:t>Aula 01</a:t>
            </a:r>
            <a:endParaRPr lang="en-US" sz="950" dirty="0"/>
          </a:p>
        </p:txBody>
      </p:sp>
      <p:sp>
        <p:nvSpPr>
          <p:cNvPr id="5" name="Text 3"/>
          <p:cNvSpPr/>
          <p:nvPr/>
        </p:nvSpPr>
        <p:spPr>
          <a:xfrm>
            <a:off x="2788920" y="210312"/>
            <a:ext cx="2743200" cy="256032"/>
          </a:xfrm>
          <a:prstGeom prst="rect">
            <a:avLst/>
          </a:prstGeom>
          <a:noFill/>
          <a:ln/>
        </p:spPr>
        <p:txBody>
          <a:bodyPr wrap="square" lIns="0" tIns="0" rIns="0" bIns="0" rtlCol="0" anchor="ctr"/>
          <a:lstStyle/>
          <a:p>
            <a:pPr indent="0" marL="0">
              <a:buNone/>
            </a:pPr>
            <a:r>
              <a:rPr lang="en-US" sz="950" dirty="0">
                <a:solidFill>
                  <a:srgbClr val="5A6472"/>
                </a:solidFill>
              </a:rPr>
              <a:t>Desenvolvimento Mobile</a:t>
            </a:r>
            <a:endParaRPr lang="en-US" sz="950" dirty="0"/>
          </a:p>
        </p:txBody>
      </p:sp>
      <p:pic>
        <p:nvPicPr>
          <p:cNvPr id="6" name="Image 0" descr="/mnt/data/logo_mesquita_stylized.png">    </p:cNvPr>
          <p:cNvPicPr>
            <a:picLocks noChangeAspect="1"/>
          </p:cNvPicPr>
          <p:nvPr/>
        </p:nvPicPr>
        <p:blipFill>
          <a:blip r:embed="rId1"/>
          <a:stretch>
            <a:fillRect/>
          </a:stretch>
        </p:blipFill>
        <p:spPr>
          <a:xfrm>
            <a:off x="10744200" y="128016"/>
            <a:ext cx="987552" cy="685800"/>
          </a:xfrm>
          <a:prstGeom prst="rect">
            <a:avLst/>
          </a:prstGeom>
        </p:spPr>
      </p:pic>
      <p:sp>
        <p:nvSpPr>
          <p:cNvPr id="7" name="Text 4"/>
          <p:cNvSpPr/>
          <p:nvPr/>
        </p:nvSpPr>
        <p:spPr>
          <a:xfrm>
            <a:off x="777240" y="2057400"/>
            <a:ext cx="4754880" cy="685800"/>
          </a:xfrm>
          <a:prstGeom prst="rect">
            <a:avLst/>
          </a:prstGeom>
          <a:noFill/>
          <a:ln/>
        </p:spPr>
        <p:txBody>
          <a:bodyPr wrap="square" lIns="0" tIns="0" rIns="0" bIns="0" rtlCol="0" anchor="ctr"/>
          <a:lstStyle/>
          <a:p>
            <a:pPr indent="0" marL="0">
              <a:buNone/>
            </a:pPr>
            <a:r>
              <a:rPr lang="en-US" sz="4400" b="1" dirty="0">
                <a:solidFill>
                  <a:srgbClr val="12161C"/>
                </a:solidFill>
              </a:rPr>
              <a:t>Intervalo</a:t>
            </a:r>
            <a:endParaRPr lang="en-US" sz="4400" dirty="0"/>
          </a:p>
        </p:txBody>
      </p:sp>
      <p:sp>
        <p:nvSpPr>
          <p:cNvPr id="8" name="Text 5"/>
          <p:cNvSpPr/>
          <p:nvPr/>
        </p:nvSpPr>
        <p:spPr>
          <a:xfrm>
            <a:off x="822960" y="2834640"/>
            <a:ext cx="5029200" cy="320040"/>
          </a:xfrm>
          <a:prstGeom prst="rect">
            <a:avLst/>
          </a:prstGeom>
          <a:noFill/>
          <a:ln/>
        </p:spPr>
        <p:txBody>
          <a:bodyPr wrap="square" lIns="0" tIns="0" rIns="0" bIns="0" rtlCol="0" anchor="ctr"/>
          <a:lstStyle/>
          <a:p>
            <a:pPr indent="0" marL="0">
              <a:buNone/>
            </a:pPr>
            <a:r>
              <a:rPr lang="en-US" sz="1800" b="1" dirty="0">
                <a:solidFill>
                  <a:srgbClr val="D71920"/>
                </a:solidFill>
              </a:rPr>
              <a:t>Na volta: laboratório prático no computador.</a:t>
            </a:r>
            <a:endParaRPr lang="en-US" sz="1800" dirty="0"/>
          </a:p>
        </p:txBody>
      </p:sp>
      <p:sp>
        <p:nvSpPr>
          <p:cNvPr id="9" name="Shape 6"/>
          <p:cNvSpPr/>
          <p:nvPr/>
        </p:nvSpPr>
        <p:spPr>
          <a:xfrm>
            <a:off x="7498080" y="1828800"/>
            <a:ext cx="2834640" cy="2194560"/>
          </a:xfrm>
          <a:prstGeom prst="roundRect">
            <a:avLst>
              <a:gd name="adj" fmla="val 7500"/>
            </a:avLst>
          </a:prstGeom>
          <a:solidFill>
            <a:srgbClr val="F7F7F5"/>
          </a:solidFill>
          <a:ln w="12700">
            <a:solidFill>
              <a:srgbClr val="E7E4DE"/>
            </a:solidFill>
            <a:prstDash val="solid"/>
          </a:ln>
        </p:spPr>
        <p:txBody>
          <a:bodyPr/>
          <a:p/>
        </p:txBody>
      </p:sp>
      <p:sp>
        <p:nvSpPr>
          <p:cNvPr id="10" name="Text 7"/>
          <p:cNvSpPr/>
          <p:nvPr/>
        </p:nvSpPr>
        <p:spPr>
          <a:xfrm>
            <a:off x="7955280" y="2450592"/>
            <a:ext cx="1920240" cy="457200"/>
          </a:xfrm>
          <a:prstGeom prst="rect">
            <a:avLst/>
          </a:prstGeom>
          <a:noFill/>
          <a:ln/>
        </p:spPr>
        <p:txBody>
          <a:bodyPr wrap="square" lIns="0" tIns="0" rIns="0" bIns="0" rtlCol="0" anchor="ctr"/>
          <a:lstStyle/>
          <a:p>
            <a:pPr algn="ctr" indent="0" marL="0">
              <a:buNone/>
            </a:pPr>
            <a:r>
              <a:rPr lang="en-US" sz="3000" b="1" dirty="0">
                <a:solidFill>
                  <a:srgbClr val="D71920"/>
                </a:solidFill>
              </a:rPr>
              <a:t>10–15 min</a:t>
            </a:r>
            <a:endParaRPr lang="en-US" sz="3000" dirty="0"/>
          </a:p>
        </p:txBody>
      </p:sp>
      <p:sp>
        <p:nvSpPr>
          <p:cNvPr id="11" name="Text 8"/>
          <p:cNvSpPr/>
          <p:nvPr/>
        </p:nvSpPr>
        <p:spPr>
          <a:xfrm>
            <a:off x="7909560" y="3035808"/>
            <a:ext cx="2011680" cy="320040"/>
          </a:xfrm>
          <a:prstGeom prst="rect">
            <a:avLst/>
          </a:prstGeom>
          <a:noFill/>
          <a:ln/>
        </p:spPr>
        <p:txBody>
          <a:bodyPr wrap="square" lIns="0" tIns="0" rIns="0" bIns="0" rtlCol="0" anchor="ctr"/>
          <a:lstStyle/>
          <a:p>
            <a:pPr algn="ctr" indent="0" marL="0">
              <a:buNone/>
            </a:pPr>
            <a:r>
              <a:rPr lang="en-US" sz="1350" dirty="0">
                <a:solidFill>
                  <a:srgbClr val="5A6472"/>
                </a:solidFill>
              </a:rPr>
              <a:t>Retorno direto para o laboratório.</a:t>
            </a:r>
            <a:endParaRPr lang="en-US" sz="1350" dirty="0"/>
          </a:p>
        </p:txBody>
      </p:sp>
      <p:sp>
        <p:nvSpPr>
          <p:cNvPr id="13" name="Shape 9"/>
          <p:cNvSpPr/>
          <p:nvPr/>
        </p:nvSpPr>
        <p:spPr>
          <a:xfrm>
            <a:off x="621792" y="6455664"/>
            <a:ext cx="11018520" cy="0"/>
          </a:xfrm>
          <a:prstGeom prst="line">
            <a:avLst/>
          </a:prstGeom>
          <a:noFill/>
          <a:ln w="12700">
            <a:solidFill>
              <a:srgbClr val="E7E4DE"/>
            </a:solidFill>
            <a:prstDash val="solid"/>
          </a:ln>
        </p:spPr>
        <p:txBody>
          <a:bodyPr/>
          <a:p/>
        </p:txBody>
      </p:sp>
      <p:sp>
        <p:nvSpPr>
          <p:cNvPr id="14" name="Text 10"/>
          <p:cNvSpPr/>
          <p:nvPr/>
        </p:nvSpPr>
        <p:spPr>
          <a:xfrm>
            <a:off x="621792" y="6537960"/>
            <a:ext cx="2194560" cy="182880"/>
          </a:xfrm>
          <a:prstGeom prst="rect">
            <a:avLst/>
          </a:prstGeom>
          <a:noFill/>
          <a:ln/>
        </p:spPr>
        <p:txBody>
          <a:bodyPr wrap="square" lIns="0" tIns="0" rIns="0" bIns="0" rtlCol="0" anchor="ctr"/>
          <a:lstStyle/>
          <a:p>
            <a:pPr indent="0" marL="0">
              <a:buNone/>
            </a:pPr>
            <a:r>
              <a:rPr lang="en-US" sz="850" dirty="0">
                <a:solidFill>
                  <a:srgbClr val="5A6472"/>
                </a:solidFill>
              </a:rPr>
              <a:t>Emanuel Nascente</a:t>
            </a:r>
            <a:endParaRPr lang="en-US" sz="850" dirty="0"/>
          </a:p>
        </p:txBody>
      </p:sp>
      <p:sp>
        <p:nvSpPr>
          <p:cNvPr id="15" name="Text 11"/>
          <p:cNvSpPr/>
          <p:nvPr/>
        </p:nvSpPr>
        <p:spPr>
          <a:xfrm>
            <a:off x="11064240" y="6519672"/>
            <a:ext cx="548640" cy="228600"/>
          </a:xfrm>
          <a:prstGeom prst="rect">
            <a:avLst/>
          </a:prstGeom>
          <a:noFill/>
          <a:ln/>
        </p:spPr>
        <p:txBody>
          <a:bodyPr wrap="square" lIns="0" tIns="0" rIns="0" bIns="0" rtlCol="0" anchor="ctr"/>
          <a:lstStyle/>
          <a:p>
            <a:pPr algn="r" indent="0" marL="0">
              <a:buNone/>
            </a:pPr>
            <a:r>
              <a:rPr sz="850" b="1">
                <a:solidFill>
                  <a:srgbClr val="5A6472"/>
                </a:solidFill>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D71920"/>
          </a:solidFill>
          <a:ln w="12700">
            <a:solidFill>
              <a:srgbClr val="D71920"/>
            </a:solidFill>
            <a:prstDash val="solid"/>
          </a:ln>
        </p:spPr>
        <p:txBody>
          <a:bodyPr/>
          <a:p/>
        </p:txBody>
      </p:sp>
      <p:sp>
        <p:nvSpPr>
          <p:cNvPr id="3" name="Shape 1"/>
          <p:cNvSpPr/>
          <p:nvPr/>
        </p:nvSpPr>
        <p:spPr>
          <a:xfrm>
            <a:off x="164592" y="0"/>
            <a:ext cx="54864" cy="6858000"/>
          </a:xfrm>
          <a:prstGeom prst="rect">
            <a:avLst/>
          </a:prstGeom>
          <a:solidFill>
            <a:srgbClr val="FFD322"/>
          </a:solidFill>
          <a:ln w="12700">
            <a:solidFill>
              <a:srgbClr val="FFD322"/>
            </a:solidFill>
            <a:prstDash val="solid"/>
          </a:ln>
        </p:spPr>
        <p:txBody>
          <a:bodyPr/>
          <a:p/>
        </p:txBody>
      </p:sp>
      <p:sp>
        <p:nvSpPr>
          <p:cNvPr id="4" name="Text 2"/>
          <p:cNvSpPr/>
          <p:nvPr/>
        </p:nvSpPr>
        <p:spPr>
          <a:xfrm>
            <a:off x="438912" y="210312"/>
            <a:ext cx="2103120" cy="256032"/>
          </a:xfrm>
          <a:prstGeom prst="rect">
            <a:avLst/>
          </a:prstGeom>
          <a:noFill/>
          <a:ln/>
        </p:spPr>
        <p:txBody>
          <a:bodyPr wrap="square" lIns="0" tIns="0" rIns="0" bIns="0" rtlCol="0" anchor="ctr"/>
          <a:lstStyle/>
          <a:p>
            <a:pPr indent="0" marL="0">
              <a:buNone/>
            </a:pPr>
            <a:r>
              <a:rPr lang="en-US" sz="950" b="1" dirty="0">
                <a:solidFill>
                  <a:srgbClr val="D71920"/>
                </a:solidFill>
                <a:latin typeface="Aptos" pitchFamily="34" charset="0"/>
                <a:ea typeface="Aptos" pitchFamily="34" charset="-122"/>
                <a:cs typeface="Aptos" pitchFamily="34" charset="-120"/>
              </a:rPr>
              <a:t>Laboratório 01</a:t>
            </a:r>
            <a:endParaRPr lang="en-US" sz="950" dirty="0"/>
          </a:p>
        </p:txBody>
      </p:sp>
      <p:sp>
        <p:nvSpPr>
          <p:cNvPr id="5" name="Text 3"/>
          <p:cNvSpPr/>
          <p:nvPr/>
        </p:nvSpPr>
        <p:spPr>
          <a:xfrm>
            <a:off x="2788920" y="210312"/>
            <a:ext cx="2743200" cy="256032"/>
          </a:xfrm>
          <a:prstGeom prst="rect">
            <a:avLst/>
          </a:prstGeom>
          <a:noFill/>
          <a:ln/>
        </p:spPr>
        <p:txBody>
          <a:bodyPr wrap="square" lIns="0" tIns="0" rIns="0" bIns="0" rtlCol="0" anchor="ctr"/>
          <a:lstStyle/>
          <a:p>
            <a:pPr indent="0" marL="0">
              <a:buNone/>
            </a:pPr>
            <a:r>
              <a:rPr lang="en-US" sz="950" dirty="0">
                <a:solidFill>
                  <a:srgbClr val="5A6472"/>
                </a:solidFill>
              </a:rPr>
              <a:t>Desenvolvimento Mobile</a:t>
            </a:r>
            <a:endParaRPr lang="en-US" sz="950" dirty="0"/>
          </a:p>
        </p:txBody>
      </p:sp>
      <p:pic>
        <p:nvPicPr>
          <p:cNvPr id="6" name="Image 0" descr="/mnt/data/logo_mesquita_stylized.png">    </p:cNvPr>
          <p:cNvPicPr>
            <a:picLocks noChangeAspect="1"/>
          </p:cNvPicPr>
          <p:nvPr/>
        </p:nvPicPr>
        <p:blipFill>
          <a:blip r:embed="rId1"/>
          <a:stretch>
            <a:fillRect/>
          </a:stretch>
        </p:blipFill>
        <p:spPr>
          <a:xfrm>
            <a:off x="10744200" y="128016"/>
            <a:ext cx="987552" cy="685800"/>
          </a:xfrm>
          <a:prstGeom prst="rect">
            <a:avLst/>
          </a:prstGeom>
        </p:spPr>
      </p:pic>
      <p:sp>
        <p:nvSpPr>
          <p:cNvPr id="7" name="Text 4"/>
          <p:cNvSpPr/>
          <p:nvPr/>
        </p:nvSpPr>
        <p:spPr>
          <a:xfrm>
            <a:off x="502920" y="749808"/>
            <a:ext cx="8503920" cy="530352"/>
          </a:xfrm>
          <a:prstGeom prst="rect">
            <a:avLst/>
          </a:prstGeom>
          <a:noFill/>
          <a:ln/>
        </p:spPr>
        <p:txBody>
          <a:bodyPr wrap="square" lIns="0" tIns="0" rIns="0" bIns="0" rtlCol="0" anchor="ctr">
            <a:normAutofit/>
          </a:bodyPr>
          <a:lstStyle/>
          <a:p>
            <a:pPr indent="0" marL="0">
              <a:buNone/>
            </a:pPr>
            <a:r>
              <a:rPr lang="en-US" sz="3000" b="1" dirty="0">
                <a:solidFill>
                  <a:srgbClr val="12161C"/>
                </a:solidFill>
                <a:latin typeface="Aptos Display" pitchFamily="34" charset="0"/>
                <a:ea typeface="Aptos Display" pitchFamily="34" charset="-122"/>
                <a:cs typeface="Aptos Display" pitchFamily="34" charset="-120"/>
              </a:rPr>
              <a:t>Laboratório 01</a:t>
            </a:r>
            <a:endParaRPr lang="en-US" sz="3000" dirty="0"/>
          </a:p>
        </p:txBody>
      </p:sp>
      <p:sp>
        <p:nvSpPr>
          <p:cNvPr id="8" name="Text 5"/>
          <p:cNvSpPr/>
          <p:nvPr/>
        </p:nvSpPr>
        <p:spPr>
          <a:xfrm>
            <a:off x="530352" y="1325880"/>
            <a:ext cx="7589520" cy="320040"/>
          </a:xfrm>
          <a:prstGeom prst="rect">
            <a:avLst/>
          </a:prstGeom>
          <a:noFill/>
          <a:ln/>
        </p:spPr>
        <p:txBody>
          <a:bodyPr wrap="square" lIns="0" tIns="0" rIns="0" bIns="0" rtlCol="0" anchor="ctr"/>
          <a:lstStyle/>
          <a:p>
            <a:pPr indent="0" marL="0">
              <a:buNone/>
            </a:pPr>
            <a:r>
              <a:rPr lang="en-US" sz="1350" dirty="0">
                <a:solidFill>
                  <a:srgbClr val="5A6472"/>
                </a:solidFill>
              </a:rPr>
              <a:t>Primeiro contato com ambientes de desenvolvimento mobile.</a:t>
            </a:r>
            <a:endParaRPr lang="en-US" sz="1350" dirty="0"/>
          </a:p>
        </p:txBody>
      </p:sp>
      <p:sp>
        <p:nvSpPr>
          <p:cNvPr id="9" name="Text 6"/>
          <p:cNvSpPr/>
          <p:nvPr/>
        </p:nvSpPr>
        <p:spPr>
          <a:xfrm>
            <a:off x="822960" y="1920240"/>
            <a:ext cx="914400" cy="274320"/>
          </a:xfrm>
          <a:prstGeom prst="rect">
            <a:avLst/>
          </a:prstGeom>
          <a:noFill/>
          <a:ln/>
        </p:spPr>
        <p:txBody>
          <a:bodyPr wrap="square" lIns="0" tIns="0" rIns="0" bIns="0" rtlCol="0" anchor="ctr"/>
          <a:lstStyle/>
          <a:p>
            <a:pPr indent="0" marL="0">
              <a:buNone/>
            </a:pPr>
            <a:r>
              <a:rPr lang="en-US" sz="2000" b="1" dirty="0">
                <a:solidFill>
                  <a:srgbClr val="D71920"/>
                </a:solidFill>
              </a:rPr>
              <a:t>Objetivo:</a:t>
            </a:r>
            <a:endParaRPr lang="en-US" sz="2000" dirty="0"/>
          </a:p>
        </p:txBody>
      </p:sp>
      <p:sp>
        <p:nvSpPr>
          <p:cNvPr id="10" name="Text 7"/>
          <p:cNvSpPr/>
          <p:nvPr/>
        </p:nvSpPr>
        <p:spPr>
          <a:xfrm>
            <a:off x="2148840" y="1938528"/>
            <a:ext cx="8595360" cy="320040"/>
          </a:xfrm>
          <a:prstGeom prst="rect">
            <a:avLst/>
          </a:prstGeom>
          <a:noFill/>
          <a:ln/>
        </p:spPr>
        <p:txBody>
          <a:bodyPr wrap="square" lIns="0" tIns="0" rIns="0" bIns="0" rtlCol="0" anchor="ctr">
            <a:normAutofit/>
          </a:bodyPr>
          <a:lstStyle/>
          <a:p>
            <a:pPr indent="0" marL="0">
              <a:buNone/>
            </a:pPr>
            <a:r>
              <a:rPr lang="en-US" sz="1800" dirty="0">
                <a:solidFill>
                  <a:srgbClr val="12161C"/>
                </a:solidFill>
              </a:rPr>
              <a:t>comparar, na prática, a criação inicial de um projeto nativo e de um projeto híbrido/multiplataforma.</a:t>
            </a:r>
            <a:endParaRPr lang="en-US" sz="1800" dirty="0"/>
          </a:p>
        </p:txBody>
      </p:sp>
      <p:sp>
        <p:nvSpPr>
          <p:cNvPr id="11" name="Shape 8"/>
          <p:cNvSpPr/>
          <p:nvPr/>
        </p:nvSpPr>
        <p:spPr>
          <a:xfrm>
            <a:off x="960120" y="2834640"/>
            <a:ext cx="4389120" cy="1645920"/>
          </a:xfrm>
          <a:prstGeom prst="roundRect">
            <a:avLst>
              <a:gd name="adj" fmla="val 8889"/>
            </a:avLst>
          </a:prstGeom>
          <a:solidFill>
            <a:srgbClr val="FFF5F5"/>
          </a:solidFill>
          <a:ln w="12700">
            <a:solidFill>
              <a:srgbClr val="F2BBBB"/>
            </a:solidFill>
            <a:prstDash val="solid"/>
          </a:ln>
        </p:spPr>
        <p:txBody>
          <a:bodyPr/>
          <a:p/>
        </p:txBody>
      </p:sp>
      <p:sp>
        <p:nvSpPr>
          <p:cNvPr id="12" name="Text 9"/>
          <p:cNvSpPr/>
          <p:nvPr/>
        </p:nvSpPr>
        <p:spPr>
          <a:xfrm>
            <a:off x="1298448" y="3154680"/>
            <a:ext cx="2011680" cy="292608"/>
          </a:xfrm>
          <a:prstGeom prst="rect">
            <a:avLst/>
          </a:prstGeom>
          <a:noFill/>
          <a:ln/>
        </p:spPr>
        <p:txBody>
          <a:bodyPr wrap="square" lIns="0" tIns="0" rIns="0" bIns="0" rtlCol="0" anchor="ctr"/>
          <a:lstStyle/>
          <a:p>
            <a:pPr indent="0" marL="0">
              <a:buNone/>
            </a:pPr>
            <a:r>
              <a:rPr lang="en-US" sz="1900" b="1" dirty="0">
                <a:solidFill>
                  <a:srgbClr val="D71920"/>
                </a:solidFill>
              </a:rPr>
              <a:t>Parte A — Nativo</a:t>
            </a:r>
            <a:endParaRPr lang="en-US" sz="1900" dirty="0"/>
          </a:p>
        </p:txBody>
      </p:sp>
      <p:sp>
        <p:nvSpPr>
          <p:cNvPr id="13" name="Text 10"/>
          <p:cNvSpPr/>
          <p:nvPr/>
        </p:nvSpPr>
        <p:spPr>
          <a:xfrm>
            <a:off x="1298448" y="3611880"/>
            <a:ext cx="3291840" cy="292608"/>
          </a:xfrm>
          <a:prstGeom prst="rect">
            <a:avLst/>
          </a:prstGeom>
          <a:noFill/>
          <a:ln/>
        </p:spPr>
        <p:txBody>
          <a:bodyPr wrap="square" lIns="0" tIns="0" rIns="0" bIns="0" rtlCol="0" anchor="ctr"/>
          <a:lstStyle/>
          <a:p>
            <a:pPr indent="0" marL="0">
              <a:buNone/>
            </a:pPr>
            <a:r>
              <a:rPr lang="en-US" sz="1500" dirty="0">
                <a:solidFill>
                  <a:srgbClr val="12161C"/>
                </a:solidFill>
              </a:rPr>
              <a:t>Android Studio + Kotlin</a:t>
            </a:r>
            <a:endParaRPr lang="en-US" sz="1500" dirty="0"/>
          </a:p>
        </p:txBody>
      </p:sp>
      <p:sp>
        <p:nvSpPr>
          <p:cNvPr id="14" name="Shape 11"/>
          <p:cNvSpPr/>
          <p:nvPr/>
        </p:nvSpPr>
        <p:spPr>
          <a:xfrm>
            <a:off x="6446520" y="2834640"/>
            <a:ext cx="4389120" cy="1645920"/>
          </a:xfrm>
          <a:prstGeom prst="roundRect">
            <a:avLst>
              <a:gd name="adj" fmla="val 8889"/>
            </a:avLst>
          </a:prstGeom>
          <a:solidFill>
            <a:srgbClr val="FFF9E6"/>
          </a:solidFill>
          <a:ln w="12700">
            <a:solidFill>
              <a:srgbClr val="F1D777"/>
            </a:solidFill>
            <a:prstDash val="solid"/>
          </a:ln>
        </p:spPr>
        <p:txBody>
          <a:bodyPr/>
          <a:p/>
        </p:txBody>
      </p:sp>
      <p:sp>
        <p:nvSpPr>
          <p:cNvPr id="15" name="Text 12"/>
          <p:cNvSpPr/>
          <p:nvPr/>
        </p:nvSpPr>
        <p:spPr>
          <a:xfrm>
            <a:off x="6784848" y="3154680"/>
            <a:ext cx="2194560" cy="292608"/>
          </a:xfrm>
          <a:prstGeom prst="rect">
            <a:avLst/>
          </a:prstGeom>
          <a:noFill/>
          <a:ln/>
        </p:spPr>
        <p:txBody>
          <a:bodyPr wrap="square" lIns="0" tIns="0" rIns="0" bIns="0" rtlCol="0" anchor="ctr"/>
          <a:lstStyle/>
          <a:p>
            <a:pPr indent="0" marL="0">
              <a:buNone/>
            </a:pPr>
            <a:r>
              <a:rPr lang="en-US" sz="1900" b="1" dirty="0">
                <a:solidFill>
                  <a:srgbClr val="D71920"/>
                </a:solidFill>
              </a:rPr>
              <a:t>Parte B — Híbrido</a:t>
            </a:r>
            <a:endParaRPr lang="en-US" sz="1900" dirty="0"/>
          </a:p>
        </p:txBody>
      </p:sp>
      <p:sp>
        <p:nvSpPr>
          <p:cNvPr id="16" name="Text 13"/>
          <p:cNvSpPr/>
          <p:nvPr/>
        </p:nvSpPr>
        <p:spPr>
          <a:xfrm>
            <a:off x="6784848" y="3611880"/>
            <a:ext cx="3291840" cy="292608"/>
          </a:xfrm>
          <a:prstGeom prst="rect">
            <a:avLst/>
          </a:prstGeom>
          <a:noFill/>
          <a:ln/>
        </p:spPr>
        <p:txBody>
          <a:bodyPr wrap="square" lIns="0" tIns="0" rIns="0" bIns="0" rtlCol="0" anchor="ctr"/>
          <a:lstStyle/>
          <a:p>
            <a:pPr indent="0" marL="0">
              <a:buNone/>
            </a:pPr>
            <a:r>
              <a:rPr lang="en-US" sz="1500" dirty="0">
                <a:solidFill>
                  <a:srgbClr val="12161C"/>
                </a:solidFill>
              </a:rPr>
              <a:t>React Native + Expo</a:t>
            </a:r>
            <a:endParaRPr lang="en-US" sz="1500" dirty="0"/>
          </a:p>
        </p:txBody>
      </p:sp>
      <p:sp>
        <p:nvSpPr>
          <p:cNvPr id="17" name="Text 14"/>
          <p:cNvSpPr/>
          <p:nvPr/>
        </p:nvSpPr>
        <p:spPr>
          <a:xfrm>
            <a:off x="1901952" y="5230368"/>
            <a:ext cx="8412480" cy="320040"/>
          </a:xfrm>
          <a:prstGeom prst="rect">
            <a:avLst/>
          </a:prstGeom>
          <a:noFill/>
          <a:ln/>
        </p:spPr>
        <p:txBody>
          <a:bodyPr wrap="square" lIns="0" tIns="0" rIns="0" bIns="0" rtlCol="0" anchor="ctr"/>
          <a:lstStyle/>
          <a:p>
            <a:pPr algn="ctr" indent="0" marL="0">
              <a:buNone/>
            </a:pPr>
            <a:r>
              <a:rPr lang="en-US" sz="1650" b="1" dirty="0">
                <a:solidFill>
                  <a:srgbClr val="12161C"/>
                </a:solidFill>
              </a:rPr>
              <a:t>Hoje não vamos aprofundar sintaxe. Vamos criar, rodar e comparar.</a:t>
            </a:r>
            <a:endParaRPr lang="en-US" sz="1650" dirty="0"/>
          </a:p>
        </p:txBody>
      </p:sp>
      <p:sp>
        <p:nvSpPr>
          <p:cNvPr id="19" name="Shape 15"/>
          <p:cNvSpPr/>
          <p:nvPr/>
        </p:nvSpPr>
        <p:spPr>
          <a:xfrm>
            <a:off x="621792" y="6455664"/>
            <a:ext cx="11018520" cy="0"/>
          </a:xfrm>
          <a:prstGeom prst="line">
            <a:avLst/>
          </a:prstGeom>
          <a:noFill/>
          <a:ln w="12700">
            <a:solidFill>
              <a:srgbClr val="E7E4DE"/>
            </a:solidFill>
            <a:prstDash val="solid"/>
          </a:ln>
        </p:spPr>
        <p:txBody>
          <a:bodyPr/>
          <a:p/>
        </p:txBody>
      </p:sp>
      <p:sp>
        <p:nvSpPr>
          <p:cNvPr id="20" name="Text 16"/>
          <p:cNvSpPr/>
          <p:nvPr/>
        </p:nvSpPr>
        <p:spPr>
          <a:xfrm>
            <a:off x="621792" y="6537960"/>
            <a:ext cx="2194560" cy="182880"/>
          </a:xfrm>
          <a:prstGeom prst="rect">
            <a:avLst/>
          </a:prstGeom>
          <a:noFill/>
          <a:ln/>
        </p:spPr>
        <p:txBody>
          <a:bodyPr wrap="square" lIns="0" tIns="0" rIns="0" bIns="0" rtlCol="0" anchor="ctr"/>
          <a:lstStyle/>
          <a:p>
            <a:pPr indent="0" marL="0">
              <a:buNone/>
            </a:pPr>
            <a:r>
              <a:rPr lang="en-US" sz="850" dirty="0">
                <a:solidFill>
                  <a:srgbClr val="5A6472"/>
                </a:solidFill>
              </a:rPr>
              <a:t>Emanuel Nascente</a:t>
            </a:r>
            <a:endParaRPr lang="en-US" sz="850" dirty="0"/>
          </a:p>
        </p:txBody>
      </p:sp>
      <p:sp>
        <p:nvSpPr>
          <p:cNvPr id="21" name="Text 17"/>
          <p:cNvSpPr/>
          <p:nvPr/>
        </p:nvSpPr>
        <p:spPr>
          <a:xfrm>
            <a:off x="11064240" y="6519672"/>
            <a:ext cx="548640" cy="228600"/>
          </a:xfrm>
          <a:prstGeom prst="rect">
            <a:avLst/>
          </a:prstGeom>
          <a:noFill/>
          <a:ln/>
        </p:spPr>
        <p:txBody>
          <a:bodyPr wrap="square" lIns="0" tIns="0" rIns="0" bIns="0" rtlCol="0" anchor="ctr"/>
          <a:lstStyle/>
          <a:p>
            <a:pPr algn="r" indent="0" marL="0">
              <a:buNone/>
            </a:pPr>
            <a:r>
              <a:rPr sz="850" b="1">
                <a:solidFill>
                  <a:srgbClr val="5A6472"/>
                </a:solidFill>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D71920"/>
          </a:solidFill>
          <a:ln w="12700">
            <a:solidFill>
              <a:srgbClr val="D71920"/>
            </a:solidFill>
            <a:prstDash val="solid"/>
          </a:ln>
        </p:spPr>
        <p:txBody>
          <a:bodyPr/>
          <a:p/>
        </p:txBody>
      </p:sp>
      <p:sp>
        <p:nvSpPr>
          <p:cNvPr id="3" name="Shape 1"/>
          <p:cNvSpPr/>
          <p:nvPr/>
        </p:nvSpPr>
        <p:spPr>
          <a:xfrm>
            <a:off x="164592" y="0"/>
            <a:ext cx="54864" cy="6858000"/>
          </a:xfrm>
          <a:prstGeom prst="rect">
            <a:avLst/>
          </a:prstGeom>
          <a:solidFill>
            <a:srgbClr val="FFD322"/>
          </a:solidFill>
          <a:ln w="12700">
            <a:solidFill>
              <a:srgbClr val="FFD322"/>
            </a:solidFill>
            <a:prstDash val="solid"/>
          </a:ln>
        </p:spPr>
        <p:txBody>
          <a:bodyPr/>
          <a:p/>
        </p:txBody>
      </p:sp>
      <p:sp>
        <p:nvSpPr>
          <p:cNvPr id="4" name="Text 2"/>
          <p:cNvSpPr/>
          <p:nvPr/>
        </p:nvSpPr>
        <p:spPr>
          <a:xfrm>
            <a:off x="438912" y="210312"/>
            <a:ext cx="2103120" cy="256032"/>
          </a:xfrm>
          <a:prstGeom prst="rect">
            <a:avLst/>
          </a:prstGeom>
          <a:noFill/>
          <a:ln/>
        </p:spPr>
        <p:txBody>
          <a:bodyPr wrap="square" lIns="0" tIns="0" rIns="0" bIns="0" rtlCol="0" anchor="ctr"/>
          <a:lstStyle/>
          <a:p>
            <a:pPr indent="0" marL="0">
              <a:buNone/>
            </a:pPr>
            <a:r>
              <a:rPr lang="en-US" sz="950" b="1" dirty="0">
                <a:solidFill>
                  <a:srgbClr val="D71920"/>
                </a:solidFill>
                <a:latin typeface="Aptos" pitchFamily="34" charset="0"/>
                <a:ea typeface="Aptos" pitchFamily="34" charset="-122"/>
                <a:cs typeface="Aptos" pitchFamily="34" charset="-120"/>
              </a:rPr>
              <a:t>Laboratório 01</a:t>
            </a:r>
            <a:endParaRPr lang="en-US" sz="950" dirty="0"/>
          </a:p>
        </p:txBody>
      </p:sp>
      <p:sp>
        <p:nvSpPr>
          <p:cNvPr id="5" name="Text 3"/>
          <p:cNvSpPr/>
          <p:nvPr/>
        </p:nvSpPr>
        <p:spPr>
          <a:xfrm>
            <a:off x="2788920" y="210312"/>
            <a:ext cx="2743200" cy="256032"/>
          </a:xfrm>
          <a:prstGeom prst="rect">
            <a:avLst/>
          </a:prstGeom>
          <a:noFill/>
          <a:ln/>
        </p:spPr>
        <p:txBody>
          <a:bodyPr wrap="square" lIns="0" tIns="0" rIns="0" bIns="0" rtlCol="0" anchor="ctr"/>
          <a:lstStyle/>
          <a:p>
            <a:pPr indent="0" marL="0">
              <a:buNone/>
            </a:pPr>
            <a:r>
              <a:rPr lang="en-US" sz="950" dirty="0">
                <a:solidFill>
                  <a:srgbClr val="5A6472"/>
                </a:solidFill>
              </a:rPr>
              <a:t>Desenvolvimento Mobile</a:t>
            </a:r>
            <a:endParaRPr lang="en-US" sz="950" dirty="0"/>
          </a:p>
        </p:txBody>
      </p:sp>
      <p:pic>
        <p:nvPicPr>
          <p:cNvPr id="6" name="Image 0" descr="/mnt/data/logo_mesquita_stylized.png">    </p:cNvPr>
          <p:cNvPicPr>
            <a:picLocks noChangeAspect="1"/>
          </p:cNvPicPr>
          <p:nvPr/>
        </p:nvPicPr>
        <p:blipFill>
          <a:blip r:embed="rId1"/>
          <a:stretch>
            <a:fillRect/>
          </a:stretch>
        </p:blipFill>
        <p:spPr>
          <a:xfrm>
            <a:off x="10744200" y="128016"/>
            <a:ext cx="987552" cy="685800"/>
          </a:xfrm>
          <a:prstGeom prst="rect">
            <a:avLst/>
          </a:prstGeom>
        </p:spPr>
      </p:pic>
      <p:sp>
        <p:nvSpPr>
          <p:cNvPr id="7" name="Text 4"/>
          <p:cNvSpPr/>
          <p:nvPr/>
        </p:nvSpPr>
        <p:spPr>
          <a:xfrm>
            <a:off x="502920" y="749808"/>
            <a:ext cx="8503920" cy="530352"/>
          </a:xfrm>
          <a:prstGeom prst="rect">
            <a:avLst/>
          </a:prstGeom>
          <a:noFill/>
          <a:ln/>
        </p:spPr>
        <p:txBody>
          <a:bodyPr wrap="square" lIns="0" tIns="0" rIns="0" bIns="0" rtlCol="0" anchor="ctr">
            <a:normAutofit/>
          </a:bodyPr>
          <a:lstStyle/>
          <a:p>
            <a:pPr indent="0" marL="0">
              <a:buNone/>
            </a:pPr>
            <a:r>
              <a:rPr lang="en-US" sz="3000" b="1" dirty="0">
                <a:solidFill>
                  <a:srgbClr val="12161C"/>
                </a:solidFill>
                <a:latin typeface="Aptos Display" pitchFamily="34" charset="0"/>
                <a:ea typeface="Aptos Display" pitchFamily="34" charset="-122"/>
                <a:cs typeface="Aptos Display" pitchFamily="34" charset="-120"/>
              </a:rPr>
              <a:t>Antes de começar: checklist</a:t>
            </a:r>
            <a:endParaRPr lang="en-US" sz="3000" dirty="0"/>
          </a:p>
        </p:txBody>
      </p:sp>
      <p:sp>
        <p:nvSpPr>
          <p:cNvPr id="8" name="Text 5"/>
          <p:cNvSpPr/>
          <p:nvPr/>
        </p:nvSpPr>
        <p:spPr>
          <a:xfrm>
            <a:off x="530352" y="1325880"/>
            <a:ext cx="7589520" cy="320040"/>
          </a:xfrm>
          <a:prstGeom prst="rect">
            <a:avLst/>
          </a:prstGeom>
          <a:noFill/>
          <a:ln/>
        </p:spPr>
        <p:txBody>
          <a:bodyPr wrap="square" lIns="0" tIns="0" rIns="0" bIns="0" rtlCol="0" anchor="ctr"/>
          <a:lstStyle/>
          <a:p>
            <a:pPr indent="0" marL="0">
              <a:buNone/>
            </a:pPr>
            <a:r>
              <a:rPr lang="en-US" sz="1350" dirty="0">
                <a:solidFill>
                  <a:srgbClr val="5A6472"/>
                </a:solidFill>
              </a:rPr>
              <a:t>Evita perder a aula inteira com instalação.</a:t>
            </a:r>
            <a:endParaRPr lang="en-US" sz="1350" dirty="0"/>
          </a:p>
        </p:txBody>
      </p:sp>
      <p:sp>
        <p:nvSpPr>
          <p:cNvPr id="9" name="Shape 6"/>
          <p:cNvSpPr/>
          <p:nvPr/>
        </p:nvSpPr>
        <p:spPr>
          <a:xfrm>
            <a:off x="914400" y="1874520"/>
            <a:ext cx="4389120" cy="621792"/>
          </a:xfrm>
          <a:prstGeom prst="roundRect">
            <a:avLst>
              <a:gd name="adj" fmla="val 17647"/>
            </a:avLst>
          </a:prstGeom>
          <a:solidFill>
            <a:srgbClr val="FFFFFF"/>
          </a:solidFill>
          <a:ln w="12700">
            <a:solidFill>
              <a:srgbClr val="E7E4DE"/>
            </a:solidFill>
            <a:prstDash val="solid"/>
          </a:ln>
        </p:spPr>
        <p:txBody>
          <a:bodyPr/>
          <a:p/>
        </p:txBody>
      </p:sp>
      <p:sp>
        <p:nvSpPr>
          <p:cNvPr id="10" name="Shape 7"/>
          <p:cNvSpPr/>
          <p:nvPr/>
        </p:nvSpPr>
        <p:spPr>
          <a:xfrm>
            <a:off x="1078992" y="2039112"/>
            <a:ext cx="237744" cy="237744"/>
          </a:xfrm>
          <a:prstGeom prst="ellipse">
            <a:avLst/>
          </a:prstGeom>
          <a:solidFill>
            <a:srgbClr val="D71920"/>
          </a:solidFill>
          <a:ln w="12700">
            <a:solidFill>
              <a:srgbClr val="D71920"/>
            </a:solidFill>
            <a:prstDash val="solid"/>
          </a:ln>
        </p:spPr>
        <p:txBody>
          <a:bodyPr/>
          <a:p/>
        </p:txBody>
      </p:sp>
      <p:sp>
        <p:nvSpPr>
          <p:cNvPr id="11" name="Text 8"/>
          <p:cNvSpPr/>
          <p:nvPr/>
        </p:nvSpPr>
        <p:spPr>
          <a:xfrm>
            <a:off x="1083564" y="2043684"/>
            <a:ext cx="228600" cy="73152"/>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2" name="Text 9"/>
          <p:cNvSpPr/>
          <p:nvPr/>
        </p:nvSpPr>
        <p:spPr>
          <a:xfrm>
            <a:off x="1444752" y="2002536"/>
            <a:ext cx="2194560" cy="201168"/>
          </a:xfrm>
          <a:prstGeom prst="rect">
            <a:avLst/>
          </a:prstGeom>
          <a:noFill/>
          <a:ln/>
        </p:spPr>
        <p:txBody>
          <a:bodyPr wrap="square" lIns="0" tIns="0" rIns="0" bIns="0" rtlCol="0" anchor="ctr">
            <a:normAutofit/>
          </a:bodyPr>
          <a:lstStyle/>
          <a:p>
            <a:pPr indent="0" marL="0">
              <a:buNone/>
            </a:pPr>
            <a:r>
              <a:rPr lang="en-US" sz="1420" b="1" dirty="0">
                <a:solidFill>
                  <a:srgbClr val="12161C"/>
                </a:solidFill>
              </a:rPr>
              <a:t>Android Studio</a:t>
            </a:r>
            <a:endParaRPr lang="en-US" sz="1420" dirty="0"/>
          </a:p>
        </p:txBody>
      </p:sp>
      <p:sp>
        <p:nvSpPr>
          <p:cNvPr id="13" name="Text 10"/>
          <p:cNvSpPr/>
          <p:nvPr/>
        </p:nvSpPr>
        <p:spPr>
          <a:xfrm>
            <a:off x="1444752" y="2240280"/>
            <a:ext cx="3474720" cy="164592"/>
          </a:xfrm>
          <a:prstGeom prst="rect">
            <a:avLst/>
          </a:prstGeom>
          <a:noFill/>
          <a:ln/>
        </p:spPr>
        <p:txBody>
          <a:bodyPr wrap="square" lIns="0" tIns="0" rIns="0" bIns="0" rtlCol="0" anchor="ctr">
            <a:normAutofit/>
          </a:bodyPr>
          <a:lstStyle/>
          <a:p>
            <a:pPr indent="0" marL="0">
              <a:buNone/>
            </a:pPr>
            <a:r>
              <a:rPr lang="en-US" sz="980" dirty="0">
                <a:solidFill>
                  <a:srgbClr val="5A6472"/>
                </a:solidFill>
              </a:rPr>
              <a:t>para criar projeto Android nativo</a:t>
            </a:r>
            <a:endParaRPr lang="en-US" sz="980" dirty="0"/>
          </a:p>
        </p:txBody>
      </p:sp>
      <p:sp>
        <p:nvSpPr>
          <p:cNvPr id="14" name="Shape 11"/>
          <p:cNvSpPr/>
          <p:nvPr/>
        </p:nvSpPr>
        <p:spPr>
          <a:xfrm>
            <a:off x="914400" y="2834640"/>
            <a:ext cx="4389120" cy="621792"/>
          </a:xfrm>
          <a:prstGeom prst="roundRect">
            <a:avLst>
              <a:gd name="adj" fmla="val 17647"/>
            </a:avLst>
          </a:prstGeom>
          <a:solidFill>
            <a:srgbClr val="FFFFFF"/>
          </a:solidFill>
          <a:ln w="12700">
            <a:solidFill>
              <a:srgbClr val="E7E4DE"/>
            </a:solidFill>
            <a:prstDash val="solid"/>
          </a:ln>
        </p:spPr>
        <p:txBody>
          <a:bodyPr/>
          <a:p/>
        </p:txBody>
      </p:sp>
      <p:sp>
        <p:nvSpPr>
          <p:cNvPr id="15" name="Shape 12"/>
          <p:cNvSpPr/>
          <p:nvPr/>
        </p:nvSpPr>
        <p:spPr>
          <a:xfrm>
            <a:off x="1078992" y="2999232"/>
            <a:ext cx="237744" cy="237744"/>
          </a:xfrm>
          <a:prstGeom prst="ellipse">
            <a:avLst/>
          </a:prstGeom>
          <a:solidFill>
            <a:srgbClr val="D71920"/>
          </a:solidFill>
          <a:ln w="12700">
            <a:solidFill>
              <a:srgbClr val="D71920"/>
            </a:solidFill>
            <a:prstDash val="solid"/>
          </a:ln>
        </p:spPr>
        <p:txBody>
          <a:bodyPr/>
          <a:p/>
        </p:txBody>
      </p:sp>
      <p:sp>
        <p:nvSpPr>
          <p:cNvPr id="16" name="Text 13"/>
          <p:cNvSpPr/>
          <p:nvPr/>
        </p:nvSpPr>
        <p:spPr>
          <a:xfrm>
            <a:off x="1083564" y="3003804"/>
            <a:ext cx="228600" cy="73152"/>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7" name="Text 14"/>
          <p:cNvSpPr/>
          <p:nvPr/>
        </p:nvSpPr>
        <p:spPr>
          <a:xfrm>
            <a:off x="1444752" y="2962656"/>
            <a:ext cx="2194560" cy="201168"/>
          </a:xfrm>
          <a:prstGeom prst="rect">
            <a:avLst/>
          </a:prstGeom>
          <a:noFill/>
          <a:ln/>
        </p:spPr>
        <p:txBody>
          <a:bodyPr wrap="square" lIns="0" tIns="0" rIns="0" bIns="0" rtlCol="0" anchor="ctr">
            <a:normAutofit/>
          </a:bodyPr>
          <a:lstStyle/>
          <a:p>
            <a:pPr indent="0" marL="0">
              <a:buNone/>
            </a:pPr>
            <a:r>
              <a:rPr lang="en-US" sz="1420" b="1" dirty="0">
                <a:solidFill>
                  <a:srgbClr val="12161C"/>
                </a:solidFill>
              </a:rPr>
              <a:t>Android SDK</a:t>
            </a:r>
            <a:endParaRPr lang="en-US" sz="1420" dirty="0"/>
          </a:p>
        </p:txBody>
      </p:sp>
      <p:sp>
        <p:nvSpPr>
          <p:cNvPr id="18" name="Text 15"/>
          <p:cNvSpPr/>
          <p:nvPr/>
        </p:nvSpPr>
        <p:spPr>
          <a:xfrm>
            <a:off x="1444752" y="3200400"/>
            <a:ext cx="3474720" cy="164592"/>
          </a:xfrm>
          <a:prstGeom prst="rect">
            <a:avLst/>
          </a:prstGeom>
          <a:noFill/>
          <a:ln/>
        </p:spPr>
        <p:txBody>
          <a:bodyPr wrap="square" lIns="0" tIns="0" rIns="0" bIns="0" rtlCol="0" anchor="ctr">
            <a:normAutofit/>
          </a:bodyPr>
          <a:lstStyle/>
          <a:p>
            <a:pPr indent="0" marL="0">
              <a:buNone/>
            </a:pPr>
            <a:r>
              <a:rPr lang="en-US" sz="980" dirty="0">
                <a:solidFill>
                  <a:srgbClr val="5A6472"/>
                </a:solidFill>
              </a:rPr>
              <a:t>componentes da plataforma Android</a:t>
            </a:r>
            <a:endParaRPr lang="en-US" sz="980" dirty="0"/>
          </a:p>
        </p:txBody>
      </p:sp>
      <p:sp>
        <p:nvSpPr>
          <p:cNvPr id="19" name="Shape 16"/>
          <p:cNvSpPr/>
          <p:nvPr/>
        </p:nvSpPr>
        <p:spPr>
          <a:xfrm>
            <a:off x="914400" y="3794760"/>
            <a:ext cx="4389120" cy="621792"/>
          </a:xfrm>
          <a:prstGeom prst="roundRect">
            <a:avLst>
              <a:gd name="adj" fmla="val 17647"/>
            </a:avLst>
          </a:prstGeom>
          <a:solidFill>
            <a:srgbClr val="FFFFFF"/>
          </a:solidFill>
          <a:ln w="12700">
            <a:solidFill>
              <a:srgbClr val="E7E4DE"/>
            </a:solidFill>
            <a:prstDash val="solid"/>
          </a:ln>
        </p:spPr>
        <p:txBody>
          <a:bodyPr/>
          <a:p/>
        </p:txBody>
      </p:sp>
      <p:sp>
        <p:nvSpPr>
          <p:cNvPr id="20" name="Shape 17"/>
          <p:cNvSpPr/>
          <p:nvPr/>
        </p:nvSpPr>
        <p:spPr>
          <a:xfrm>
            <a:off x="1078992" y="3959352"/>
            <a:ext cx="237744" cy="237744"/>
          </a:xfrm>
          <a:prstGeom prst="ellipse">
            <a:avLst/>
          </a:prstGeom>
          <a:solidFill>
            <a:srgbClr val="D71920"/>
          </a:solidFill>
          <a:ln w="12700">
            <a:solidFill>
              <a:srgbClr val="D71920"/>
            </a:solidFill>
            <a:prstDash val="solid"/>
          </a:ln>
        </p:spPr>
        <p:txBody>
          <a:bodyPr/>
          <a:p/>
        </p:txBody>
      </p:sp>
      <p:sp>
        <p:nvSpPr>
          <p:cNvPr id="21" name="Text 18"/>
          <p:cNvSpPr/>
          <p:nvPr/>
        </p:nvSpPr>
        <p:spPr>
          <a:xfrm>
            <a:off x="1083564" y="3963924"/>
            <a:ext cx="228600" cy="73152"/>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2" name="Text 19"/>
          <p:cNvSpPr/>
          <p:nvPr/>
        </p:nvSpPr>
        <p:spPr>
          <a:xfrm>
            <a:off x="1444752" y="3922776"/>
            <a:ext cx="2194560" cy="201168"/>
          </a:xfrm>
          <a:prstGeom prst="rect">
            <a:avLst/>
          </a:prstGeom>
          <a:noFill/>
          <a:ln/>
        </p:spPr>
        <p:txBody>
          <a:bodyPr wrap="square" lIns="0" tIns="0" rIns="0" bIns="0" rtlCol="0" anchor="ctr">
            <a:normAutofit/>
          </a:bodyPr>
          <a:lstStyle/>
          <a:p>
            <a:pPr indent="0" marL="0">
              <a:buNone/>
            </a:pPr>
            <a:r>
              <a:rPr lang="en-US" sz="1420" b="1" dirty="0">
                <a:solidFill>
                  <a:srgbClr val="12161C"/>
                </a:solidFill>
              </a:rPr>
              <a:t>Node.js LTS</a:t>
            </a:r>
            <a:endParaRPr lang="en-US" sz="1420" dirty="0"/>
          </a:p>
        </p:txBody>
      </p:sp>
      <p:sp>
        <p:nvSpPr>
          <p:cNvPr id="23" name="Text 20"/>
          <p:cNvSpPr/>
          <p:nvPr/>
        </p:nvSpPr>
        <p:spPr>
          <a:xfrm>
            <a:off x="1444752" y="4160520"/>
            <a:ext cx="3474720" cy="164592"/>
          </a:xfrm>
          <a:prstGeom prst="rect">
            <a:avLst/>
          </a:prstGeom>
          <a:noFill/>
          <a:ln/>
        </p:spPr>
        <p:txBody>
          <a:bodyPr wrap="square" lIns="0" tIns="0" rIns="0" bIns="0" rtlCol="0" anchor="ctr">
            <a:normAutofit/>
          </a:bodyPr>
          <a:lstStyle/>
          <a:p>
            <a:pPr indent="0" marL="0">
              <a:buNone/>
            </a:pPr>
            <a:r>
              <a:rPr lang="en-US" sz="980" dirty="0">
                <a:solidFill>
                  <a:srgbClr val="5A6472"/>
                </a:solidFill>
              </a:rPr>
              <a:t>necessário para projetos Expo</a:t>
            </a:r>
            <a:endParaRPr lang="en-US" sz="980" dirty="0"/>
          </a:p>
        </p:txBody>
      </p:sp>
      <p:sp>
        <p:nvSpPr>
          <p:cNvPr id="24" name="Shape 21"/>
          <p:cNvSpPr/>
          <p:nvPr/>
        </p:nvSpPr>
        <p:spPr>
          <a:xfrm>
            <a:off x="6400800" y="1874520"/>
            <a:ext cx="4389120" cy="621792"/>
          </a:xfrm>
          <a:prstGeom prst="roundRect">
            <a:avLst>
              <a:gd name="adj" fmla="val 17647"/>
            </a:avLst>
          </a:prstGeom>
          <a:solidFill>
            <a:srgbClr val="FFFFFF"/>
          </a:solidFill>
          <a:ln w="12700">
            <a:solidFill>
              <a:srgbClr val="E7E4DE"/>
            </a:solidFill>
            <a:prstDash val="solid"/>
          </a:ln>
        </p:spPr>
        <p:txBody>
          <a:bodyPr/>
          <a:p/>
        </p:txBody>
      </p:sp>
      <p:sp>
        <p:nvSpPr>
          <p:cNvPr id="25" name="Shape 22"/>
          <p:cNvSpPr/>
          <p:nvPr/>
        </p:nvSpPr>
        <p:spPr>
          <a:xfrm>
            <a:off x="6565392" y="2039112"/>
            <a:ext cx="237744" cy="237744"/>
          </a:xfrm>
          <a:prstGeom prst="ellipse">
            <a:avLst/>
          </a:prstGeom>
          <a:solidFill>
            <a:srgbClr val="D71920"/>
          </a:solidFill>
          <a:ln w="12700">
            <a:solidFill>
              <a:srgbClr val="D71920"/>
            </a:solidFill>
            <a:prstDash val="solid"/>
          </a:ln>
        </p:spPr>
        <p:txBody>
          <a:bodyPr/>
          <a:p/>
        </p:txBody>
      </p:sp>
      <p:sp>
        <p:nvSpPr>
          <p:cNvPr id="26" name="Text 23"/>
          <p:cNvSpPr/>
          <p:nvPr/>
        </p:nvSpPr>
        <p:spPr>
          <a:xfrm>
            <a:off x="6569964" y="2043684"/>
            <a:ext cx="228600" cy="73152"/>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7" name="Text 24"/>
          <p:cNvSpPr/>
          <p:nvPr/>
        </p:nvSpPr>
        <p:spPr>
          <a:xfrm>
            <a:off x="6931152" y="2002536"/>
            <a:ext cx="2194560" cy="201168"/>
          </a:xfrm>
          <a:prstGeom prst="rect">
            <a:avLst/>
          </a:prstGeom>
          <a:noFill/>
          <a:ln/>
        </p:spPr>
        <p:txBody>
          <a:bodyPr wrap="square" lIns="0" tIns="0" rIns="0" bIns="0" rtlCol="0" anchor="ctr">
            <a:normAutofit/>
          </a:bodyPr>
          <a:lstStyle/>
          <a:p>
            <a:pPr indent="0" marL="0">
              <a:buNone/>
            </a:pPr>
            <a:r>
              <a:rPr lang="en-US" sz="1420" b="1" dirty="0">
                <a:solidFill>
                  <a:srgbClr val="12161C"/>
                </a:solidFill>
              </a:rPr>
              <a:t>VS Code</a:t>
            </a:r>
            <a:endParaRPr lang="en-US" sz="1420" dirty="0"/>
          </a:p>
        </p:txBody>
      </p:sp>
      <p:sp>
        <p:nvSpPr>
          <p:cNvPr id="28" name="Text 25"/>
          <p:cNvSpPr/>
          <p:nvPr/>
        </p:nvSpPr>
        <p:spPr>
          <a:xfrm>
            <a:off x="6931152" y="2240280"/>
            <a:ext cx="3474720" cy="164592"/>
          </a:xfrm>
          <a:prstGeom prst="rect">
            <a:avLst/>
          </a:prstGeom>
          <a:noFill/>
          <a:ln/>
        </p:spPr>
        <p:txBody>
          <a:bodyPr wrap="square" lIns="0" tIns="0" rIns="0" bIns="0" rtlCol="0" anchor="ctr">
            <a:normAutofit/>
          </a:bodyPr>
          <a:lstStyle/>
          <a:p>
            <a:pPr indent="0" marL="0">
              <a:buNone/>
            </a:pPr>
            <a:r>
              <a:rPr lang="en-US" sz="980" dirty="0">
                <a:solidFill>
                  <a:srgbClr val="5A6472"/>
                </a:solidFill>
              </a:rPr>
              <a:t>editor para projeto React Native / Expo</a:t>
            </a:r>
            <a:endParaRPr lang="en-US" sz="980" dirty="0"/>
          </a:p>
        </p:txBody>
      </p:sp>
      <p:sp>
        <p:nvSpPr>
          <p:cNvPr id="29" name="Shape 26"/>
          <p:cNvSpPr/>
          <p:nvPr/>
        </p:nvSpPr>
        <p:spPr>
          <a:xfrm>
            <a:off x="6400800" y="2834640"/>
            <a:ext cx="4389120" cy="621792"/>
          </a:xfrm>
          <a:prstGeom prst="roundRect">
            <a:avLst>
              <a:gd name="adj" fmla="val 17647"/>
            </a:avLst>
          </a:prstGeom>
          <a:solidFill>
            <a:srgbClr val="FFFFFF"/>
          </a:solidFill>
          <a:ln w="12700">
            <a:solidFill>
              <a:srgbClr val="E7E4DE"/>
            </a:solidFill>
            <a:prstDash val="solid"/>
          </a:ln>
        </p:spPr>
        <p:txBody>
          <a:bodyPr/>
          <a:p/>
        </p:txBody>
      </p:sp>
      <p:sp>
        <p:nvSpPr>
          <p:cNvPr id="30" name="Shape 27"/>
          <p:cNvSpPr/>
          <p:nvPr/>
        </p:nvSpPr>
        <p:spPr>
          <a:xfrm>
            <a:off x="6565392" y="2999232"/>
            <a:ext cx="237744" cy="237744"/>
          </a:xfrm>
          <a:prstGeom prst="ellipse">
            <a:avLst/>
          </a:prstGeom>
          <a:solidFill>
            <a:srgbClr val="D71920"/>
          </a:solidFill>
          <a:ln w="12700">
            <a:solidFill>
              <a:srgbClr val="D71920"/>
            </a:solidFill>
            <a:prstDash val="solid"/>
          </a:ln>
        </p:spPr>
        <p:txBody>
          <a:bodyPr/>
          <a:p/>
        </p:txBody>
      </p:sp>
      <p:sp>
        <p:nvSpPr>
          <p:cNvPr id="31" name="Text 28"/>
          <p:cNvSpPr/>
          <p:nvPr/>
        </p:nvSpPr>
        <p:spPr>
          <a:xfrm>
            <a:off x="6569964" y="3003804"/>
            <a:ext cx="228600" cy="73152"/>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32" name="Text 29"/>
          <p:cNvSpPr/>
          <p:nvPr/>
        </p:nvSpPr>
        <p:spPr>
          <a:xfrm>
            <a:off x="6931152" y="2962656"/>
            <a:ext cx="2194560" cy="201168"/>
          </a:xfrm>
          <a:prstGeom prst="rect">
            <a:avLst/>
          </a:prstGeom>
          <a:noFill/>
          <a:ln/>
        </p:spPr>
        <p:txBody>
          <a:bodyPr wrap="square" lIns="0" tIns="0" rIns="0" bIns="0" rtlCol="0" anchor="ctr">
            <a:normAutofit/>
          </a:bodyPr>
          <a:lstStyle/>
          <a:p>
            <a:pPr indent="0" marL="0">
              <a:buNone/>
            </a:pPr>
            <a:r>
              <a:rPr lang="en-US" sz="1420" b="1" dirty="0">
                <a:solidFill>
                  <a:srgbClr val="12161C"/>
                </a:solidFill>
              </a:rPr>
              <a:t>Celular ou emulador</a:t>
            </a:r>
            <a:endParaRPr lang="en-US" sz="1420" dirty="0"/>
          </a:p>
        </p:txBody>
      </p:sp>
      <p:sp>
        <p:nvSpPr>
          <p:cNvPr id="33" name="Text 30"/>
          <p:cNvSpPr/>
          <p:nvPr/>
        </p:nvSpPr>
        <p:spPr>
          <a:xfrm>
            <a:off x="6931152" y="3200400"/>
            <a:ext cx="3474720" cy="164592"/>
          </a:xfrm>
          <a:prstGeom prst="rect">
            <a:avLst/>
          </a:prstGeom>
          <a:noFill/>
          <a:ln/>
        </p:spPr>
        <p:txBody>
          <a:bodyPr wrap="square" lIns="0" tIns="0" rIns="0" bIns="0" rtlCol="0" anchor="ctr">
            <a:normAutofit/>
          </a:bodyPr>
          <a:lstStyle/>
          <a:p>
            <a:pPr indent="0" marL="0">
              <a:buNone/>
            </a:pPr>
            <a:r>
              <a:rPr lang="en-US" sz="980" dirty="0">
                <a:solidFill>
                  <a:srgbClr val="5A6472"/>
                </a:solidFill>
              </a:rPr>
              <a:t>para executar e visualizar o app</a:t>
            </a:r>
            <a:endParaRPr lang="en-US" sz="980" dirty="0"/>
          </a:p>
        </p:txBody>
      </p:sp>
      <p:sp>
        <p:nvSpPr>
          <p:cNvPr id="34" name="Shape 31"/>
          <p:cNvSpPr/>
          <p:nvPr/>
        </p:nvSpPr>
        <p:spPr>
          <a:xfrm>
            <a:off x="6400800" y="3794760"/>
            <a:ext cx="4389120" cy="621792"/>
          </a:xfrm>
          <a:prstGeom prst="roundRect">
            <a:avLst>
              <a:gd name="adj" fmla="val 17647"/>
            </a:avLst>
          </a:prstGeom>
          <a:solidFill>
            <a:srgbClr val="FFFFFF"/>
          </a:solidFill>
          <a:ln w="12700">
            <a:solidFill>
              <a:srgbClr val="E7E4DE"/>
            </a:solidFill>
            <a:prstDash val="solid"/>
          </a:ln>
        </p:spPr>
        <p:txBody>
          <a:bodyPr/>
          <a:p/>
        </p:txBody>
      </p:sp>
      <p:sp>
        <p:nvSpPr>
          <p:cNvPr id="35" name="Shape 32"/>
          <p:cNvSpPr/>
          <p:nvPr/>
        </p:nvSpPr>
        <p:spPr>
          <a:xfrm>
            <a:off x="6565392" y="3959352"/>
            <a:ext cx="237744" cy="237744"/>
          </a:xfrm>
          <a:prstGeom prst="ellipse">
            <a:avLst/>
          </a:prstGeom>
          <a:solidFill>
            <a:srgbClr val="D71920"/>
          </a:solidFill>
          <a:ln w="12700">
            <a:solidFill>
              <a:srgbClr val="D71920"/>
            </a:solidFill>
            <a:prstDash val="solid"/>
          </a:ln>
        </p:spPr>
        <p:txBody>
          <a:bodyPr/>
          <a:p/>
        </p:txBody>
      </p:sp>
      <p:sp>
        <p:nvSpPr>
          <p:cNvPr id="36" name="Text 33"/>
          <p:cNvSpPr/>
          <p:nvPr/>
        </p:nvSpPr>
        <p:spPr>
          <a:xfrm>
            <a:off x="6569964" y="3963924"/>
            <a:ext cx="228600" cy="73152"/>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37" name="Text 34"/>
          <p:cNvSpPr/>
          <p:nvPr/>
        </p:nvSpPr>
        <p:spPr>
          <a:xfrm>
            <a:off x="6931152" y="3922776"/>
            <a:ext cx="2194560" cy="201168"/>
          </a:xfrm>
          <a:prstGeom prst="rect">
            <a:avLst/>
          </a:prstGeom>
          <a:noFill/>
          <a:ln/>
        </p:spPr>
        <p:txBody>
          <a:bodyPr wrap="square" lIns="0" tIns="0" rIns="0" bIns="0" rtlCol="0" anchor="ctr">
            <a:normAutofit/>
          </a:bodyPr>
          <a:lstStyle/>
          <a:p>
            <a:pPr indent="0" marL="0">
              <a:buNone/>
            </a:pPr>
            <a:r>
              <a:rPr lang="en-US" sz="1420" b="1" dirty="0">
                <a:solidFill>
                  <a:srgbClr val="12161C"/>
                </a:solidFill>
              </a:rPr>
              <a:t>Internet</a:t>
            </a:r>
            <a:endParaRPr lang="en-US" sz="1420" dirty="0"/>
          </a:p>
        </p:txBody>
      </p:sp>
      <p:sp>
        <p:nvSpPr>
          <p:cNvPr id="38" name="Text 35"/>
          <p:cNvSpPr/>
          <p:nvPr/>
        </p:nvSpPr>
        <p:spPr>
          <a:xfrm>
            <a:off x="6931152" y="4160520"/>
            <a:ext cx="3474720" cy="164592"/>
          </a:xfrm>
          <a:prstGeom prst="rect">
            <a:avLst/>
          </a:prstGeom>
          <a:noFill/>
          <a:ln/>
        </p:spPr>
        <p:txBody>
          <a:bodyPr wrap="square" lIns="0" tIns="0" rIns="0" bIns="0" rtlCol="0" anchor="ctr">
            <a:normAutofit/>
          </a:bodyPr>
          <a:lstStyle/>
          <a:p>
            <a:pPr indent="0" marL="0">
              <a:buNone/>
            </a:pPr>
            <a:r>
              <a:rPr lang="en-US" sz="980" dirty="0">
                <a:solidFill>
                  <a:srgbClr val="5A6472"/>
                </a:solidFill>
              </a:rPr>
              <a:t>para criação do projeto Expo, se necessário</a:t>
            </a:r>
            <a:endParaRPr lang="en-US" sz="980" dirty="0"/>
          </a:p>
        </p:txBody>
      </p:sp>
      <p:sp>
        <p:nvSpPr>
          <p:cNvPr id="39" name="Shape 36"/>
          <p:cNvSpPr/>
          <p:nvPr/>
        </p:nvSpPr>
        <p:spPr>
          <a:xfrm>
            <a:off x="1463040" y="5257800"/>
            <a:ext cx="9235440" cy="502920"/>
          </a:xfrm>
          <a:prstGeom prst="roundRect">
            <a:avLst>
              <a:gd name="adj" fmla="val 21818"/>
            </a:avLst>
          </a:prstGeom>
          <a:solidFill>
            <a:srgbClr val="FFF9E6"/>
          </a:solidFill>
          <a:ln w="12700">
            <a:solidFill>
              <a:srgbClr val="F1D777"/>
            </a:solidFill>
            <a:prstDash val="solid"/>
          </a:ln>
        </p:spPr>
        <p:txBody>
          <a:bodyPr/>
          <a:p/>
        </p:txBody>
      </p:sp>
      <p:sp>
        <p:nvSpPr>
          <p:cNvPr id="40" name="Text 37"/>
          <p:cNvSpPr/>
          <p:nvPr/>
        </p:nvSpPr>
        <p:spPr>
          <a:xfrm>
            <a:off x="1737360" y="5413248"/>
            <a:ext cx="8686800" cy="164592"/>
          </a:xfrm>
          <a:prstGeom prst="rect">
            <a:avLst/>
          </a:prstGeom>
          <a:noFill/>
          <a:ln/>
        </p:spPr>
        <p:txBody>
          <a:bodyPr wrap="square" lIns="0" tIns="0" rIns="0" bIns="0" rtlCol="0" anchor="ctr"/>
          <a:lstStyle/>
          <a:p>
            <a:pPr algn="ctr" indent="0" marL="0">
              <a:buNone/>
            </a:pPr>
            <a:r>
              <a:rPr lang="en-US" sz="1350" b="1" dirty="0">
                <a:solidFill>
                  <a:srgbClr val="12161C"/>
                </a:solidFill>
              </a:rPr>
              <a:t>Com turma grande, o ideal é deixar tudo instalado antes da aula.</a:t>
            </a:r>
            <a:endParaRPr lang="en-US" sz="1350" dirty="0"/>
          </a:p>
        </p:txBody>
      </p:sp>
      <p:sp>
        <p:nvSpPr>
          <p:cNvPr id="42" name="Shape 38"/>
          <p:cNvSpPr/>
          <p:nvPr/>
        </p:nvSpPr>
        <p:spPr>
          <a:xfrm>
            <a:off x="621792" y="6455664"/>
            <a:ext cx="11018520" cy="0"/>
          </a:xfrm>
          <a:prstGeom prst="line">
            <a:avLst/>
          </a:prstGeom>
          <a:noFill/>
          <a:ln w="12700">
            <a:solidFill>
              <a:srgbClr val="E7E4DE"/>
            </a:solidFill>
            <a:prstDash val="solid"/>
          </a:ln>
        </p:spPr>
        <p:txBody>
          <a:bodyPr/>
          <a:p/>
        </p:txBody>
      </p:sp>
      <p:sp>
        <p:nvSpPr>
          <p:cNvPr id="43" name="Text 39"/>
          <p:cNvSpPr/>
          <p:nvPr/>
        </p:nvSpPr>
        <p:spPr>
          <a:xfrm>
            <a:off x="621792" y="6537960"/>
            <a:ext cx="2194560" cy="182880"/>
          </a:xfrm>
          <a:prstGeom prst="rect">
            <a:avLst/>
          </a:prstGeom>
          <a:noFill/>
          <a:ln/>
        </p:spPr>
        <p:txBody>
          <a:bodyPr wrap="square" lIns="0" tIns="0" rIns="0" bIns="0" rtlCol="0" anchor="ctr"/>
          <a:lstStyle/>
          <a:p>
            <a:pPr indent="0" marL="0">
              <a:buNone/>
            </a:pPr>
            <a:r>
              <a:rPr lang="en-US" sz="850" dirty="0">
                <a:solidFill>
                  <a:srgbClr val="5A6472"/>
                </a:solidFill>
              </a:rPr>
              <a:t>Emanuel Nascente</a:t>
            </a:r>
            <a:endParaRPr lang="en-US" sz="850" dirty="0"/>
          </a:p>
        </p:txBody>
      </p:sp>
      <p:sp>
        <p:nvSpPr>
          <p:cNvPr id="44" name="Text 40"/>
          <p:cNvSpPr/>
          <p:nvPr/>
        </p:nvSpPr>
        <p:spPr>
          <a:xfrm>
            <a:off x="11064240" y="6519672"/>
            <a:ext cx="548640" cy="228600"/>
          </a:xfrm>
          <a:prstGeom prst="rect">
            <a:avLst/>
          </a:prstGeom>
          <a:noFill/>
          <a:ln/>
        </p:spPr>
        <p:txBody>
          <a:bodyPr wrap="square" lIns="0" tIns="0" rIns="0" bIns="0" rtlCol="0" anchor="ctr"/>
          <a:lstStyle/>
          <a:p>
            <a:pPr algn="r" indent="0" marL="0">
              <a:buNone/>
            </a:pPr>
            <a:r>
              <a:rPr sz="850" b="1">
                <a:solidFill>
                  <a:srgbClr val="5A6472"/>
                </a:solidFill>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D71920"/>
          </a:solidFill>
          <a:ln w="12700">
            <a:solidFill>
              <a:srgbClr val="D71920"/>
            </a:solidFill>
            <a:prstDash val="solid"/>
          </a:ln>
        </p:spPr>
        <p:txBody>
          <a:bodyPr/>
          <a:p/>
        </p:txBody>
      </p:sp>
      <p:sp>
        <p:nvSpPr>
          <p:cNvPr id="3" name="Shape 1"/>
          <p:cNvSpPr/>
          <p:nvPr/>
        </p:nvSpPr>
        <p:spPr>
          <a:xfrm>
            <a:off x="164592" y="0"/>
            <a:ext cx="54864" cy="6858000"/>
          </a:xfrm>
          <a:prstGeom prst="rect">
            <a:avLst/>
          </a:prstGeom>
          <a:solidFill>
            <a:srgbClr val="FFD322"/>
          </a:solidFill>
          <a:ln w="12700">
            <a:solidFill>
              <a:srgbClr val="FFD322"/>
            </a:solidFill>
            <a:prstDash val="solid"/>
          </a:ln>
        </p:spPr>
        <p:txBody>
          <a:bodyPr/>
          <a:p/>
        </p:txBody>
      </p:sp>
      <p:sp>
        <p:nvSpPr>
          <p:cNvPr id="4" name="Text 2"/>
          <p:cNvSpPr/>
          <p:nvPr/>
        </p:nvSpPr>
        <p:spPr>
          <a:xfrm>
            <a:off x="438912" y="210312"/>
            <a:ext cx="2103120" cy="256032"/>
          </a:xfrm>
          <a:prstGeom prst="rect">
            <a:avLst/>
          </a:prstGeom>
          <a:noFill/>
          <a:ln/>
        </p:spPr>
        <p:txBody>
          <a:bodyPr wrap="square" lIns="0" tIns="0" rIns="0" bIns="0" rtlCol="0" anchor="ctr"/>
          <a:lstStyle/>
          <a:p>
            <a:pPr indent="0" marL="0">
              <a:buNone/>
            </a:pPr>
            <a:r>
              <a:rPr lang="en-US" sz="950" b="1" dirty="0">
                <a:solidFill>
                  <a:srgbClr val="D71920"/>
                </a:solidFill>
                <a:latin typeface="Aptos" pitchFamily="34" charset="0"/>
                <a:ea typeface="Aptos" pitchFamily="34" charset="-122"/>
                <a:cs typeface="Aptos" pitchFamily="34" charset="-120"/>
              </a:rPr>
              <a:t>Laboratório 01</a:t>
            </a:r>
            <a:endParaRPr lang="en-US" sz="950" dirty="0"/>
          </a:p>
        </p:txBody>
      </p:sp>
      <p:sp>
        <p:nvSpPr>
          <p:cNvPr id="5" name="Text 3"/>
          <p:cNvSpPr/>
          <p:nvPr/>
        </p:nvSpPr>
        <p:spPr>
          <a:xfrm>
            <a:off x="2788920" y="210312"/>
            <a:ext cx="2743200" cy="256032"/>
          </a:xfrm>
          <a:prstGeom prst="rect">
            <a:avLst/>
          </a:prstGeom>
          <a:noFill/>
          <a:ln/>
        </p:spPr>
        <p:txBody>
          <a:bodyPr wrap="square" lIns="0" tIns="0" rIns="0" bIns="0" rtlCol="0" anchor="ctr"/>
          <a:lstStyle/>
          <a:p>
            <a:pPr indent="0" marL="0">
              <a:buNone/>
            </a:pPr>
            <a:r>
              <a:rPr lang="en-US" sz="950" dirty="0">
                <a:solidFill>
                  <a:srgbClr val="5A6472"/>
                </a:solidFill>
              </a:rPr>
              <a:t>Desenvolvimento Mobile</a:t>
            </a:r>
            <a:endParaRPr lang="en-US" sz="950" dirty="0"/>
          </a:p>
        </p:txBody>
      </p:sp>
      <p:pic>
        <p:nvPicPr>
          <p:cNvPr id="6" name="Image 0" descr="/mnt/data/logo_mesquita_stylized.png">    </p:cNvPr>
          <p:cNvPicPr>
            <a:picLocks noChangeAspect="1"/>
          </p:cNvPicPr>
          <p:nvPr/>
        </p:nvPicPr>
        <p:blipFill>
          <a:blip r:embed="rId1"/>
          <a:stretch>
            <a:fillRect/>
          </a:stretch>
        </p:blipFill>
        <p:spPr>
          <a:xfrm>
            <a:off x="10744200" y="128016"/>
            <a:ext cx="987552" cy="685800"/>
          </a:xfrm>
          <a:prstGeom prst="rect">
            <a:avLst/>
          </a:prstGeom>
        </p:spPr>
      </p:pic>
      <p:sp>
        <p:nvSpPr>
          <p:cNvPr id="7" name="Text 4"/>
          <p:cNvSpPr/>
          <p:nvPr/>
        </p:nvSpPr>
        <p:spPr>
          <a:xfrm>
            <a:off x="502920" y="749808"/>
            <a:ext cx="8503920" cy="530352"/>
          </a:xfrm>
          <a:prstGeom prst="rect">
            <a:avLst/>
          </a:prstGeom>
          <a:noFill/>
          <a:ln/>
        </p:spPr>
        <p:txBody>
          <a:bodyPr wrap="square" lIns="0" tIns="0" rIns="0" bIns="0" rtlCol="0" anchor="ctr">
            <a:normAutofit/>
          </a:bodyPr>
          <a:lstStyle/>
          <a:p>
            <a:pPr indent="0" marL="0">
              <a:buNone/>
            </a:pPr>
            <a:r>
              <a:rPr lang="en-US" sz="3000" b="1" dirty="0">
                <a:solidFill>
                  <a:srgbClr val="12161C"/>
                </a:solidFill>
                <a:latin typeface="Aptos Display" pitchFamily="34" charset="0"/>
                <a:ea typeface="Aptos Display" pitchFamily="34" charset="-122"/>
                <a:cs typeface="Aptos Display" pitchFamily="34" charset="-120"/>
              </a:rPr>
              <a:t>Parte A — Criando um app nativo</a:t>
            </a:r>
            <a:endParaRPr lang="en-US" sz="3000" dirty="0"/>
          </a:p>
        </p:txBody>
      </p:sp>
      <p:sp>
        <p:nvSpPr>
          <p:cNvPr id="8" name="Text 5"/>
          <p:cNvSpPr/>
          <p:nvPr/>
        </p:nvSpPr>
        <p:spPr>
          <a:xfrm>
            <a:off x="530352" y="1325880"/>
            <a:ext cx="7589520" cy="320040"/>
          </a:xfrm>
          <a:prstGeom prst="rect">
            <a:avLst/>
          </a:prstGeom>
          <a:noFill/>
          <a:ln/>
        </p:spPr>
        <p:txBody>
          <a:bodyPr wrap="square" lIns="0" tIns="0" rIns="0" bIns="0" rtlCol="0" anchor="ctr"/>
          <a:lstStyle/>
          <a:p>
            <a:pPr indent="0" marL="0">
              <a:buNone/>
            </a:pPr>
            <a:r>
              <a:rPr lang="en-US" sz="1350" dirty="0">
                <a:solidFill>
                  <a:srgbClr val="5A6472"/>
                </a:solidFill>
              </a:rPr>
              <a:t>Caminho mínimo no Android Studio.</a:t>
            </a:r>
            <a:endParaRPr lang="en-US" sz="1350" dirty="0"/>
          </a:p>
        </p:txBody>
      </p:sp>
      <p:sp>
        <p:nvSpPr>
          <p:cNvPr id="9" name="Text 6"/>
          <p:cNvSpPr/>
          <p:nvPr/>
        </p:nvSpPr>
        <p:spPr>
          <a:xfrm>
            <a:off x="868680" y="1801368"/>
            <a:ext cx="228600" cy="137160"/>
          </a:xfrm>
          <a:prstGeom prst="rect">
            <a:avLst/>
          </a:prstGeom>
          <a:noFill/>
          <a:ln/>
        </p:spPr>
        <p:txBody>
          <a:bodyPr wrap="square" lIns="0" tIns="0" rIns="0" bIns="0" rtlCol="0" anchor="ctr"/>
          <a:lstStyle/>
          <a:p>
            <a:pPr algn="ctr" indent="0" marL="0">
              <a:buNone/>
            </a:pPr>
            <a:r>
              <a:rPr lang="en-US" sz="1000" b="1" dirty="0">
                <a:solidFill>
                  <a:srgbClr val="D71920"/>
                </a:solidFill>
              </a:rPr>
              <a:t>1</a:t>
            </a:r>
            <a:endParaRPr lang="en-US" sz="1000" dirty="0"/>
          </a:p>
        </p:txBody>
      </p:sp>
      <p:sp>
        <p:nvSpPr>
          <p:cNvPr id="10" name="Shape 7"/>
          <p:cNvSpPr/>
          <p:nvPr/>
        </p:nvSpPr>
        <p:spPr>
          <a:xfrm>
            <a:off x="1234440" y="1901952"/>
            <a:ext cx="320040" cy="0"/>
          </a:xfrm>
          <a:prstGeom prst="line">
            <a:avLst/>
          </a:prstGeom>
          <a:noFill/>
          <a:ln w="19050">
            <a:solidFill>
              <a:srgbClr val="D71920"/>
            </a:solidFill>
            <a:prstDash val="solid"/>
          </a:ln>
        </p:spPr>
        <p:txBody>
          <a:bodyPr/>
          <a:p/>
        </p:txBody>
      </p:sp>
      <p:sp>
        <p:nvSpPr>
          <p:cNvPr id="11" name="Text 8"/>
          <p:cNvSpPr/>
          <p:nvPr/>
        </p:nvSpPr>
        <p:spPr>
          <a:xfrm>
            <a:off x="1691640" y="1783080"/>
            <a:ext cx="4846320" cy="228600"/>
          </a:xfrm>
          <a:prstGeom prst="rect">
            <a:avLst/>
          </a:prstGeom>
          <a:noFill/>
          <a:ln/>
        </p:spPr>
        <p:txBody>
          <a:bodyPr wrap="square" lIns="0" tIns="0" rIns="0" bIns="0" rtlCol="0" anchor="ctr">
            <a:normAutofit/>
          </a:bodyPr>
          <a:lstStyle/>
          <a:p>
            <a:pPr indent="0" marL="0">
              <a:buNone/>
            </a:pPr>
            <a:r>
              <a:rPr lang="en-US" sz="1550" dirty="0">
                <a:solidFill>
                  <a:srgbClr val="12161C"/>
                </a:solidFill>
              </a:rPr>
              <a:t>Abrir Android Studio</a:t>
            </a:r>
            <a:endParaRPr lang="en-US" sz="1550" dirty="0"/>
          </a:p>
        </p:txBody>
      </p:sp>
      <p:sp>
        <p:nvSpPr>
          <p:cNvPr id="12" name="Text 9"/>
          <p:cNvSpPr/>
          <p:nvPr/>
        </p:nvSpPr>
        <p:spPr>
          <a:xfrm>
            <a:off x="868680" y="2304288"/>
            <a:ext cx="228600" cy="137160"/>
          </a:xfrm>
          <a:prstGeom prst="rect">
            <a:avLst/>
          </a:prstGeom>
          <a:noFill/>
          <a:ln/>
        </p:spPr>
        <p:txBody>
          <a:bodyPr wrap="square" lIns="0" tIns="0" rIns="0" bIns="0" rtlCol="0" anchor="ctr"/>
          <a:lstStyle/>
          <a:p>
            <a:pPr algn="ctr" indent="0" marL="0">
              <a:buNone/>
            </a:pPr>
            <a:r>
              <a:rPr lang="en-US" sz="1000" b="1" dirty="0">
                <a:solidFill>
                  <a:srgbClr val="D71920"/>
                </a:solidFill>
              </a:rPr>
              <a:t>2</a:t>
            </a:r>
            <a:endParaRPr lang="en-US" sz="1000" dirty="0"/>
          </a:p>
        </p:txBody>
      </p:sp>
      <p:sp>
        <p:nvSpPr>
          <p:cNvPr id="13" name="Shape 10"/>
          <p:cNvSpPr/>
          <p:nvPr/>
        </p:nvSpPr>
        <p:spPr>
          <a:xfrm>
            <a:off x="1234440" y="2404872"/>
            <a:ext cx="320040" cy="0"/>
          </a:xfrm>
          <a:prstGeom prst="line">
            <a:avLst/>
          </a:prstGeom>
          <a:noFill/>
          <a:ln w="19050">
            <a:solidFill>
              <a:srgbClr val="D71920"/>
            </a:solidFill>
            <a:prstDash val="solid"/>
          </a:ln>
        </p:spPr>
        <p:txBody>
          <a:bodyPr/>
          <a:p/>
        </p:txBody>
      </p:sp>
      <p:sp>
        <p:nvSpPr>
          <p:cNvPr id="14" name="Text 11"/>
          <p:cNvSpPr/>
          <p:nvPr/>
        </p:nvSpPr>
        <p:spPr>
          <a:xfrm>
            <a:off x="1691640" y="2286000"/>
            <a:ext cx="4846320" cy="228600"/>
          </a:xfrm>
          <a:prstGeom prst="rect">
            <a:avLst/>
          </a:prstGeom>
          <a:noFill/>
          <a:ln/>
        </p:spPr>
        <p:txBody>
          <a:bodyPr wrap="square" lIns="0" tIns="0" rIns="0" bIns="0" rtlCol="0" anchor="ctr">
            <a:normAutofit/>
          </a:bodyPr>
          <a:lstStyle/>
          <a:p>
            <a:pPr indent="0" marL="0">
              <a:buNone/>
            </a:pPr>
            <a:r>
              <a:rPr lang="en-US" sz="1550" dirty="0">
                <a:solidFill>
                  <a:srgbClr val="12161C"/>
                </a:solidFill>
              </a:rPr>
              <a:t>New Project</a:t>
            </a:r>
            <a:endParaRPr lang="en-US" sz="1550" dirty="0"/>
          </a:p>
        </p:txBody>
      </p:sp>
      <p:sp>
        <p:nvSpPr>
          <p:cNvPr id="15" name="Text 12"/>
          <p:cNvSpPr/>
          <p:nvPr/>
        </p:nvSpPr>
        <p:spPr>
          <a:xfrm>
            <a:off x="868680" y="2807208"/>
            <a:ext cx="228600" cy="137160"/>
          </a:xfrm>
          <a:prstGeom prst="rect">
            <a:avLst/>
          </a:prstGeom>
          <a:noFill/>
          <a:ln/>
        </p:spPr>
        <p:txBody>
          <a:bodyPr wrap="square" lIns="0" tIns="0" rIns="0" bIns="0" rtlCol="0" anchor="ctr"/>
          <a:lstStyle/>
          <a:p>
            <a:pPr algn="ctr" indent="0" marL="0">
              <a:buNone/>
            </a:pPr>
            <a:r>
              <a:rPr lang="en-US" sz="1000" b="1" dirty="0">
                <a:solidFill>
                  <a:srgbClr val="D71920"/>
                </a:solidFill>
              </a:rPr>
              <a:t>3</a:t>
            </a:r>
            <a:endParaRPr lang="en-US" sz="1000" dirty="0"/>
          </a:p>
        </p:txBody>
      </p:sp>
      <p:sp>
        <p:nvSpPr>
          <p:cNvPr id="16" name="Shape 13"/>
          <p:cNvSpPr/>
          <p:nvPr/>
        </p:nvSpPr>
        <p:spPr>
          <a:xfrm>
            <a:off x="1234440" y="2907792"/>
            <a:ext cx="320040" cy="0"/>
          </a:xfrm>
          <a:prstGeom prst="line">
            <a:avLst/>
          </a:prstGeom>
          <a:noFill/>
          <a:ln w="19050">
            <a:solidFill>
              <a:srgbClr val="D71920"/>
            </a:solidFill>
            <a:prstDash val="solid"/>
          </a:ln>
        </p:spPr>
        <p:txBody>
          <a:bodyPr/>
          <a:p/>
        </p:txBody>
      </p:sp>
      <p:sp>
        <p:nvSpPr>
          <p:cNvPr id="17" name="Text 14"/>
          <p:cNvSpPr/>
          <p:nvPr/>
        </p:nvSpPr>
        <p:spPr>
          <a:xfrm>
            <a:off x="1691640" y="2788920"/>
            <a:ext cx="4846320" cy="228600"/>
          </a:xfrm>
          <a:prstGeom prst="rect">
            <a:avLst/>
          </a:prstGeom>
          <a:noFill/>
          <a:ln/>
        </p:spPr>
        <p:txBody>
          <a:bodyPr wrap="square" lIns="0" tIns="0" rIns="0" bIns="0" rtlCol="0" anchor="ctr">
            <a:normAutofit/>
          </a:bodyPr>
          <a:lstStyle/>
          <a:p>
            <a:pPr indent="0" marL="0">
              <a:buNone/>
            </a:pPr>
            <a:r>
              <a:rPr lang="en-US" sz="1550" dirty="0">
                <a:solidFill>
                  <a:srgbClr val="12161C"/>
                </a:solidFill>
              </a:rPr>
              <a:t>Empty Activity</a:t>
            </a:r>
            <a:endParaRPr lang="en-US" sz="1550" dirty="0"/>
          </a:p>
        </p:txBody>
      </p:sp>
      <p:sp>
        <p:nvSpPr>
          <p:cNvPr id="18" name="Text 15"/>
          <p:cNvSpPr/>
          <p:nvPr/>
        </p:nvSpPr>
        <p:spPr>
          <a:xfrm>
            <a:off x="868680" y="3310128"/>
            <a:ext cx="228600" cy="137160"/>
          </a:xfrm>
          <a:prstGeom prst="rect">
            <a:avLst/>
          </a:prstGeom>
          <a:noFill/>
          <a:ln/>
        </p:spPr>
        <p:txBody>
          <a:bodyPr wrap="square" lIns="0" tIns="0" rIns="0" bIns="0" rtlCol="0" anchor="ctr"/>
          <a:lstStyle/>
          <a:p>
            <a:pPr algn="ctr" indent="0" marL="0">
              <a:buNone/>
            </a:pPr>
            <a:r>
              <a:rPr lang="en-US" sz="1000" b="1" dirty="0">
                <a:solidFill>
                  <a:srgbClr val="D71920"/>
                </a:solidFill>
              </a:rPr>
              <a:t>4</a:t>
            </a:r>
            <a:endParaRPr lang="en-US" sz="1000" dirty="0"/>
          </a:p>
        </p:txBody>
      </p:sp>
      <p:sp>
        <p:nvSpPr>
          <p:cNvPr id="19" name="Shape 16"/>
          <p:cNvSpPr/>
          <p:nvPr/>
        </p:nvSpPr>
        <p:spPr>
          <a:xfrm>
            <a:off x="1234440" y="3410712"/>
            <a:ext cx="320040" cy="0"/>
          </a:xfrm>
          <a:prstGeom prst="line">
            <a:avLst/>
          </a:prstGeom>
          <a:noFill/>
          <a:ln w="19050">
            <a:solidFill>
              <a:srgbClr val="D71920"/>
            </a:solidFill>
            <a:prstDash val="solid"/>
          </a:ln>
        </p:spPr>
        <p:txBody>
          <a:bodyPr/>
          <a:p/>
        </p:txBody>
      </p:sp>
      <p:sp>
        <p:nvSpPr>
          <p:cNvPr id="20" name="Text 17"/>
          <p:cNvSpPr/>
          <p:nvPr/>
        </p:nvSpPr>
        <p:spPr>
          <a:xfrm>
            <a:off x="1691640" y="3291840"/>
            <a:ext cx="4846320" cy="228600"/>
          </a:xfrm>
          <a:prstGeom prst="rect">
            <a:avLst/>
          </a:prstGeom>
          <a:noFill/>
          <a:ln/>
        </p:spPr>
        <p:txBody>
          <a:bodyPr wrap="square" lIns="0" tIns="0" rIns="0" bIns="0" rtlCol="0" anchor="ctr">
            <a:normAutofit/>
          </a:bodyPr>
          <a:lstStyle/>
          <a:p>
            <a:pPr indent="0" marL="0">
              <a:buNone/>
            </a:pPr>
            <a:r>
              <a:rPr lang="en-US" sz="1550" dirty="0">
                <a:solidFill>
                  <a:srgbClr val="12161C"/>
                </a:solidFill>
              </a:rPr>
              <a:t>Nome: PrimeiroAppNativo</a:t>
            </a:r>
            <a:endParaRPr lang="en-US" sz="1550" dirty="0"/>
          </a:p>
        </p:txBody>
      </p:sp>
      <p:sp>
        <p:nvSpPr>
          <p:cNvPr id="21" name="Text 18"/>
          <p:cNvSpPr/>
          <p:nvPr/>
        </p:nvSpPr>
        <p:spPr>
          <a:xfrm>
            <a:off x="868680" y="3813048"/>
            <a:ext cx="228600" cy="137160"/>
          </a:xfrm>
          <a:prstGeom prst="rect">
            <a:avLst/>
          </a:prstGeom>
          <a:noFill/>
          <a:ln/>
        </p:spPr>
        <p:txBody>
          <a:bodyPr wrap="square" lIns="0" tIns="0" rIns="0" bIns="0" rtlCol="0" anchor="ctr"/>
          <a:lstStyle/>
          <a:p>
            <a:pPr algn="ctr" indent="0" marL="0">
              <a:buNone/>
            </a:pPr>
            <a:r>
              <a:rPr lang="en-US" sz="1000" b="1" dirty="0">
                <a:solidFill>
                  <a:srgbClr val="D71920"/>
                </a:solidFill>
              </a:rPr>
              <a:t>5</a:t>
            </a:r>
            <a:endParaRPr lang="en-US" sz="1000" dirty="0"/>
          </a:p>
        </p:txBody>
      </p:sp>
      <p:sp>
        <p:nvSpPr>
          <p:cNvPr id="22" name="Shape 19"/>
          <p:cNvSpPr/>
          <p:nvPr/>
        </p:nvSpPr>
        <p:spPr>
          <a:xfrm>
            <a:off x="1234440" y="3913632"/>
            <a:ext cx="320040" cy="0"/>
          </a:xfrm>
          <a:prstGeom prst="line">
            <a:avLst/>
          </a:prstGeom>
          <a:noFill/>
          <a:ln w="19050">
            <a:solidFill>
              <a:srgbClr val="D71920"/>
            </a:solidFill>
            <a:prstDash val="solid"/>
          </a:ln>
        </p:spPr>
        <p:txBody>
          <a:bodyPr/>
          <a:p/>
        </p:txBody>
      </p:sp>
      <p:sp>
        <p:nvSpPr>
          <p:cNvPr id="23" name="Text 20"/>
          <p:cNvSpPr/>
          <p:nvPr/>
        </p:nvSpPr>
        <p:spPr>
          <a:xfrm>
            <a:off x="1691640" y="3794760"/>
            <a:ext cx="4846320" cy="228600"/>
          </a:xfrm>
          <a:prstGeom prst="rect">
            <a:avLst/>
          </a:prstGeom>
          <a:noFill/>
          <a:ln/>
        </p:spPr>
        <p:txBody>
          <a:bodyPr wrap="square" lIns="0" tIns="0" rIns="0" bIns="0" rtlCol="0" anchor="ctr">
            <a:normAutofit/>
          </a:bodyPr>
          <a:lstStyle/>
          <a:p>
            <a:pPr indent="0" marL="0">
              <a:buNone/>
            </a:pPr>
            <a:r>
              <a:rPr lang="en-US" sz="1550" dirty="0">
                <a:solidFill>
                  <a:srgbClr val="12161C"/>
                </a:solidFill>
              </a:rPr>
              <a:t>Linguagem: Kotlin</a:t>
            </a:r>
            <a:endParaRPr lang="en-US" sz="1550" dirty="0"/>
          </a:p>
        </p:txBody>
      </p:sp>
      <p:sp>
        <p:nvSpPr>
          <p:cNvPr id="24" name="Text 21"/>
          <p:cNvSpPr/>
          <p:nvPr/>
        </p:nvSpPr>
        <p:spPr>
          <a:xfrm>
            <a:off x="868680" y="4315968"/>
            <a:ext cx="228600" cy="137160"/>
          </a:xfrm>
          <a:prstGeom prst="rect">
            <a:avLst/>
          </a:prstGeom>
          <a:noFill/>
          <a:ln/>
        </p:spPr>
        <p:txBody>
          <a:bodyPr wrap="square" lIns="0" tIns="0" rIns="0" bIns="0" rtlCol="0" anchor="ctr"/>
          <a:lstStyle/>
          <a:p>
            <a:pPr algn="ctr" indent="0" marL="0">
              <a:buNone/>
            </a:pPr>
            <a:r>
              <a:rPr lang="en-US" sz="1000" b="1" dirty="0">
                <a:solidFill>
                  <a:srgbClr val="D71920"/>
                </a:solidFill>
              </a:rPr>
              <a:t>6</a:t>
            </a:r>
            <a:endParaRPr lang="en-US" sz="1000" dirty="0"/>
          </a:p>
        </p:txBody>
      </p:sp>
      <p:sp>
        <p:nvSpPr>
          <p:cNvPr id="25" name="Shape 22"/>
          <p:cNvSpPr/>
          <p:nvPr/>
        </p:nvSpPr>
        <p:spPr>
          <a:xfrm>
            <a:off x="1234440" y="4416552"/>
            <a:ext cx="320040" cy="0"/>
          </a:xfrm>
          <a:prstGeom prst="line">
            <a:avLst/>
          </a:prstGeom>
          <a:noFill/>
          <a:ln w="19050">
            <a:solidFill>
              <a:srgbClr val="D71920"/>
            </a:solidFill>
            <a:prstDash val="solid"/>
          </a:ln>
        </p:spPr>
        <p:txBody>
          <a:bodyPr/>
          <a:p/>
        </p:txBody>
      </p:sp>
      <p:sp>
        <p:nvSpPr>
          <p:cNvPr id="26" name="Text 23"/>
          <p:cNvSpPr/>
          <p:nvPr/>
        </p:nvSpPr>
        <p:spPr>
          <a:xfrm>
            <a:off x="1691640" y="4297680"/>
            <a:ext cx="4846320" cy="228600"/>
          </a:xfrm>
          <a:prstGeom prst="rect">
            <a:avLst/>
          </a:prstGeom>
          <a:noFill/>
          <a:ln/>
        </p:spPr>
        <p:txBody>
          <a:bodyPr wrap="square" lIns="0" tIns="0" rIns="0" bIns="0" rtlCol="0" anchor="ctr">
            <a:normAutofit/>
          </a:bodyPr>
          <a:lstStyle/>
          <a:p>
            <a:pPr indent="0" marL="0">
              <a:buNone/>
            </a:pPr>
            <a:r>
              <a:rPr lang="en-US" sz="1550" dirty="0">
                <a:solidFill>
                  <a:srgbClr val="12161C"/>
                </a:solidFill>
              </a:rPr>
              <a:t>Executar no emulador ou celular</a:t>
            </a:r>
            <a:endParaRPr lang="en-US" sz="1550" dirty="0"/>
          </a:p>
        </p:txBody>
      </p:sp>
      <p:sp>
        <p:nvSpPr>
          <p:cNvPr id="27" name="Shape 24"/>
          <p:cNvSpPr/>
          <p:nvPr/>
        </p:nvSpPr>
        <p:spPr>
          <a:xfrm>
            <a:off x="6812280" y="1828800"/>
            <a:ext cx="4160520" cy="2880360"/>
          </a:xfrm>
          <a:prstGeom prst="roundRect">
            <a:avLst>
              <a:gd name="adj" fmla="val 3175"/>
            </a:avLst>
          </a:prstGeom>
          <a:solidFill>
            <a:srgbClr val="111827"/>
          </a:solidFill>
          <a:ln w="12700">
            <a:solidFill>
              <a:srgbClr val="111827"/>
            </a:solidFill>
            <a:prstDash val="solid"/>
          </a:ln>
        </p:spPr>
        <p:txBody>
          <a:bodyPr/>
          <a:p/>
        </p:txBody>
      </p:sp>
      <p:sp>
        <p:nvSpPr>
          <p:cNvPr id="28" name="Text 25"/>
          <p:cNvSpPr/>
          <p:nvPr/>
        </p:nvSpPr>
        <p:spPr>
          <a:xfrm>
            <a:off x="6995160" y="1956816"/>
            <a:ext cx="1097280" cy="182880"/>
          </a:xfrm>
          <a:prstGeom prst="rect">
            <a:avLst/>
          </a:prstGeom>
          <a:noFill/>
          <a:ln/>
        </p:spPr>
        <p:txBody>
          <a:bodyPr wrap="square" lIns="0" tIns="0" rIns="0" bIns="0" rtlCol="0" anchor="ctr"/>
          <a:lstStyle/>
          <a:p>
            <a:pPr indent="0" marL="0">
              <a:buNone/>
            </a:pPr>
            <a:r>
              <a:rPr lang="en-US" sz="850" b="1" dirty="0">
                <a:solidFill>
                  <a:srgbClr val="A7F3D0"/>
                </a:solidFill>
              </a:rPr>
              <a:t>Kotlin</a:t>
            </a:r>
            <a:endParaRPr lang="en-US" sz="850" dirty="0"/>
          </a:p>
        </p:txBody>
      </p:sp>
      <p:sp>
        <p:nvSpPr>
          <p:cNvPr id="29" name="Text 26"/>
          <p:cNvSpPr/>
          <p:nvPr/>
        </p:nvSpPr>
        <p:spPr>
          <a:xfrm>
            <a:off x="7013448" y="2240280"/>
            <a:ext cx="3758184" cy="2331720"/>
          </a:xfrm>
          <a:prstGeom prst="rect">
            <a:avLst/>
          </a:prstGeom>
          <a:noFill/>
          <a:ln/>
        </p:spPr>
        <p:txBody>
          <a:bodyPr wrap="square" lIns="0" tIns="0" rIns="0" bIns="0" rtlCol="0" anchor="ctr">
            <a:normAutofit/>
          </a:bodyPr>
          <a:lstStyle/>
          <a:p>
            <a:pPr indent="0" marL="0">
              <a:buNone/>
            </a:pPr>
            <a:r>
              <a:rPr sz="1120">
                <a:solidFill>
                  <a:srgbClr val="E3E7EC"/>
                </a:solidFill>
                <a:latin typeface="Cascadia Mono"/>
              </a:rPr>
              <a:t>@Composable</a:t>
            </a:r>
            <a:endParaRPr lang="en-US" sz="1120" dirty="0"/>
          </a:p>
          <a:p>
            <a:r>
              <a:rPr sz="1120">
                <a:solidFill>
                  <a:srgbClr val="E3E7EC"/>
                </a:solidFill>
                <a:latin typeface="Cascadia Mono"/>
              </a:rPr>
              <a:t>fun Greeting(name: String) {</a:t>
            </a:r>
          </a:p>
          <a:p>
            <a:r>
              <a:rPr sz="1120">
                <a:solidFill>
                  <a:srgbClr val="E3E7EC"/>
                </a:solidFill>
                <a:latin typeface="Cascadia Mono"/>
              </a:rPr>
              <a:t>    Text(</a:t>
            </a:r>
          </a:p>
          <a:p>
            <a:r>
              <a:rPr sz="1120">
                <a:solidFill>
                  <a:srgbClr val="E3E7EC"/>
                </a:solidFill>
                <a:latin typeface="Cascadia Mono"/>
              </a:rPr>
              <a:t>        text = "Olá, $name!"</a:t>
            </a:r>
          </a:p>
          <a:p>
            <a:r>
              <a:rPr sz="1120">
                <a:solidFill>
                  <a:srgbClr val="E3E7EC"/>
                </a:solidFill>
                <a:latin typeface="Cascadia Mono"/>
              </a:rPr>
              <a:t>    )</a:t>
            </a:r>
          </a:p>
          <a:p>
            <a:r>
              <a:rPr sz="1120">
                <a:solidFill>
                  <a:srgbClr val="E3E7EC"/>
                </a:solidFill>
                <a:latin typeface="Cascadia Mono"/>
              </a:rPr>
              <a:t>}</a:t>
            </a:r>
          </a:p>
        </p:txBody>
      </p:sp>
      <p:sp>
        <p:nvSpPr>
          <p:cNvPr id="30" name="Text 27"/>
          <p:cNvSpPr/>
          <p:nvPr/>
        </p:nvSpPr>
        <p:spPr>
          <a:xfrm>
            <a:off x="6812280" y="4983480"/>
            <a:ext cx="4160520" cy="320040"/>
          </a:xfrm>
          <a:prstGeom prst="rect">
            <a:avLst/>
          </a:prstGeom>
          <a:noFill/>
          <a:ln/>
        </p:spPr>
        <p:txBody>
          <a:bodyPr wrap="square" lIns="0" tIns="0" rIns="0" bIns="0" rtlCol="0" anchor="ctr"/>
          <a:lstStyle/>
          <a:p>
            <a:pPr algn="ctr" indent="0" marL="0">
              <a:buNone/>
            </a:pPr>
            <a:r>
              <a:rPr lang="en-US" sz="1350" b="1" dirty="0">
                <a:solidFill>
                  <a:srgbClr val="D71920"/>
                </a:solidFill>
              </a:rPr>
              <a:t>Hoje: reconhecer a estrutura. Depois: entender cada parte.</a:t>
            </a:r>
            <a:endParaRPr lang="en-US" sz="1350" dirty="0"/>
          </a:p>
        </p:txBody>
      </p:sp>
      <p:sp>
        <p:nvSpPr>
          <p:cNvPr id="32" name="Shape 28"/>
          <p:cNvSpPr/>
          <p:nvPr/>
        </p:nvSpPr>
        <p:spPr>
          <a:xfrm>
            <a:off x="621792" y="6455664"/>
            <a:ext cx="11018520" cy="0"/>
          </a:xfrm>
          <a:prstGeom prst="line">
            <a:avLst/>
          </a:prstGeom>
          <a:noFill/>
          <a:ln w="12700">
            <a:solidFill>
              <a:srgbClr val="E7E4DE"/>
            </a:solidFill>
            <a:prstDash val="solid"/>
          </a:ln>
        </p:spPr>
        <p:txBody>
          <a:bodyPr/>
          <a:p/>
        </p:txBody>
      </p:sp>
      <p:sp>
        <p:nvSpPr>
          <p:cNvPr id="33" name="Text 29"/>
          <p:cNvSpPr/>
          <p:nvPr/>
        </p:nvSpPr>
        <p:spPr>
          <a:xfrm>
            <a:off x="621792" y="6537960"/>
            <a:ext cx="2194560" cy="182880"/>
          </a:xfrm>
          <a:prstGeom prst="rect">
            <a:avLst/>
          </a:prstGeom>
          <a:noFill/>
          <a:ln/>
        </p:spPr>
        <p:txBody>
          <a:bodyPr wrap="square" lIns="0" tIns="0" rIns="0" bIns="0" rtlCol="0" anchor="ctr"/>
          <a:lstStyle/>
          <a:p>
            <a:pPr indent="0" marL="0">
              <a:buNone/>
            </a:pPr>
            <a:r>
              <a:rPr lang="en-US" sz="850" dirty="0">
                <a:solidFill>
                  <a:srgbClr val="5A6472"/>
                </a:solidFill>
              </a:rPr>
              <a:t>Emanuel Nascente</a:t>
            </a:r>
            <a:endParaRPr lang="en-US" sz="850" dirty="0"/>
          </a:p>
        </p:txBody>
      </p:sp>
      <p:sp>
        <p:nvSpPr>
          <p:cNvPr id="34" name="Text 30"/>
          <p:cNvSpPr/>
          <p:nvPr/>
        </p:nvSpPr>
        <p:spPr>
          <a:xfrm>
            <a:off x="11064240" y="6519672"/>
            <a:ext cx="548640" cy="228600"/>
          </a:xfrm>
          <a:prstGeom prst="rect">
            <a:avLst/>
          </a:prstGeom>
          <a:noFill/>
          <a:ln/>
        </p:spPr>
        <p:txBody>
          <a:bodyPr wrap="square" lIns="0" tIns="0" rIns="0" bIns="0" rtlCol="0" anchor="ctr"/>
          <a:lstStyle/>
          <a:p>
            <a:pPr algn="r" indent="0" marL="0">
              <a:buNone/>
            </a:pPr>
            <a:r>
              <a:rPr sz="850" b="1">
                <a:solidFill>
                  <a:srgbClr val="5A6472"/>
                </a:solidFill>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D71920"/>
          </a:solidFill>
          <a:ln w="12700">
            <a:solidFill>
              <a:srgbClr val="D71920"/>
            </a:solidFill>
            <a:prstDash val="solid"/>
          </a:ln>
        </p:spPr>
        <p:txBody>
          <a:bodyPr/>
          <a:p/>
        </p:txBody>
      </p:sp>
      <p:sp>
        <p:nvSpPr>
          <p:cNvPr id="3" name="Shape 1"/>
          <p:cNvSpPr/>
          <p:nvPr/>
        </p:nvSpPr>
        <p:spPr>
          <a:xfrm>
            <a:off x="164592" y="0"/>
            <a:ext cx="54864" cy="6858000"/>
          </a:xfrm>
          <a:prstGeom prst="rect">
            <a:avLst/>
          </a:prstGeom>
          <a:solidFill>
            <a:srgbClr val="FFD322"/>
          </a:solidFill>
          <a:ln w="12700">
            <a:solidFill>
              <a:srgbClr val="FFD322"/>
            </a:solidFill>
            <a:prstDash val="solid"/>
          </a:ln>
        </p:spPr>
        <p:txBody>
          <a:bodyPr/>
          <a:p/>
        </p:txBody>
      </p:sp>
      <p:sp>
        <p:nvSpPr>
          <p:cNvPr id="4" name="Text 2"/>
          <p:cNvSpPr/>
          <p:nvPr/>
        </p:nvSpPr>
        <p:spPr>
          <a:xfrm>
            <a:off x="438912" y="210312"/>
            <a:ext cx="2103120" cy="256032"/>
          </a:xfrm>
          <a:prstGeom prst="rect">
            <a:avLst/>
          </a:prstGeom>
          <a:noFill/>
          <a:ln/>
        </p:spPr>
        <p:txBody>
          <a:bodyPr wrap="square" lIns="0" tIns="0" rIns="0" bIns="0" rtlCol="0" anchor="ctr"/>
          <a:lstStyle/>
          <a:p>
            <a:pPr indent="0" marL="0">
              <a:buNone/>
            </a:pPr>
            <a:r>
              <a:rPr lang="en-US" sz="950" b="1" dirty="0">
                <a:solidFill>
                  <a:srgbClr val="D71920"/>
                </a:solidFill>
                <a:latin typeface="Aptos" pitchFamily="34" charset="0"/>
                <a:ea typeface="Aptos" pitchFamily="34" charset="-122"/>
                <a:cs typeface="Aptos" pitchFamily="34" charset="-120"/>
              </a:rPr>
              <a:t>Laboratório 01</a:t>
            </a:r>
            <a:endParaRPr lang="en-US" sz="950" dirty="0"/>
          </a:p>
        </p:txBody>
      </p:sp>
      <p:sp>
        <p:nvSpPr>
          <p:cNvPr id="5" name="Text 3"/>
          <p:cNvSpPr/>
          <p:nvPr/>
        </p:nvSpPr>
        <p:spPr>
          <a:xfrm>
            <a:off x="2788920" y="210312"/>
            <a:ext cx="2743200" cy="256032"/>
          </a:xfrm>
          <a:prstGeom prst="rect">
            <a:avLst/>
          </a:prstGeom>
          <a:noFill/>
          <a:ln/>
        </p:spPr>
        <p:txBody>
          <a:bodyPr wrap="square" lIns="0" tIns="0" rIns="0" bIns="0" rtlCol="0" anchor="ctr"/>
          <a:lstStyle/>
          <a:p>
            <a:pPr indent="0" marL="0">
              <a:buNone/>
            </a:pPr>
            <a:r>
              <a:rPr lang="en-US" sz="950" dirty="0">
                <a:solidFill>
                  <a:srgbClr val="5A6472"/>
                </a:solidFill>
              </a:rPr>
              <a:t>Desenvolvimento Mobile</a:t>
            </a:r>
            <a:endParaRPr lang="en-US" sz="950" dirty="0"/>
          </a:p>
        </p:txBody>
      </p:sp>
      <p:pic>
        <p:nvPicPr>
          <p:cNvPr id="6" name="Image 0" descr="/mnt/data/logo_mesquita_stylized.png">    </p:cNvPr>
          <p:cNvPicPr>
            <a:picLocks noChangeAspect="1"/>
          </p:cNvPicPr>
          <p:nvPr/>
        </p:nvPicPr>
        <p:blipFill>
          <a:blip r:embed="rId1"/>
          <a:stretch>
            <a:fillRect/>
          </a:stretch>
        </p:blipFill>
        <p:spPr>
          <a:xfrm>
            <a:off x="10744200" y="128016"/>
            <a:ext cx="987552" cy="685800"/>
          </a:xfrm>
          <a:prstGeom prst="rect">
            <a:avLst/>
          </a:prstGeom>
        </p:spPr>
      </p:pic>
      <p:sp>
        <p:nvSpPr>
          <p:cNvPr id="7" name="Text 4"/>
          <p:cNvSpPr/>
          <p:nvPr/>
        </p:nvSpPr>
        <p:spPr>
          <a:xfrm>
            <a:off x="502920" y="749808"/>
            <a:ext cx="8503920" cy="530352"/>
          </a:xfrm>
          <a:prstGeom prst="rect">
            <a:avLst/>
          </a:prstGeom>
          <a:noFill/>
          <a:ln/>
        </p:spPr>
        <p:txBody>
          <a:bodyPr wrap="square" lIns="0" tIns="0" rIns="0" bIns="0" rtlCol="0" anchor="ctr">
            <a:normAutofit/>
          </a:bodyPr>
          <a:lstStyle/>
          <a:p>
            <a:pPr indent="0" marL="0">
              <a:buNone/>
            </a:pPr>
            <a:r>
              <a:rPr lang="en-US" sz="3000" b="1" dirty="0">
                <a:solidFill>
                  <a:srgbClr val="12161C"/>
                </a:solidFill>
                <a:latin typeface="Aptos Display" pitchFamily="34" charset="0"/>
                <a:ea typeface="Aptos Display" pitchFamily="34" charset="-122"/>
                <a:cs typeface="Aptos Display" pitchFamily="34" charset="-120"/>
              </a:rPr>
              <a:t>Parte B — Criando um app híbrido</a:t>
            </a:r>
            <a:endParaRPr lang="en-US" sz="3000" dirty="0"/>
          </a:p>
        </p:txBody>
      </p:sp>
      <p:sp>
        <p:nvSpPr>
          <p:cNvPr id="8" name="Text 5"/>
          <p:cNvSpPr/>
          <p:nvPr/>
        </p:nvSpPr>
        <p:spPr>
          <a:xfrm>
            <a:off x="530352" y="1325880"/>
            <a:ext cx="7589520" cy="320040"/>
          </a:xfrm>
          <a:prstGeom prst="rect">
            <a:avLst/>
          </a:prstGeom>
          <a:noFill/>
          <a:ln/>
        </p:spPr>
        <p:txBody>
          <a:bodyPr wrap="square" lIns="0" tIns="0" rIns="0" bIns="0" rtlCol="0" anchor="ctr"/>
          <a:lstStyle/>
          <a:p>
            <a:pPr indent="0" marL="0">
              <a:buNone/>
            </a:pPr>
            <a:r>
              <a:rPr lang="en-US" sz="1350" dirty="0">
                <a:solidFill>
                  <a:srgbClr val="5A6472"/>
                </a:solidFill>
              </a:rPr>
              <a:t>Caminho mínimo com React Native + Expo.</a:t>
            </a:r>
            <a:endParaRPr lang="en-US" sz="1350" dirty="0"/>
          </a:p>
        </p:txBody>
      </p:sp>
      <p:sp>
        <p:nvSpPr>
          <p:cNvPr id="9" name="Text 6"/>
          <p:cNvSpPr/>
          <p:nvPr/>
        </p:nvSpPr>
        <p:spPr>
          <a:xfrm>
            <a:off x="868680" y="1801368"/>
            <a:ext cx="228600" cy="137160"/>
          </a:xfrm>
          <a:prstGeom prst="rect">
            <a:avLst/>
          </a:prstGeom>
          <a:noFill/>
          <a:ln/>
        </p:spPr>
        <p:txBody>
          <a:bodyPr wrap="square" lIns="0" tIns="0" rIns="0" bIns="0" rtlCol="0" anchor="ctr"/>
          <a:lstStyle/>
          <a:p>
            <a:pPr algn="ctr" indent="0" marL="0">
              <a:buNone/>
            </a:pPr>
            <a:r>
              <a:rPr lang="en-US" sz="1000" b="1" dirty="0">
                <a:solidFill>
                  <a:srgbClr val="D71920"/>
                </a:solidFill>
              </a:rPr>
              <a:t>1</a:t>
            </a:r>
            <a:endParaRPr lang="en-US" sz="1000" dirty="0"/>
          </a:p>
        </p:txBody>
      </p:sp>
      <p:sp>
        <p:nvSpPr>
          <p:cNvPr id="10" name="Shape 7"/>
          <p:cNvSpPr/>
          <p:nvPr/>
        </p:nvSpPr>
        <p:spPr>
          <a:xfrm>
            <a:off x="1234440" y="1901952"/>
            <a:ext cx="320040" cy="0"/>
          </a:xfrm>
          <a:prstGeom prst="line">
            <a:avLst/>
          </a:prstGeom>
          <a:noFill/>
          <a:ln w="19050">
            <a:solidFill>
              <a:srgbClr val="D71920"/>
            </a:solidFill>
            <a:prstDash val="solid"/>
          </a:ln>
        </p:spPr>
        <p:txBody>
          <a:bodyPr/>
          <a:p/>
        </p:txBody>
      </p:sp>
      <p:sp>
        <p:nvSpPr>
          <p:cNvPr id="11" name="Text 8"/>
          <p:cNvSpPr/>
          <p:nvPr/>
        </p:nvSpPr>
        <p:spPr>
          <a:xfrm>
            <a:off x="1691640" y="1783080"/>
            <a:ext cx="4846320" cy="228600"/>
          </a:xfrm>
          <a:prstGeom prst="rect">
            <a:avLst/>
          </a:prstGeom>
          <a:noFill/>
          <a:ln/>
        </p:spPr>
        <p:txBody>
          <a:bodyPr wrap="square" lIns="0" tIns="0" rIns="0" bIns="0" rtlCol="0" anchor="ctr">
            <a:normAutofit/>
          </a:bodyPr>
          <a:lstStyle/>
          <a:p>
            <a:pPr indent="0" marL="0">
              <a:buNone/>
            </a:pPr>
            <a:r>
              <a:rPr lang="en-US" sz="1550" dirty="0">
                <a:solidFill>
                  <a:srgbClr val="12161C"/>
                </a:solidFill>
              </a:rPr>
              <a:t>Abrir terminal na pasta de projetos</a:t>
            </a:r>
            <a:endParaRPr lang="en-US" sz="1550" dirty="0"/>
          </a:p>
        </p:txBody>
      </p:sp>
      <p:sp>
        <p:nvSpPr>
          <p:cNvPr id="12" name="Text 9"/>
          <p:cNvSpPr/>
          <p:nvPr/>
        </p:nvSpPr>
        <p:spPr>
          <a:xfrm>
            <a:off x="868680" y="2304288"/>
            <a:ext cx="228600" cy="137160"/>
          </a:xfrm>
          <a:prstGeom prst="rect">
            <a:avLst/>
          </a:prstGeom>
          <a:noFill/>
          <a:ln/>
        </p:spPr>
        <p:txBody>
          <a:bodyPr wrap="square" lIns="0" tIns="0" rIns="0" bIns="0" rtlCol="0" anchor="ctr"/>
          <a:lstStyle/>
          <a:p>
            <a:pPr algn="ctr" indent="0" marL="0">
              <a:buNone/>
            </a:pPr>
            <a:r>
              <a:rPr lang="en-US" sz="1000" b="1" dirty="0">
                <a:solidFill>
                  <a:srgbClr val="D71920"/>
                </a:solidFill>
              </a:rPr>
              <a:t>2</a:t>
            </a:r>
            <a:endParaRPr lang="en-US" sz="1000" dirty="0"/>
          </a:p>
        </p:txBody>
      </p:sp>
      <p:sp>
        <p:nvSpPr>
          <p:cNvPr id="13" name="Shape 10"/>
          <p:cNvSpPr/>
          <p:nvPr/>
        </p:nvSpPr>
        <p:spPr>
          <a:xfrm>
            <a:off x="1234440" y="2404872"/>
            <a:ext cx="320040" cy="0"/>
          </a:xfrm>
          <a:prstGeom prst="line">
            <a:avLst/>
          </a:prstGeom>
          <a:noFill/>
          <a:ln w="19050">
            <a:solidFill>
              <a:srgbClr val="D71920"/>
            </a:solidFill>
            <a:prstDash val="solid"/>
          </a:ln>
        </p:spPr>
        <p:txBody>
          <a:bodyPr/>
          <a:p/>
        </p:txBody>
      </p:sp>
      <p:sp>
        <p:nvSpPr>
          <p:cNvPr id="14" name="Text 11"/>
          <p:cNvSpPr/>
          <p:nvPr/>
        </p:nvSpPr>
        <p:spPr>
          <a:xfrm>
            <a:off x="1691640" y="2286000"/>
            <a:ext cx="4846320" cy="228600"/>
          </a:xfrm>
          <a:prstGeom prst="rect">
            <a:avLst/>
          </a:prstGeom>
          <a:noFill/>
          <a:ln/>
        </p:spPr>
        <p:txBody>
          <a:bodyPr wrap="square" lIns="0" tIns="0" rIns="0" bIns="0" rtlCol="0" anchor="ctr">
            <a:normAutofit/>
          </a:bodyPr>
          <a:lstStyle/>
          <a:p>
            <a:pPr indent="0" marL="0">
              <a:buNone/>
            </a:pPr>
            <a:r>
              <a:rPr sz="1550">
                <a:solidFill>
                  <a:srgbClr val="12161C"/>
                </a:solidFill>
              </a:rPr>
              <a:t>Executar: npx create-expo-app@latest</a:t>
            </a:r>
            <a:endParaRPr lang="en-US" sz="1550" dirty="0"/>
          </a:p>
          <a:p>
            <a:r>
              <a:rPr sz="1550">
                <a:solidFill>
                  <a:srgbClr val="12161C"/>
                </a:solidFill>
              </a:rPr>
              <a:t>--template blank</a:t>
            </a:r>
          </a:p>
        </p:txBody>
      </p:sp>
      <p:sp>
        <p:nvSpPr>
          <p:cNvPr id="15" name="Text 12"/>
          <p:cNvSpPr/>
          <p:nvPr/>
        </p:nvSpPr>
        <p:spPr>
          <a:xfrm>
            <a:off x="868680" y="2807208"/>
            <a:ext cx="228600" cy="137160"/>
          </a:xfrm>
          <a:prstGeom prst="rect">
            <a:avLst/>
          </a:prstGeom>
          <a:noFill/>
          <a:ln/>
        </p:spPr>
        <p:txBody>
          <a:bodyPr wrap="square" lIns="0" tIns="0" rIns="0" bIns="0" rtlCol="0" anchor="ctr"/>
          <a:lstStyle/>
          <a:p>
            <a:pPr algn="ctr" indent="0" marL="0">
              <a:buNone/>
            </a:pPr>
            <a:r>
              <a:rPr lang="en-US" sz="1000" b="1" dirty="0">
                <a:solidFill>
                  <a:srgbClr val="D71920"/>
                </a:solidFill>
              </a:rPr>
              <a:t>3</a:t>
            </a:r>
            <a:endParaRPr lang="en-US" sz="1000" dirty="0"/>
          </a:p>
        </p:txBody>
      </p:sp>
      <p:sp>
        <p:nvSpPr>
          <p:cNvPr id="16" name="Shape 13"/>
          <p:cNvSpPr/>
          <p:nvPr/>
        </p:nvSpPr>
        <p:spPr>
          <a:xfrm>
            <a:off x="1234440" y="2907792"/>
            <a:ext cx="320040" cy="0"/>
          </a:xfrm>
          <a:prstGeom prst="line">
            <a:avLst/>
          </a:prstGeom>
          <a:noFill/>
          <a:ln w="19050">
            <a:solidFill>
              <a:srgbClr val="D71920"/>
            </a:solidFill>
            <a:prstDash val="solid"/>
          </a:ln>
        </p:spPr>
        <p:txBody>
          <a:bodyPr/>
          <a:p/>
        </p:txBody>
      </p:sp>
      <p:sp>
        <p:nvSpPr>
          <p:cNvPr id="17" name="Text 14"/>
          <p:cNvSpPr/>
          <p:nvPr/>
        </p:nvSpPr>
        <p:spPr>
          <a:xfrm>
            <a:off x="1691640" y="2788920"/>
            <a:ext cx="4846320" cy="228600"/>
          </a:xfrm>
          <a:prstGeom prst="rect">
            <a:avLst/>
          </a:prstGeom>
          <a:noFill/>
          <a:ln/>
        </p:spPr>
        <p:txBody>
          <a:bodyPr wrap="square" lIns="0" tIns="0" rIns="0" bIns="0" rtlCol="0" anchor="ctr">
            <a:normAutofit/>
          </a:bodyPr>
          <a:lstStyle/>
          <a:p>
            <a:pPr indent="0" marL="0">
              <a:buNone/>
            </a:pPr>
            <a:r>
              <a:rPr lang="en-US" sz="1550" dirty="0">
                <a:solidFill>
                  <a:srgbClr val="12161C"/>
                </a:solidFill>
              </a:rPr>
              <a:t>Abrir a pasta no VS Code</a:t>
            </a:r>
            <a:endParaRPr lang="en-US" sz="1550" dirty="0"/>
          </a:p>
        </p:txBody>
      </p:sp>
      <p:sp>
        <p:nvSpPr>
          <p:cNvPr id="18" name="Text 15"/>
          <p:cNvSpPr/>
          <p:nvPr/>
        </p:nvSpPr>
        <p:spPr>
          <a:xfrm>
            <a:off x="868680" y="3310128"/>
            <a:ext cx="228600" cy="137160"/>
          </a:xfrm>
          <a:prstGeom prst="rect">
            <a:avLst/>
          </a:prstGeom>
          <a:noFill/>
          <a:ln/>
        </p:spPr>
        <p:txBody>
          <a:bodyPr wrap="square" lIns="0" tIns="0" rIns="0" bIns="0" rtlCol="0" anchor="ctr"/>
          <a:lstStyle/>
          <a:p>
            <a:pPr algn="ctr" indent="0" marL="0">
              <a:buNone/>
            </a:pPr>
            <a:r>
              <a:rPr lang="en-US" sz="1000" b="1" dirty="0">
                <a:solidFill>
                  <a:srgbClr val="D71920"/>
                </a:solidFill>
              </a:rPr>
              <a:t>4</a:t>
            </a:r>
            <a:endParaRPr lang="en-US" sz="1000" dirty="0"/>
          </a:p>
        </p:txBody>
      </p:sp>
      <p:sp>
        <p:nvSpPr>
          <p:cNvPr id="19" name="Shape 16"/>
          <p:cNvSpPr/>
          <p:nvPr/>
        </p:nvSpPr>
        <p:spPr>
          <a:xfrm>
            <a:off x="1234440" y="3410712"/>
            <a:ext cx="320040" cy="0"/>
          </a:xfrm>
          <a:prstGeom prst="line">
            <a:avLst/>
          </a:prstGeom>
          <a:noFill/>
          <a:ln w="19050">
            <a:solidFill>
              <a:srgbClr val="D71920"/>
            </a:solidFill>
            <a:prstDash val="solid"/>
          </a:ln>
        </p:spPr>
        <p:txBody>
          <a:bodyPr/>
          <a:p/>
        </p:txBody>
      </p:sp>
      <p:sp>
        <p:nvSpPr>
          <p:cNvPr id="20" name="Text 17"/>
          <p:cNvSpPr/>
          <p:nvPr/>
        </p:nvSpPr>
        <p:spPr>
          <a:xfrm>
            <a:off x="1691640" y="3291840"/>
            <a:ext cx="4846320" cy="228600"/>
          </a:xfrm>
          <a:prstGeom prst="rect">
            <a:avLst/>
          </a:prstGeom>
          <a:noFill/>
          <a:ln/>
        </p:spPr>
        <p:txBody>
          <a:bodyPr wrap="square" lIns="0" tIns="0" rIns="0" bIns="0" rtlCol="0" anchor="ctr">
            <a:normAutofit/>
          </a:bodyPr>
          <a:lstStyle/>
          <a:p>
            <a:pPr indent="0" marL="0">
              <a:buNone/>
            </a:pPr>
            <a:r>
              <a:rPr lang="en-US" sz="1550" dirty="0">
                <a:solidFill>
                  <a:srgbClr val="12161C"/>
                </a:solidFill>
              </a:rPr>
              <a:t>Executar: npx expo start</a:t>
            </a:r>
            <a:endParaRPr lang="en-US" sz="1550" dirty="0"/>
          </a:p>
        </p:txBody>
      </p:sp>
      <p:sp>
        <p:nvSpPr>
          <p:cNvPr id="21" name="Text 18"/>
          <p:cNvSpPr/>
          <p:nvPr/>
        </p:nvSpPr>
        <p:spPr>
          <a:xfrm>
            <a:off x="868680" y="3813048"/>
            <a:ext cx="228600" cy="137160"/>
          </a:xfrm>
          <a:prstGeom prst="rect">
            <a:avLst/>
          </a:prstGeom>
          <a:noFill/>
          <a:ln/>
        </p:spPr>
        <p:txBody>
          <a:bodyPr wrap="square" lIns="0" tIns="0" rIns="0" bIns="0" rtlCol="0" anchor="ctr"/>
          <a:lstStyle/>
          <a:p>
            <a:pPr algn="ctr" indent="0" marL="0">
              <a:buNone/>
            </a:pPr>
            <a:r>
              <a:rPr lang="en-US" sz="1000" b="1" dirty="0">
                <a:solidFill>
                  <a:srgbClr val="D71920"/>
                </a:solidFill>
              </a:rPr>
              <a:t>5</a:t>
            </a:r>
            <a:endParaRPr lang="en-US" sz="1000" dirty="0"/>
          </a:p>
        </p:txBody>
      </p:sp>
      <p:sp>
        <p:nvSpPr>
          <p:cNvPr id="22" name="Shape 19"/>
          <p:cNvSpPr/>
          <p:nvPr/>
        </p:nvSpPr>
        <p:spPr>
          <a:xfrm>
            <a:off x="1234440" y="3913632"/>
            <a:ext cx="320040" cy="0"/>
          </a:xfrm>
          <a:prstGeom prst="line">
            <a:avLst/>
          </a:prstGeom>
          <a:noFill/>
          <a:ln w="19050">
            <a:solidFill>
              <a:srgbClr val="D71920"/>
            </a:solidFill>
            <a:prstDash val="solid"/>
          </a:ln>
        </p:spPr>
        <p:txBody>
          <a:bodyPr/>
          <a:p/>
        </p:txBody>
      </p:sp>
      <p:sp>
        <p:nvSpPr>
          <p:cNvPr id="23" name="Text 20"/>
          <p:cNvSpPr/>
          <p:nvPr/>
        </p:nvSpPr>
        <p:spPr>
          <a:xfrm>
            <a:off x="1691640" y="3794760"/>
            <a:ext cx="4846320" cy="228600"/>
          </a:xfrm>
          <a:prstGeom prst="rect">
            <a:avLst/>
          </a:prstGeom>
          <a:noFill/>
          <a:ln/>
        </p:spPr>
        <p:txBody>
          <a:bodyPr wrap="square" lIns="0" tIns="0" rIns="0" bIns="0" rtlCol="0" anchor="ctr">
            <a:normAutofit/>
          </a:bodyPr>
          <a:lstStyle/>
          <a:p>
            <a:pPr indent="0" marL="0">
              <a:buNone/>
            </a:pPr>
            <a:r>
              <a:rPr lang="en-US" sz="1550" dirty="0">
                <a:solidFill>
                  <a:srgbClr val="12161C"/>
                </a:solidFill>
              </a:rPr>
              <a:t>Abrir no celular com Expo Go ou emulador</a:t>
            </a:r>
            <a:endParaRPr lang="en-US" sz="1550" dirty="0"/>
          </a:p>
        </p:txBody>
      </p:sp>
      <p:sp>
        <p:nvSpPr>
          <p:cNvPr id="24" name="Text 21"/>
          <p:cNvSpPr/>
          <p:nvPr/>
        </p:nvSpPr>
        <p:spPr>
          <a:xfrm>
            <a:off x="868680" y="4315968"/>
            <a:ext cx="228600" cy="137160"/>
          </a:xfrm>
          <a:prstGeom prst="rect">
            <a:avLst/>
          </a:prstGeom>
          <a:noFill/>
          <a:ln/>
        </p:spPr>
        <p:txBody>
          <a:bodyPr wrap="square" lIns="0" tIns="0" rIns="0" bIns="0" rtlCol="0" anchor="ctr"/>
          <a:lstStyle/>
          <a:p>
            <a:pPr algn="ctr" indent="0" marL="0">
              <a:buNone/>
            </a:pPr>
            <a:r>
              <a:rPr lang="en-US" sz="1000" b="1" dirty="0">
                <a:solidFill>
                  <a:srgbClr val="D71920"/>
                </a:solidFill>
              </a:rPr>
              <a:t>6</a:t>
            </a:r>
            <a:endParaRPr lang="en-US" sz="1000" dirty="0"/>
          </a:p>
        </p:txBody>
      </p:sp>
      <p:sp>
        <p:nvSpPr>
          <p:cNvPr id="25" name="Shape 22"/>
          <p:cNvSpPr/>
          <p:nvPr/>
        </p:nvSpPr>
        <p:spPr>
          <a:xfrm>
            <a:off x="1234440" y="4416552"/>
            <a:ext cx="320040" cy="0"/>
          </a:xfrm>
          <a:prstGeom prst="line">
            <a:avLst/>
          </a:prstGeom>
          <a:noFill/>
          <a:ln w="19050">
            <a:solidFill>
              <a:srgbClr val="D71920"/>
            </a:solidFill>
            <a:prstDash val="solid"/>
          </a:ln>
        </p:spPr>
        <p:txBody>
          <a:bodyPr/>
          <a:p/>
        </p:txBody>
      </p:sp>
      <p:sp>
        <p:nvSpPr>
          <p:cNvPr id="26" name="Text 23"/>
          <p:cNvSpPr/>
          <p:nvPr/>
        </p:nvSpPr>
        <p:spPr>
          <a:xfrm>
            <a:off x="1691640" y="4297680"/>
            <a:ext cx="4846320" cy="228600"/>
          </a:xfrm>
          <a:prstGeom prst="rect">
            <a:avLst/>
          </a:prstGeom>
          <a:noFill/>
          <a:ln/>
        </p:spPr>
        <p:txBody>
          <a:bodyPr wrap="square" lIns="0" tIns="0" rIns="0" bIns="0" rtlCol="0" anchor="ctr">
            <a:normAutofit/>
          </a:bodyPr>
          <a:lstStyle/>
          <a:p>
            <a:pPr indent="0" marL="0">
              <a:buNone/>
            </a:pPr>
            <a:r>
              <a:rPr lang="en-US" sz="1550" dirty="0">
                <a:solidFill>
                  <a:srgbClr val="12161C"/>
                </a:solidFill>
              </a:rPr>
              <a:t>Observar estrutura e comparar</a:t>
            </a:r>
            <a:endParaRPr lang="en-US" sz="1550" dirty="0"/>
          </a:p>
        </p:txBody>
      </p:sp>
      <p:sp>
        <p:nvSpPr>
          <p:cNvPr id="27" name="Shape 24"/>
          <p:cNvSpPr/>
          <p:nvPr/>
        </p:nvSpPr>
        <p:spPr>
          <a:xfrm>
            <a:off x="6812280" y="1828800"/>
            <a:ext cx="4160520" cy="2880360"/>
          </a:xfrm>
          <a:prstGeom prst="roundRect">
            <a:avLst>
              <a:gd name="adj" fmla="val 3175"/>
            </a:avLst>
          </a:prstGeom>
          <a:solidFill>
            <a:srgbClr val="111827"/>
          </a:solidFill>
          <a:ln w="12700">
            <a:solidFill>
              <a:srgbClr val="111827"/>
            </a:solidFill>
            <a:prstDash val="solid"/>
          </a:ln>
        </p:spPr>
        <p:txBody>
          <a:bodyPr/>
          <a:p/>
        </p:txBody>
      </p:sp>
      <p:sp>
        <p:nvSpPr>
          <p:cNvPr id="28" name="Text 25"/>
          <p:cNvSpPr/>
          <p:nvPr/>
        </p:nvSpPr>
        <p:spPr>
          <a:xfrm>
            <a:off x="6995160" y="1956816"/>
            <a:ext cx="1097280" cy="182880"/>
          </a:xfrm>
          <a:prstGeom prst="rect">
            <a:avLst/>
          </a:prstGeom>
          <a:noFill/>
          <a:ln/>
        </p:spPr>
        <p:txBody>
          <a:bodyPr wrap="square" lIns="0" tIns="0" rIns="0" bIns="0" rtlCol="0" anchor="ctr"/>
          <a:lstStyle/>
          <a:p>
            <a:pPr indent="0" marL="0">
              <a:buNone/>
            </a:pPr>
            <a:r>
              <a:rPr lang="en-US" sz="850" b="1" dirty="0">
                <a:solidFill>
                  <a:srgbClr val="A7F3D0"/>
                </a:solidFill>
              </a:rPr>
              <a:t>React Native</a:t>
            </a:r>
            <a:endParaRPr lang="en-US" sz="850" dirty="0"/>
          </a:p>
        </p:txBody>
      </p:sp>
      <p:sp>
        <p:nvSpPr>
          <p:cNvPr id="29" name="Text 26"/>
          <p:cNvSpPr/>
          <p:nvPr/>
        </p:nvSpPr>
        <p:spPr>
          <a:xfrm>
            <a:off x="7013448" y="2240280"/>
            <a:ext cx="3758184" cy="2331720"/>
          </a:xfrm>
          <a:prstGeom prst="rect">
            <a:avLst/>
          </a:prstGeom>
          <a:noFill/>
          <a:ln/>
        </p:spPr>
        <p:txBody>
          <a:bodyPr wrap="square" lIns="0" tIns="0" rIns="0" bIns="0" rtlCol="0" anchor="ctr">
            <a:normAutofit/>
          </a:bodyPr>
          <a:lstStyle/>
          <a:p>
            <a:pPr indent="0" marL="0">
              <a:buNone/>
            </a:pPr>
            <a:r>
              <a:rPr lang="en-US" sz="1120" dirty="0">
                <a:solidFill>
                  <a:srgbClr val="E3E7EC"/>
                </a:solidFill>
                <a:latin typeface="Cascadia Mono" pitchFamily="34" charset="0"/>
                <a:ea typeface="Cascadia Mono" pitchFamily="34" charset="-122"/>
                <a:cs typeface="Cascadia Mono" pitchFamily="34" charset="-120"/>
              </a:rPr>
              <a:t>import { Text, View } from 'react-native';</a:t>
            </a:r>
            <a:endParaRPr lang="en-US" sz="1120" dirty="0"/>
          </a:p>
          <a:p>
            <a:pPr indent="0" marL="0">
              <a:buNone/>
            </a:pPr>
            <a:endParaRPr lang="en-US" sz="1120" dirty="0"/>
          </a:p>
          <a:p>
            <a:pPr indent="0" marL="0">
              <a:buNone/>
            </a:pPr>
            <a:r>
              <a:rPr lang="en-US" sz="1120" dirty="0">
                <a:solidFill>
                  <a:srgbClr val="E3E7EC"/>
                </a:solidFill>
                <a:latin typeface="Cascadia Mono" pitchFamily="34" charset="0"/>
                <a:ea typeface="Cascadia Mono" pitchFamily="34" charset="-122"/>
                <a:cs typeface="Cascadia Mono" pitchFamily="34" charset="-120"/>
              </a:rPr>
              <a:t>export default function App() {</a:t>
            </a:r>
            <a:endParaRPr lang="en-US" sz="1120" dirty="0"/>
          </a:p>
          <a:p>
            <a:pPr indent="0" marL="0">
              <a:buNone/>
            </a:pPr>
            <a:r>
              <a:rPr lang="en-US" sz="1120" dirty="0">
                <a:solidFill>
                  <a:srgbClr val="E3E7EC"/>
                </a:solidFill>
                <a:latin typeface="Cascadia Mono" pitchFamily="34" charset="0"/>
                <a:ea typeface="Cascadia Mono" pitchFamily="34" charset="-122"/>
                <a:cs typeface="Cascadia Mono" pitchFamily="34" charset="-120"/>
              </a:rPr>
              <a:t>  return (</a:t>
            </a:r>
            <a:endParaRPr lang="en-US" sz="1120" dirty="0"/>
          </a:p>
          <a:p>
            <a:pPr indent="0" marL="0">
              <a:buNone/>
            </a:pPr>
            <a:r>
              <a:rPr lang="en-US" sz="1120" dirty="0">
                <a:solidFill>
                  <a:srgbClr val="E3E7EC"/>
                </a:solidFill>
                <a:latin typeface="Cascadia Mono" pitchFamily="34" charset="0"/>
                <a:ea typeface="Cascadia Mono" pitchFamily="34" charset="-122"/>
                <a:cs typeface="Cascadia Mono" pitchFamily="34" charset="-120"/>
              </a:rPr>
              <a:t>    &lt;View&gt;</a:t>
            </a:r>
            <a:endParaRPr lang="en-US" sz="1120" dirty="0"/>
          </a:p>
          <a:p>
            <a:pPr indent="0" marL="0">
              <a:buNone/>
            </a:pPr>
            <a:r>
              <a:rPr lang="en-US" sz="1120" dirty="0">
                <a:solidFill>
                  <a:srgbClr val="E3E7EC"/>
                </a:solidFill>
                <a:latin typeface="Cascadia Mono" pitchFamily="34" charset="0"/>
                <a:ea typeface="Cascadia Mono" pitchFamily="34" charset="-122"/>
                <a:cs typeface="Cascadia Mono" pitchFamily="34" charset="-120"/>
              </a:rPr>
              <a:t>      &lt;Text&gt;Olá, Mobile!&lt;/Text&gt;</a:t>
            </a:r>
            <a:endParaRPr lang="en-US" sz="1120" dirty="0"/>
          </a:p>
          <a:p>
            <a:pPr indent="0" marL="0">
              <a:buNone/>
            </a:pPr>
            <a:r>
              <a:rPr lang="en-US" sz="1120" dirty="0">
                <a:solidFill>
                  <a:srgbClr val="E3E7EC"/>
                </a:solidFill>
                <a:latin typeface="Cascadia Mono" pitchFamily="34" charset="0"/>
                <a:ea typeface="Cascadia Mono" pitchFamily="34" charset="-122"/>
                <a:cs typeface="Cascadia Mono" pitchFamily="34" charset="-120"/>
              </a:rPr>
              <a:t>    &lt;/View&gt;</a:t>
            </a:r>
            <a:endParaRPr lang="en-US" sz="1120" dirty="0"/>
          </a:p>
          <a:p>
            <a:pPr indent="0" marL="0">
              <a:buNone/>
            </a:pPr>
            <a:r>
              <a:rPr lang="en-US" sz="1120" dirty="0">
                <a:solidFill>
                  <a:srgbClr val="E3E7EC"/>
                </a:solidFill>
                <a:latin typeface="Cascadia Mono" pitchFamily="34" charset="0"/>
                <a:ea typeface="Cascadia Mono" pitchFamily="34" charset="-122"/>
                <a:cs typeface="Cascadia Mono" pitchFamily="34" charset="-120"/>
              </a:rPr>
              <a:t>  );</a:t>
            </a:r>
            <a:endParaRPr lang="en-US" sz="1120" dirty="0"/>
          </a:p>
          <a:p>
            <a:pPr indent="0" marL="0">
              <a:buNone/>
            </a:pPr>
            <a:r>
              <a:rPr lang="en-US" sz="1120" dirty="0">
                <a:solidFill>
                  <a:srgbClr val="E3E7EC"/>
                </a:solidFill>
                <a:latin typeface="Cascadia Mono" pitchFamily="34" charset="0"/>
                <a:ea typeface="Cascadia Mono" pitchFamily="34" charset="-122"/>
                <a:cs typeface="Cascadia Mono" pitchFamily="34" charset="-120"/>
              </a:rPr>
              <a:t>}</a:t>
            </a:r>
            <a:endParaRPr lang="en-US" sz="1120" dirty="0"/>
          </a:p>
        </p:txBody>
      </p:sp>
      <p:sp>
        <p:nvSpPr>
          <p:cNvPr id="30" name="Text 27"/>
          <p:cNvSpPr/>
          <p:nvPr/>
        </p:nvSpPr>
        <p:spPr>
          <a:xfrm>
            <a:off x="6812280" y="4983480"/>
            <a:ext cx="4160520" cy="320040"/>
          </a:xfrm>
          <a:prstGeom prst="rect">
            <a:avLst/>
          </a:prstGeom>
          <a:noFill/>
          <a:ln/>
        </p:spPr>
        <p:txBody>
          <a:bodyPr wrap="square" lIns="0" tIns="0" rIns="0" bIns="0" rtlCol="0" anchor="ctr"/>
          <a:lstStyle/>
          <a:p>
            <a:pPr algn="ctr" indent="0" marL="0">
              <a:buNone/>
            </a:pPr>
            <a:r>
              <a:rPr lang="en-US" sz="1350" b="1" dirty="0">
                <a:solidFill>
                  <a:srgbClr val="D71920"/>
                </a:solidFill>
              </a:rPr>
              <a:t>Hoje: executar e comparar. Depois: componentes, estado e eventos.</a:t>
            </a:r>
            <a:endParaRPr lang="en-US" sz="1350" dirty="0"/>
          </a:p>
        </p:txBody>
      </p:sp>
      <p:sp>
        <p:nvSpPr>
          <p:cNvPr id="32" name="Shape 28"/>
          <p:cNvSpPr/>
          <p:nvPr/>
        </p:nvSpPr>
        <p:spPr>
          <a:xfrm>
            <a:off x="621792" y="6455664"/>
            <a:ext cx="11018520" cy="0"/>
          </a:xfrm>
          <a:prstGeom prst="line">
            <a:avLst/>
          </a:prstGeom>
          <a:noFill/>
          <a:ln w="12700">
            <a:solidFill>
              <a:srgbClr val="E7E4DE"/>
            </a:solidFill>
            <a:prstDash val="solid"/>
          </a:ln>
        </p:spPr>
        <p:txBody>
          <a:bodyPr/>
          <a:p/>
        </p:txBody>
      </p:sp>
      <p:sp>
        <p:nvSpPr>
          <p:cNvPr id="33" name="Text 29"/>
          <p:cNvSpPr/>
          <p:nvPr/>
        </p:nvSpPr>
        <p:spPr>
          <a:xfrm>
            <a:off x="621792" y="6537960"/>
            <a:ext cx="2194560" cy="182880"/>
          </a:xfrm>
          <a:prstGeom prst="rect">
            <a:avLst/>
          </a:prstGeom>
          <a:noFill/>
          <a:ln/>
        </p:spPr>
        <p:txBody>
          <a:bodyPr wrap="square" lIns="0" tIns="0" rIns="0" bIns="0" rtlCol="0" anchor="ctr"/>
          <a:lstStyle/>
          <a:p>
            <a:pPr indent="0" marL="0">
              <a:buNone/>
            </a:pPr>
            <a:r>
              <a:rPr lang="en-US" sz="850" dirty="0">
                <a:solidFill>
                  <a:srgbClr val="5A6472"/>
                </a:solidFill>
              </a:rPr>
              <a:t>Emanuel Nascente</a:t>
            </a:r>
            <a:endParaRPr lang="en-US" sz="850" dirty="0"/>
          </a:p>
        </p:txBody>
      </p:sp>
      <p:sp>
        <p:nvSpPr>
          <p:cNvPr id="34" name="Text 30"/>
          <p:cNvSpPr/>
          <p:nvPr/>
        </p:nvSpPr>
        <p:spPr>
          <a:xfrm>
            <a:off x="11064240" y="6519672"/>
            <a:ext cx="548640" cy="228600"/>
          </a:xfrm>
          <a:prstGeom prst="rect">
            <a:avLst/>
          </a:prstGeom>
          <a:noFill/>
          <a:ln/>
        </p:spPr>
        <p:txBody>
          <a:bodyPr wrap="square" lIns="0" tIns="0" rIns="0" bIns="0" rtlCol="0" anchor="ctr"/>
          <a:lstStyle/>
          <a:p>
            <a:pPr algn="r" indent="0" marL="0">
              <a:buNone/>
            </a:pPr>
            <a:r>
              <a:rPr sz="850" b="1">
                <a:solidFill>
                  <a:srgbClr val="5A6472"/>
                </a:solidFill>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D71920"/>
          </a:solidFill>
          <a:ln w="12700">
            <a:solidFill>
              <a:srgbClr val="D71920"/>
            </a:solidFill>
            <a:prstDash val="solid"/>
          </a:ln>
        </p:spPr>
        <p:txBody>
          <a:bodyPr/>
          <a:p/>
        </p:txBody>
      </p:sp>
      <p:sp>
        <p:nvSpPr>
          <p:cNvPr id="3" name="Shape 1"/>
          <p:cNvSpPr/>
          <p:nvPr/>
        </p:nvSpPr>
        <p:spPr>
          <a:xfrm>
            <a:off x="164592" y="0"/>
            <a:ext cx="54864" cy="6858000"/>
          </a:xfrm>
          <a:prstGeom prst="rect">
            <a:avLst/>
          </a:prstGeom>
          <a:solidFill>
            <a:srgbClr val="FFD322"/>
          </a:solidFill>
          <a:ln w="12700">
            <a:solidFill>
              <a:srgbClr val="FFD322"/>
            </a:solidFill>
            <a:prstDash val="solid"/>
          </a:ln>
        </p:spPr>
        <p:txBody>
          <a:bodyPr/>
          <a:p/>
        </p:txBody>
      </p:sp>
      <p:sp>
        <p:nvSpPr>
          <p:cNvPr id="4" name="Text 2"/>
          <p:cNvSpPr/>
          <p:nvPr/>
        </p:nvSpPr>
        <p:spPr>
          <a:xfrm>
            <a:off x="438912" y="210312"/>
            <a:ext cx="2103120" cy="256032"/>
          </a:xfrm>
          <a:prstGeom prst="rect">
            <a:avLst/>
          </a:prstGeom>
          <a:noFill/>
          <a:ln/>
        </p:spPr>
        <p:txBody>
          <a:bodyPr wrap="square" lIns="0" tIns="0" rIns="0" bIns="0" rtlCol="0" anchor="ctr"/>
          <a:lstStyle/>
          <a:p>
            <a:pPr indent="0" marL="0">
              <a:buNone/>
            </a:pPr>
            <a:r>
              <a:rPr lang="en-US" sz="950" b="1" dirty="0">
                <a:solidFill>
                  <a:srgbClr val="D71920"/>
                </a:solidFill>
                <a:latin typeface="Aptos" pitchFamily="34" charset="0"/>
                <a:ea typeface="Aptos" pitchFamily="34" charset="-122"/>
                <a:cs typeface="Aptos" pitchFamily="34" charset="-120"/>
              </a:rPr>
              <a:t>Laboratório 01</a:t>
            </a:r>
            <a:endParaRPr lang="en-US" sz="950" dirty="0"/>
          </a:p>
        </p:txBody>
      </p:sp>
      <p:sp>
        <p:nvSpPr>
          <p:cNvPr id="5" name="Text 3"/>
          <p:cNvSpPr/>
          <p:nvPr/>
        </p:nvSpPr>
        <p:spPr>
          <a:xfrm>
            <a:off x="2788920" y="210312"/>
            <a:ext cx="2743200" cy="256032"/>
          </a:xfrm>
          <a:prstGeom prst="rect">
            <a:avLst/>
          </a:prstGeom>
          <a:noFill/>
          <a:ln/>
        </p:spPr>
        <p:txBody>
          <a:bodyPr wrap="square" lIns="0" tIns="0" rIns="0" bIns="0" rtlCol="0" anchor="ctr"/>
          <a:lstStyle/>
          <a:p>
            <a:pPr indent="0" marL="0">
              <a:buNone/>
            </a:pPr>
            <a:r>
              <a:rPr lang="en-US" sz="950" dirty="0">
                <a:solidFill>
                  <a:srgbClr val="5A6472"/>
                </a:solidFill>
              </a:rPr>
              <a:t>Desenvolvimento Mobile</a:t>
            </a:r>
            <a:endParaRPr lang="en-US" sz="950" dirty="0"/>
          </a:p>
        </p:txBody>
      </p:sp>
      <p:pic>
        <p:nvPicPr>
          <p:cNvPr id="6" name="Image 0" descr="/mnt/data/logo_mesquita_stylized.png">    </p:cNvPr>
          <p:cNvPicPr>
            <a:picLocks noChangeAspect="1"/>
          </p:cNvPicPr>
          <p:nvPr/>
        </p:nvPicPr>
        <p:blipFill>
          <a:blip r:embed="rId1"/>
          <a:stretch>
            <a:fillRect/>
          </a:stretch>
        </p:blipFill>
        <p:spPr>
          <a:xfrm>
            <a:off x="10744200" y="128016"/>
            <a:ext cx="987552" cy="685800"/>
          </a:xfrm>
          <a:prstGeom prst="rect">
            <a:avLst/>
          </a:prstGeom>
        </p:spPr>
      </p:pic>
      <p:sp>
        <p:nvSpPr>
          <p:cNvPr id="7" name="Text 4"/>
          <p:cNvSpPr/>
          <p:nvPr/>
        </p:nvSpPr>
        <p:spPr>
          <a:xfrm>
            <a:off x="502920" y="749808"/>
            <a:ext cx="8503920" cy="530352"/>
          </a:xfrm>
          <a:prstGeom prst="rect">
            <a:avLst/>
          </a:prstGeom>
          <a:noFill/>
          <a:ln/>
        </p:spPr>
        <p:txBody>
          <a:bodyPr wrap="square" lIns="0" tIns="0" rIns="0" bIns="0" rtlCol="0" anchor="ctr">
            <a:normAutofit/>
          </a:bodyPr>
          <a:lstStyle/>
          <a:p>
            <a:pPr indent="0" marL="0">
              <a:buNone/>
            </a:pPr>
            <a:r>
              <a:rPr lang="en-US" sz="3000" b="1" dirty="0">
                <a:solidFill>
                  <a:srgbClr val="12161C"/>
                </a:solidFill>
                <a:latin typeface="Aptos Display" pitchFamily="34" charset="0"/>
                <a:ea typeface="Aptos Display" pitchFamily="34" charset="-122"/>
                <a:cs typeface="Aptos Display" pitchFamily="34" charset="-120"/>
              </a:rPr>
              <a:t>Comparando os dois projetos</a:t>
            </a:r>
            <a:endParaRPr lang="en-US" sz="3000" dirty="0"/>
          </a:p>
        </p:txBody>
      </p:sp>
      <p:sp>
        <p:nvSpPr>
          <p:cNvPr id="8" name="Text 5"/>
          <p:cNvSpPr/>
          <p:nvPr/>
        </p:nvSpPr>
        <p:spPr>
          <a:xfrm>
            <a:off x="530352" y="1325880"/>
            <a:ext cx="7589520" cy="320040"/>
          </a:xfrm>
          <a:prstGeom prst="rect">
            <a:avLst/>
          </a:prstGeom>
          <a:noFill/>
          <a:ln/>
        </p:spPr>
        <p:txBody>
          <a:bodyPr wrap="square" lIns="0" tIns="0" rIns="0" bIns="0" rtlCol="0" anchor="ctr"/>
          <a:lstStyle/>
          <a:p>
            <a:pPr indent="0" marL="0">
              <a:buNone/>
            </a:pPr>
            <a:r>
              <a:rPr lang="en-US" sz="1350" dirty="0">
                <a:solidFill>
                  <a:srgbClr val="5A6472"/>
                </a:solidFill>
              </a:rPr>
              <a:t>O usuário pode ver algo parecido. O desenvolvedor vê caminhos diferentes.</a:t>
            </a:r>
            <a:endParaRPr lang="en-US" sz="1350" dirty="0"/>
          </a:p>
        </p:txBody>
      </p:sp>
      <p:sp>
        <p:nvSpPr>
          <p:cNvPr id="19" name="Shape 16"/>
          <p:cNvSpPr/>
          <p:nvPr/>
        </p:nvSpPr>
        <p:spPr>
          <a:xfrm>
            <a:off x="2880360" y="1828800"/>
            <a:ext cx="2468880" cy="1965960"/>
          </a:xfrm>
          <a:prstGeom prst="roundRect">
            <a:avLst>
              <a:gd name="adj" fmla="val 6512"/>
            </a:avLst>
          </a:prstGeom>
          <a:solidFill>
            <a:srgbClr val="FFFFFF"/>
          </a:solidFill>
          <a:ln w="12700">
            <a:solidFill>
              <a:srgbClr val="E7E4DE"/>
            </a:solidFill>
            <a:prstDash val="solid"/>
          </a:ln>
        </p:spPr>
        <p:txBody>
          <a:bodyPr/>
          <a:p/>
        </p:txBody>
      </p:sp>
      <p:sp>
        <p:nvSpPr>
          <p:cNvPr id="20" name="Text 17"/>
          <p:cNvSpPr/>
          <p:nvPr/>
        </p:nvSpPr>
        <p:spPr>
          <a:xfrm>
            <a:off x="3127248" y="2121408"/>
            <a:ext cx="1965960" cy="237744"/>
          </a:xfrm>
          <a:prstGeom prst="rect">
            <a:avLst/>
          </a:prstGeom>
          <a:noFill/>
          <a:ln/>
        </p:spPr>
        <p:txBody>
          <a:bodyPr wrap="square" lIns="0" tIns="0" rIns="0" bIns="0" rtlCol="0" anchor="ctr"/>
          <a:lstStyle/>
          <a:p>
            <a:pPr algn="ctr" indent="0" marL="0">
              <a:buNone/>
            </a:pPr>
            <a:r>
              <a:rPr lang="en-US" sz="1700" b="1" dirty="0">
                <a:solidFill>
                  <a:srgbClr val="D71920"/>
                </a:solidFill>
              </a:rPr>
              <a:t>Projeto nativo</a:t>
            </a:r>
            <a:endParaRPr lang="en-US" sz="1700" dirty="0"/>
          </a:p>
        </p:txBody>
      </p:sp>
      <p:sp>
        <p:nvSpPr>
          <p:cNvPr id="21" name="Text 18"/>
          <p:cNvSpPr/>
          <p:nvPr/>
        </p:nvSpPr>
        <p:spPr>
          <a:xfrm>
            <a:off x="3154680" y="2670048"/>
            <a:ext cx="1920240" cy="685800"/>
          </a:xfrm>
          <a:prstGeom prst="rect">
            <a:avLst/>
          </a:prstGeom>
          <a:noFill/>
          <a:ln/>
        </p:spPr>
        <p:txBody>
          <a:bodyPr wrap="square" lIns="0" tIns="0" rIns="0" bIns="0" rtlCol="0" anchor="ctr">
            <a:normAutofit/>
          </a:bodyPr>
          <a:lstStyle/>
          <a:p>
            <a:pPr algn="ctr" indent="0" marL="0">
              <a:buNone/>
            </a:pPr>
            <a:r>
              <a:rPr lang="en-US" sz="1400" dirty="0">
                <a:solidFill>
                  <a:srgbClr val="12161C"/>
                </a:solidFill>
              </a:rPr>
              <a:t>Android Studio</a:t>
            </a:r>
            <a:endParaRPr lang="en-US" sz="1400" dirty="0"/>
          </a:p>
          <a:p>
            <a:pPr algn="ctr" indent="0" marL="0">
              <a:buNone/>
            </a:pPr>
            <a:r>
              <a:rPr lang="en-US" sz="1400" dirty="0">
                <a:solidFill>
                  <a:srgbClr val="12161C"/>
                </a:solidFill>
              </a:rPr>
              <a:t>Kotlin</a:t>
            </a:r>
            <a:endParaRPr lang="en-US" sz="1400" dirty="0"/>
          </a:p>
          <a:p>
            <a:pPr algn="ctr" indent="0" marL="0">
              <a:buNone/>
            </a:pPr>
            <a:r>
              <a:rPr lang="en-US" sz="1400" dirty="0">
                <a:solidFill>
                  <a:srgbClr val="12161C"/>
                </a:solidFill>
              </a:rPr>
              <a:t>Android</a:t>
            </a:r>
            <a:endParaRPr lang="en-US" sz="1400" dirty="0"/>
          </a:p>
        </p:txBody>
      </p:sp>
      <p:sp>
        <p:nvSpPr>
          <p:cNvPr id="22" name="Shape 19"/>
          <p:cNvSpPr/>
          <p:nvPr/>
        </p:nvSpPr>
        <p:spPr>
          <a:xfrm>
            <a:off x="6903720" y="1828800"/>
            <a:ext cx="2468880" cy="1965960"/>
          </a:xfrm>
          <a:prstGeom prst="roundRect">
            <a:avLst>
              <a:gd name="adj" fmla="val 6512"/>
            </a:avLst>
          </a:prstGeom>
          <a:solidFill>
            <a:srgbClr val="FFFFFF"/>
          </a:solidFill>
          <a:ln w="12700">
            <a:solidFill>
              <a:srgbClr val="E7E4DE"/>
            </a:solidFill>
            <a:prstDash val="solid"/>
          </a:ln>
        </p:spPr>
        <p:txBody>
          <a:bodyPr/>
          <a:p/>
        </p:txBody>
      </p:sp>
      <p:sp>
        <p:nvSpPr>
          <p:cNvPr id="23" name="Text 20"/>
          <p:cNvSpPr/>
          <p:nvPr/>
        </p:nvSpPr>
        <p:spPr>
          <a:xfrm>
            <a:off x="7150608" y="2121408"/>
            <a:ext cx="1965960" cy="237744"/>
          </a:xfrm>
          <a:prstGeom prst="rect">
            <a:avLst/>
          </a:prstGeom>
          <a:noFill/>
          <a:ln/>
        </p:spPr>
        <p:txBody>
          <a:bodyPr wrap="square" lIns="0" tIns="0" rIns="0" bIns="0" rtlCol="0" anchor="ctr"/>
          <a:lstStyle/>
          <a:p>
            <a:pPr algn="ctr" indent="0" marL="0">
              <a:buNone/>
            </a:pPr>
            <a:r>
              <a:rPr lang="en-US" sz="1700" b="1" dirty="0">
                <a:solidFill>
                  <a:srgbClr val="D71920"/>
                </a:solidFill>
              </a:rPr>
              <a:t>Projeto híbrido</a:t>
            </a:r>
            <a:endParaRPr lang="en-US" sz="1700" dirty="0"/>
          </a:p>
        </p:txBody>
      </p:sp>
      <p:sp>
        <p:nvSpPr>
          <p:cNvPr id="24" name="Text 21"/>
          <p:cNvSpPr/>
          <p:nvPr/>
        </p:nvSpPr>
        <p:spPr>
          <a:xfrm>
            <a:off x="7178040" y="2633472"/>
            <a:ext cx="1920240" cy="777240"/>
          </a:xfrm>
          <a:prstGeom prst="rect">
            <a:avLst/>
          </a:prstGeom>
          <a:noFill/>
          <a:ln/>
        </p:spPr>
        <p:txBody>
          <a:bodyPr wrap="square" lIns="0" tIns="0" rIns="0" bIns="0" rtlCol="0" anchor="ctr">
            <a:normAutofit/>
          </a:bodyPr>
          <a:lstStyle/>
          <a:p>
            <a:pPr algn="ctr" indent="0" marL="0">
              <a:buNone/>
            </a:pPr>
            <a:r>
              <a:rPr lang="en-US" sz="1400" dirty="0">
                <a:solidFill>
                  <a:srgbClr val="12161C"/>
                </a:solidFill>
              </a:rPr>
              <a:t>VS Code</a:t>
            </a:r>
            <a:endParaRPr lang="en-US" sz="1400" dirty="0"/>
          </a:p>
          <a:p>
            <a:pPr algn="ctr" indent="0" marL="0">
              <a:buNone/>
            </a:pPr>
            <a:r>
              <a:rPr lang="en-US" sz="1400" dirty="0">
                <a:solidFill>
                  <a:srgbClr val="12161C"/>
                </a:solidFill>
              </a:rPr>
              <a:t>JavaScript/TS</a:t>
            </a:r>
            <a:endParaRPr lang="en-US" sz="1400" dirty="0"/>
          </a:p>
          <a:p>
            <a:pPr algn="ctr" indent="0" marL="0">
              <a:buNone/>
            </a:pPr>
            <a:r>
              <a:rPr lang="en-US" sz="1400" dirty="0">
                <a:solidFill>
                  <a:srgbClr val="12161C"/>
                </a:solidFill>
              </a:rPr>
              <a:t>React Native / Expo</a:t>
            </a:r>
            <a:endParaRPr lang="en-US" sz="1400" dirty="0"/>
          </a:p>
        </p:txBody>
      </p:sp>
      <p:sp>
        <p:nvSpPr>
          <p:cNvPr id="25" name="Shape 22"/>
          <p:cNvSpPr/>
          <p:nvPr/>
        </p:nvSpPr>
        <p:spPr>
          <a:xfrm>
            <a:off x="2468880" y="3200400"/>
            <a:ext cx="411480" cy="0"/>
          </a:xfrm>
          <a:prstGeom prst="line">
            <a:avLst/>
          </a:prstGeom>
          <a:noFill/>
          <a:ln w="25400">
            <a:solidFill>
              <a:srgbClr val="5D6673"/>
            </a:solidFill>
            <a:prstDash val="solid"/>
            <a:headEnd type="none"/>
            <a:tailEnd type="triangle"/>
          </a:ln>
        </p:spPr>
        <p:txBody>
          <a:bodyPr/>
          <a:p/>
        </p:txBody>
      </p:sp>
      <p:sp>
        <p:nvSpPr>
          <p:cNvPr id="26" name="Shape 23"/>
          <p:cNvSpPr/>
          <p:nvPr/>
        </p:nvSpPr>
        <p:spPr>
          <a:xfrm>
            <a:off x="5349240" y="3200400"/>
            <a:ext cx="1554480" cy="0"/>
          </a:xfrm>
          <a:prstGeom prst="line">
            <a:avLst/>
          </a:prstGeom>
          <a:noFill/>
          <a:ln w="25400">
            <a:solidFill>
              <a:srgbClr val="5D6673"/>
            </a:solidFill>
            <a:prstDash val="solid"/>
            <a:headEnd type="none"/>
            <a:tailEnd type="triangle"/>
          </a:ln>
        </p:spPr>
        <p:txBody>
          <a:bodyPr/>
          <a:p/>
        </p:txBody>
      </p:sp>
      <p:sp>
        <p:nvSpPr>
          <p:cNvPr id="27" name="Shape 24"/>
          <p:cNvSpPr/>
          <p:nvPr/>
        </p:nvSpPr>
        <p:spPr>
          <a:xfrm>
            <a:off x="9372600" y="3200400"/>
            <a:ext cx="274320" cy="0"/>
          </a:xfrm>
          <a:prstGeom prst="line">
            <a:avLst/>
          </a:prstGeom>
          <a:noFill/>
          <a:ln w="25400">
            <a:solidFill>
              <a:srgbClr val="5D6673"/>
            </a:solidFill>
            <a:prstDash val="solid"/>
            <a:headEnd type="none"/>
            <a:tailEnd type="triangle"/>
          </a:ln>
        </p:spPr>
        <p:txBody>
          <a:bodyPr/>
          <a:p/>
        </p:txBody>
      </p:sp>
      <p:sp>
        <p:nvSpPr>
          <p:cNvPr id="28" name="Text 25"/>
          <p:cNvSpPr/>
          <p:nvPr/>
        </p:nvSpPr>
        <p:spPr>
          <a:xfrm>
            <a:off x="1234440" y="5166360"/>
            <a:ext cx="9692640" cy="320040"/>
          </a:xfrm>
          <a:prstGeom prst="rect">
            <a:avLst/>
          </a:prstGeom>
          <a:noFill/>
          <a:ln/>
        </p:spPr>
        <p:txBody>
          <a:bodyPr wrap="square" lIns="0" tIns="0" rIns="0" bIns="0" rtlCol="0" anchor="ctr"/>
          <a:lstStyle/>
          <a:p>
            <a:pPr algn="ctr" indent="0" marL="0">
              <a:buNone/>
            </a:pPr>
            <a:r>
              <a:rPr lang="en-US" sz="1700" b="1" dirty="0">
                <a:solidFill>
                  <a:srgbClr val="12161C"/>
                </a:solidFill>
              </a:rPr>
              <a:t>Pergunta final: se o resultado visual é parecido, o que muda para quem desenvolve?</a:t>
            </a:r>
            <a:endParaRPr lang="en-US" sz="1700" dirty="0"/>
          </a:p>
        </p:txBody>
      </p:sp>
      <p:sp>
        <p:nvSpPr>
          <p:cNvPr id="30" name="Shape 26"/>
          <p:cNvSpPr/>
          <p:nvPr/>
        </p:nvSpPr>
        <p:spPr>
          <a:xfrm>
            <a:off x="621792" y="6455664"/>
            <a:ext cx="11018520" cy="0"/>
          </a:xfrm>
          <a:prstGeom prst="line">
            <a:avLst/>
          </a:prstGeom>
          <a:noFill/>
          <a:ln w="12700">
            <a:solidFill>
              <a:srgbClr val="E7E4DE"/>
            </a:solidFill>
            <a:prstDash val="solid"/>
          </a:ln>
        </p:spPr>
        <p:txBody>
          <a:bodyPr/>
          <a:p/>
        </p:txBody>
      </p:sp>
      <p:sp>
        <p:nvSpPr>
          <p:cNvPr id="31" name="Text 27"/>
          <p:cNvSpPr/>
          <p:nvPr/>
        </p:nvSpPr>
        <p:spPr>
          <a:xfrm>
            <a:off x="621792" y="6537960"/>
            <a:ext cx="2194560" cy="182880"/>
          </a:xfrm>
          <a:prstGeom prst="rect">
            <a:avLst/>
          </a:prstGeom>
          <a:noFill/>
          <a:ln/>
        </p:spPr>
        <p:txBody>
          <a:bodyPr wrap="square" lIns="0" tIns="0" rIns="0" bIns="0" rtlCol="0" anchor="ctr"/>
          <a:lstStyle/>
          <a:p>
            <a:pPr indent="0" marL="0">
              <a:buNone/>
            </a:pPr>
            <a:r>
              <a:rPr lang="en-US" sz="850" dirty="0">
                <a:solidFill>
                  <a:srgbClr val="5A6472"/>
                </a:solidFill>
              </a:rPr>
              <a:t>Emanuel Nascente</a:t>
            </a:r>
            <a:endParaRPr lang="en-US" sz="850" dirty="0"/>
          </a:p>
        </p:txBody>
      </p:sp>
      <p:sp>
        <p:nvSpPr>
          <p:cNvPr id="32" name="Text 28"/>
          <p:cNvSpPr/>
          <p:nvPr/>
        </p:nvSpPr>
        <p:spPr>
          <a:xfrm>
            <a:off x="11064240" y="6519672"/>
            <a:ext cx="548640" cy="228600"/>
          </a:xfrm>
          <a:prstGeom prst="rect">
            <a:avLst/>
          </a:prstGeom>
          <a:noFill/>
          <a:ln/>
        </p:spPr>
        <p:txBody>
          <a:bodyPr wrap="square" lIns="0" tIns="0" rIns="0" bIns="0" rtlCol="0" anchor="ctr"/>
          <a:lstStyle/>
          <a:p>
            <a:pPr algn="r" indent="0" marL="0">
              <a:buNone/>
            </a:pPr>
            <a:r>
              <a:rPr sz="850" b="1">
                <a:solidFill>
                  <a:srgbClr val="5A6472"/>
                </a:solidFill>
              </a:rPr>
              <a:t>20</a:t>
            </a:r>
            <a:endParaRPr lang="en-US" sz="850" dirty="0"/>
          </a:p>
        </p:txBody>
      </p:sp>
      <p:sp>
        <p:nvSpPr>
          <p:cNvPr id="33" name="Rounded Rectangle 32"/>
          <p:cNvSpPr/>
          <p:nvPr/>
        </p:nvSpPr>
        <p:spPr>
          <a:xfrm>
            <a:off x="1112892" y="1920240"/>
            <a:ext cx="1248936" cy="2560320"/>
          </a:xfrm>
          <a:prstGeom prst="roundRect">
            <a:avLst>
              <a:gd name="adj" fmla="val 14000"/>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175338" y="1982686"/>
            <a:ext cx="1124044" cy="2435428"/>
          </a:xfrm>
          <a:prstGeom prst="roundRect">
            <a:avLst>
              <a:gd name="adj" fmla="val 11000"/>
            </a:avLst>
          </a:prstGeom>
          <a:solidFill>
            <a:srgbClr val="202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550020" y="2019262"/>
            <a:ext cx="374680" cy="64008"/>
          </a:xfrm>
          <a:prstGeom prst="roundRect">
            <a:avLst>
              <a:gd name="adj" fmla="val 50000"/>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1452" y="3379622"/>
            <a:ext cx="1431816" cy="219456"/>
          </a:xfrm>
          <a:prstGeom prst="rect">
            <a:avLst/>
          </a:prstGeom>
          <a:noFill/>
        </p:spPr>
        <p:txBody>
          <a:bodyPr wrap="none">
            <a:spAutoFit/>
          </a:bodyPr>
          <a:lstStyle/>
          <a:p>
            <a:pPr algn="ctr"/>
            <a:r>
              <a:rPr sz="1000" b="1">
                <a:solidFill>
                  <a:srgbClr val="FFFFFF"/>
                </a:solidFill>
                <a:latin typeface="Aptos"/>
              </a:rPr>
              <a:t>Olá, Mobile!</a:t>
            </a:r>
          </a:p>
        </p:txBody>
      </p:sp>
      <p:sp>
        <p:nvSpPr>
          <p:cNvPr id="37" name="TextBox 36"/>
          <p:cNvSpPr txBox="1"/>
          <p:nvPr/>
        </p:nvSpPr>
        <p:spPr>
          <a:xfrm>
            <a:off x="1021452" y="3712464"/>
            <a:ext cx="1431816" cy="182880"/>
          </a:xfrm>
          <a:prstGeom prst="rect">
            <a:avLst/>
          </a:prstGeom>
          <a:noFill/>
        </p:spPr>
        <p:txBody>
          <a:bodyPr wrap="none">
            <a:spAutoFit/>
          </a:bodyPr>
          <a:lstStyle/>
          <a:p>
            <a:pPr algn="ctr"/>
            <a:r>
              <a:rPr sz="750">
                <a:solidFill>
                  <a:srgbClr val="9AA4B2"/>
                </a:solidFill>
                <a:latin typeface="Cascadia Mono"/>
              </a:rPr>
              <a:t>Nativo</a:t>
            </a:r>
          </a:p>
        </p:txBody>
      </p:sp>
      <p:sp>
        <p:nvSpPr>
          <p:cNvPr id="38" name="Rounded Rectangle 37"/>
          <p:cNvSpPr/>
          <p:nvPr/>
        </p:nvSpPr>
        <p:spPr>
          <a:xfrm>
            <a:off x="9708252" y="1920240"/>
            <a:ext cx="1248936" cy="2560320"/>
          </a:xfrm>
          <a:prstGeom prst="roundRect">
            <a:avLst>
              <a:gd name="adj" fmla="val 14000"/>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770698" y="1982686"/>
            <a:ext cx="1124044" cy="2435428"/>
          </a:xfrm>
          <a:prstGeom prst="roundRect">
            <a:avLst>
              <a:gd name="adj" fmla="val 11000"/>
            </a:avLst>
          </a:prstGeom>
          <a:solidFill>
            <a:srgbClr val="202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145380" y="2019262"/>
            <a:ext cx="374680" cy="64008"/>
          </a:xfrm>
          <a:prstGeom prst="roundRect">
            <a:avLst>
              <a:gd name="adj" fmla="val 50000"/>
            </a:avLst>
          </a:prstGeom>
          <a:solidFill>
            <a:srgbClr val="1B1F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616812" y="3379622"/>
            <a:ext cx="1431816" cy="219456"/>
          </a:xfrm>
          <a:prstGeom prst="rect">
            <a:avLst/>
          </a:prstGeom>
          <a:noFill/>
        </p:spPr>
        <p:txBody>
          <a:bodyPr wrap="none">
            <a:spAutoFit/>
          </a:bodyPr>
          <a:lstStyle/>
          <a:p>
            <a:pPr algn="ctr"/>
            <a:r>
              <a:rPr sz="1000" b="1">
                <a:solidFill>
                  <a:srgbClr val="FFFFFF"/>
                </a:solidFill>
                <a:latin typeface="Aptos"/>
              </a:rPr>
              <a:t>Olá, Mobile!</a:t>
            </a:r>
          </a:p>
        </p:txBody>
      </p:sp>
      <p:sp>
        <p:nvSpPr>
          <p:cNvPr id="42" name="TextBox 41"/>
          <p:cNvSpPr txBox="1"/>
          <p:nvPr/>
        </p:nvSpPr>
        <p:spPr>
          <a:xfrm>
            <a:off x="9616812" y="3712464"/>
            <a:ext cx="1431816" cy="182880"/>
          </a:xfrm>
          <a:prstGeom prst="rect">
            <a:avLst/>
          </a:prstGeom>
          <a:noFill/>
        </p:spPr>
        <p:txBody>
          <a:bodyPr wrap="none">
            <a:spAutoFit/>
          </a:bodyPr>
          <a:lstStyle/>
          <a:p>
            <a:pPr algn="ctr"/>
            <a:r>
              <a:rPr sz="750">
                <a:solidFill>
                  <a:srgbClr val="9AA4B2"/>
                </a:solidFill>
                <a:latin typeface="Cascadia Mono"/>
              </a:rPr>
              <a:t>Híbrido</a:t>
            </a:r>
          </a:p>
        </p:txBody>
      </p:sp>
      <p:sp>
        <p:nvSpPr>
          <p:cNvPr id="43" name="Rounded Rectangle 42"/>
          <p:cNvSpPr/>
          <p:nvPr/>
        </p:nvSpPr>
        <p:spPr>
          <a:xfrm>
            <a:off x="868680" y="5138928"/>
            <a:ext cx="10469880" cy="786384"/>
          </a:xfrm>
          <a:prstGeom prst="roundRect">
            <a:avLst>
              <a:gd name="adj" fmla="val 6000"/>
            </a:avLst>
          </a:prstGeom>
          <a:solidFill>
            <a:srgbClr val="FFF6F6"/>
          </a:solidFill>
          <a:ln w="12700">
            <a:solidFill>
              <a:srgbClr val="F3C9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97280" y="5266944"/>
            <a:ext cx="2926080" cy="274320"/>
          </a:xfrm>
          <a:prstGeom prst="rect">
            <a:avLst/>
          </a:prstGeom>
          <a:noFill/>
        </p:spPr>
        <p:txBody>
          <a:bodyPr wrap="square" anchor="t">
            <a:spAutoFit/>
          </a:bodyPr>
          <a:lstStyle/>
          <a:p>
            <a:pPr algn="l"/>
            <a:r>
              <a:rPr sz="900" b="1">
                <a:solidFill>
                  <a:srgbClr val="D71920"/>
                </a:solidFill>
                <a:latin typeface="Cascadia Mono"/>
              </a:rPr>
              <a:t>TEMPO ATÉ A PRIMEIRA TELA</a:t>
            </a:r>
          </a:p>
        </p:txBody>
      </p:sp>
      <p:sp>
        <p:nvSpPr>
          <p:cNvPr id="45" name="TextBox 44"/>
          <p:cNvSpPr txBox="1"/>
          <p:nvPr/>
        </p:nvSpPr>
        <p:spPr>
          <a:xfrm>
            <a:off x="1097280" y="5522976"/>
            <a:ext cx="4206240" cy="310896"/>
          </a:xfrm>
          <a:prstGeom prst="rect">
            <a:avLst/>
          </a:prstGeom>
          <a:noFill/>
        </p:spPr>
        <p:txBody>
          <a:bodyPr wrap="square" anchor="t">
            <a:spAutoFit/>
          </a:bodyPr>
          <a:lstStyle/>
          <a:p>
            <a:pPr algn="l"/>
            <a:r>
              <a:rPr sz="1200" b="0">
                <a:solidFill>
                  <a:srgbClr val="12161C"/>
                </a:solidFill>
                <a:latin typeface="Aptos"/>
              </a:rPr>
              <a:t>Nativo: minutos (build do Gradle)</a:t>
            </a:r>
          </a:p>
        </p:txBody>
      </p:sp>
      <p:sp>
        <p:nvSpPr>
          <p:cNvPr id="46" name="TextBox 45"/>
          <p:cNvSpPr txBox="1"/>
          <p:nvPr/>
        </p:nvSpPr>
        <p:spPr>
          <a:xfrm>
            <a:off x="6035040" y="5522976"/>
            <a:ext cx="4206240" cy="310896"/>
          </a:xfrm>
          <a:prstGeom prst="rect">
            <a:avLst/>
          </a:prstGeom>
          <a:noFill/>
        </p:spPr>
        <p:txBody>
          <a:bodyPr wrap="square" anchor="t">
            <a:spAutoFit/>
          </a:bodyPr>
          <a:lstStyle/>
          <a:p>
            <a:pPr algn="l"/>
            <a:r>
              <a:rPr sz="1200" b="0">
                <a:solidFill>
                  <a:srgbClr val="12161C"/>
                </a:solidFill>
                <a:latin typeface="Aptos"/>
              </a:rPr>
              <a:t>Expo: segundos</a:t>
            </a:r>
          </a:p>
        </p:txBody>
      </p:sp>
      <p:sp>
        <p:nvSpPr>
          <p:cNvPr id="47" name="TextBox 46"/>
          <p:cNvSpPr txBox="1"/>
          <p:nvPr/>
        </p:nvSpPr>
        <p:spPr>
          <a:xfrm>
            <a:off x="6035040" y="5266944"/>
            <a:ext cx="2743200" cy="274320"/>
          </a:xfrm>
          <a:prstGeom prst="rect">
            <a:avLst/>
          </a:prstGeom>
          <a:noFill/>
        </p:spPr>
        <p:txBody>
          <a:bodyPr wrap="square" anchor="t">
            <a:spAutoFit/>
          </a:bodyPr>
          <a:lstStyle/>
          <a:p>
            <a:pPr algn="l"/>
            <a:r>
              <a:rPr sz="900" b="1">
                <a:solidFill>
                  <a:srgbClr val="5A6472"/>
                </a:solidFill>
                <a:latin typeface="Cascadia Mono"/>
              </a:rPr>
              <a:t>É O QUE VOCÊS SENTIRAM</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D71920"/>
          </a:solidFill>
          <a:ln w="12700">
            <a:solidFill>
              <a:srgbClr val="D71920"/>
            </a:solidFill>
            <a:prstDash val="solid"/>
          </a:ln>
        </p:spPr>
        <p:txBody>
          <a:bodyPr/>
          <a:p/>
        </p:txBody>
      </p:sp>
      <p:sp>
        <p:nvSpPr>
          <p:cNvPr id="3" name="Shape 1"/>
          <p:cNvSpPr/>
          <p:nvPr/>
        </p:nvSpPr>
        <p:spPr>
          <a:xfrm>
            <a:off x="164592" y="0"/>
            <a:ext cx="54864" cy="6858000"/>
          </a:xfrm>
          <a:prstGeom prst="rect">
            <a:avLst/>
          </a:prstGeom>
          <a:solidFill>
            <a:srgbClr val="FFD322"/>
          </a:solidFill>
          <a:ln w="12700">
            <a:solidFill>
              <a:srgbClr val="FFD322"/>
            </a:solidFill>
            <a:prstDash val="solid"/>
          </a:ln>
        </p:spPr>
        <p:txBody>
          <a:bodyPr/>
          <a:p/>
        </p:txBody>
      </p:sp>
      <p:sp>
        <p:nvSpPr>
          <p:cNvPr id="4" name="Text 2"/>
          <p:cNvSpPr/>
          <p:nvPr/>
        </p:nvSpPr>
        <p:spPr>
          <a:xfrm>
            <a:off x="438912" y="210312"/>
            <a:ext cx="2103120" cy="256032"/>
          </a:xfrm>
          <a:prstGeom prst="rect">
            <a:avLst/>
          </a:prstGeom>
          <a:noFill/>
          <a:ln/>
        </p:spPr>
        <p:txBody>
          <a:bodyPr wrap="square" lIns="0" tIns="0" rIns="0" bIns="0" rtlCol="0" anchor="ctr"/>
          <a:lstStyle/>
          <a:p>
            <a:pPr indent="0" marL="0">
              <a:buNone/>
            </a:pPr>
            <a:r>
              <a:rPr lang="en-US" sz="950" b="1" dirty="0">
                <a:solidFill>
                  <a:srgbClr val="D71920"/>
                </a:solidFill>
                <a:latin typeface="Aptos" pitchFamily="34" charset="0"/>
                <a:ea typeface="Aptos" pitchFamily="34" charset="-122"/>
                <a:cs typeface="Aptos" pitchFamily="34" charset="-120"/>
              </a:rPr>
              <a:t>Aula 01</a:t>
            </a:r>
            <a:endParaRPr lang="en-US" sz="950" dirty="0"/>
          </a:p>
        </p:txBody>
      </p:sp>
      <p:sp>
        <p:nvSpPr>
          <p:cNvPr id="5" name="Text 3"/>
          <p:cNvSpPr/>
          <p:nvPr/>
        </p:nvSpPr>
        <p:spPr>
          <a:xfrm>
            <a:off x="2788920" y="210312"/>
            <a:ext cx="2743200" cy="256032"/>
          </a:xfrm>
          <a:prstGeom prst="rect">
            <a:avLst/>
          </a:prstGeom>
          <a:noFill/>
          <a:ln/>
        </p:spPr>
        <p:txBody>
          <a:bodyPr wrap="square" lIns="0" tIns="0" rIns="0" bIns="0" rtlCol="0" anchor="ctr"/>
          <a:lstStyle/>
          <a:p>
            <a:pPr indent="0" marL="0">
              <a:buNone/>
            </a:pPr>
            <a:r>
              <a:rPr lang="en-US" sz="950" dirty="0">
                <a:solidFill>
                  <a:srgbClr val="5A6472"/>
                </a:solidFill>
              </a:rPr>
              <a:t>Desenvolvimento Mobile</a:t>
            </a:r>
            <a:endParaRPr lang="en-US" sz="950" dirty="0"/>
          </a:p>
        </p:txBody>
      </p:sp>
      <p:pic>
        <p:nvPicPr>
          <p:cNvPr id="6" name="Image 0" descr="/mnt/data/logo_mesquita_stylized.png">    </p:cNvPr>
          <p:cNvPicPr>
            <a:picLocks noChangeAspect="1"/>
          </p:cNvPicPr>
          <p:nvPr/>
        </p:nvPicPr>
        <p:blipFill>
          <a:blip r:embed="rId1"/>
          <a:stretch>
            <a:fillRect/>
          </a:stretch>
        </p:blipFill>
        <p:spPr>
          <a:xfrm>
            <a:off x="10744200" y="128016"/>
            <a:ext cx="987552" cy="685800"/>
          </a:xfrm>
          <a:prstGeom prst="rect">
            <a:avLst/>
          </a:prstGeom>
        </p:spPr>
      </p:pic>
      <p:sp>
        <p:nvSpPr>
          <p:cNvPr id="7" name="Text 4"/>
          <p:cNvSpPr/>
          <p:nvPr/>
        </p:nvSpPr>
        <p:spPr>
          <a:xfrm>
            <a:off x="502920" y="749808"/>
            <a:ext cx="8503920" cy="530352"/>
          </a:xfrm>
          <a:prstGeom prst="rect">
            <a:avLst/>
          </a:prstGeom>
          <a:noFill/>
          <a:ln/>
        </p:spPr>
        <p:txBody>
          <a:bodyPr wrap="square" lIns="0" tIns="0" rIns="0" bIns="0" rtlCol="0" anchor="ctr">
            <a:normAutofit/>
          </a:bodyPr>
          <a:lstStyle/>
          <a:p>
            <a:pPr indent="0" marL="0">
              <a:buNone/>
            </a:pPr>
            <a:r>
              <a:rPr lang="en-US" sz="3000" b="1" dirty="0">
                <a:solidFill>
                  <a:srgbClr val="12161C"/>
                </a:solidFill>
                <a:latin typeface="Aptos Display" pitchFamily="34" charset="0"/>
                <a:ea typeface="Aptos Display" pitchFamily="34" charset="-122"/>
                <a:cs typeface="Aptos Display" pitchFamily="34" charset="-120"/>
              </a:rPr>
              <a:t>Fechamento da aula</a:t>
            </a:r>
            <a:endParaRPr lang="en-US" sz="3000" dirty="0"/>
          </a:p>
        </p:txBody>
      </p:sp>
      <p:sp>
        <p:nvSpPr>
          <p:cNvPr id="8" name="Text 5"/>
          <p:cNvSpPr/>
          <p:nvPr/>
        </p:nvSpPr>
        <p:spPr>
          <a:xfrm>
            <a:off x="530352" y="1325880"/>
            <a:ext cx="7589520" cy="320040"/>
          </a:xfrm>
          <a:prstGeom prst="rect">
            <a:avLst/>
          </a:prstGeom>
          <a:noFill/>
          <a:ln/>
        </p:spPr>
        <p:txBody>
          <a:bodyPr wrap="square" lIns="0" tIns="0" rIns="0" bIns="0" rtlCol="0" anchor="ctr"/>
          <a:lstStyle/>
          <a:p>
            <a:pPr indent="0" marL="0">
              <a:buNone/>
            </a:pPr>
            <a:r>
              <a:rPr lang="en-US" sz="1350" dirty="0">
                <a:solidFill>
                  <a:srgbClr val="5A6472"/>
                </a:solidFill>
              </a:rPr>
              <a:t>Registrar o que ficou claro e preparar a próxima aula.</a:t>
            </a:r>
            <a:endParaRPr lang="en-US" sz="1350" dirty="0"/>
          </a:p>
        </p:txBody>
      </p:sp>
      <p:sp>
        <p:nvSpPr>
          <p:cNvPr id="9" name="Text 6"/>
          <p:cNvSpPr/>
          <p:nvPr/>
        </p:nvSpPr>
        <p:spPr>
          <a:xfrm>
            <a:off x="868680" y="1828800"/>
            <a:ext cx="3657600" cy="320040"/>
          </a:xfrm>
          <a:prstGeom prst="rect">
            <a:avLst/>
          </a:prstGeom>
          <a:noFill/>
          <a:ln/>
        </p:spPr>
        <p:txBody>
          <a:bodyPr wrap="square" lIns="0" tIns="0" rIns="0" bIns="0" rtlCol="0" anchor="ctr"/>
          <a:lstStyle/>
          <a:p>
            <a:pPr indent="0" marL="0">
              <a:buNone/>
            </a:pPr>
            <a:r>
              <a:rPr lang="en-US" sz="2000" b="1" dirty="0">
                <a:solidFill>
                  <a:srgbClr val="D71920"/>
                </a:solidFill>
              </a:rPr>
              <a:t>Responda individualmente:</a:t>
            </a:r>
            <a:endParaRPr lang="en-US" sz="2000" dirty="0"/>
          </a:p>
        </p:txBody>
      </p:sp>
      <p:sp>
        <p:nvSpPr>
          <p:cNvPr id="10" name="Shape 7"/>
          <p:cNvSpPr/>
          <p:nvPr/>
        </p:nvSpPr>
        <p:spPr>
          <a:xfrm>
            <a:off x="960120" y="2432304"/>
            <a:ext cx="109728" cy="109728"/>
          </a:xfrm>
          <a:prstGeom prst="ellipse">
            <a:avLst/>
          </a:prstGeom>
          <a:solidFill>
            <a:srgbClr val="D71920"/>
          </a:solidFill>
          <a:ln w="12700">
            <a:solidFill>
              <a:srgbClr val="D71920"/>
            </a:solidFill>
            <a:prstDash val="solid"/>
          </a:ln>
        </p:spPr>
        <p:txBody>
          <a:bodyPr/>
          <a:p/>
        </p:txBody>
      </p:sp>
      <p:sp>
        <p:nvSpPr>
          <p:cNvPr id="11" name="Text 8"/>
          <p:cNvSpPr/>
          <p:nvPr/>
        </p:nvSpPr>
        <p:spPr>
          <a:xfrm>
            <a:off x="1188720" y="2377440"/>
            <a:ext cx="7315200" cy="228600"/>
          </a:xfrm>
          <a:prstGeom prst="rect">
            <a:avLst/>
          </a:prstGeom>
          <a:noFill/>
          <a:ln/>
        </p:spPr>
        <p:txBody>
          <a:bodyPr wrap="square" lIns="0" tIns="0" rIns="0" bIns="0" rtlCol="0" anchor="ctr">
            <a:normAutofit/>
          </a:bodyPr>
          <a:lstStyle/>
          <a:p>
            <a:pPr indent="0" marL="0">
              <a:buNone/>
            </a:pPr>
            <a:r>
              <a:rPr lang="en-US" sz="1520" dirty="0">
                <a:solidFill>
                  <a:srgbClr val="12161C"/>
                </a:solidFill>
              </a:rPr>
              <a:t>Qual diferença você percebeu entre web e mobile?</a:t>
            </a:r>
            <a:endParaRPr lang="en-US" sz="1520" dirty="0"/>
          </a:p>
        </p:txBody>
      </p:sp>
      <p:sp>
        <p:nvSpPr>
          <p:cNvPr id="12" name="Shape 9"/>
          <p:cNvSpPr/>
          <p:nvPr/>
        </p:nvSpPr>
        <p:spPr>
          <a:xfrm>
            <a:off x="960120" y="2935224"/>
            <a:ext cx="109728" cy="109728"/>
          </a:xfrm>
          <a:prstGeom prst="ellipse">
            <a:avLst/>
          </a:prstGeom>
          <a:solidFill>
            <a:srgbClr val="D71920"/>
          </a:solidFill>
          <a:ln w="12700">
            <a:solidFill>
              <a:srgbClr val="D71920"/>
            </a:solidFill>
            <a:prstDash val="solid"/>
          </a:ln>
        </p:spPr>
        <p:txBody>
          <a:bodyPr/>
          <a:p/>
        </p:txBody>
      </p:sp>
      <p:sp>
        <p:nvSpPr>
          <p:cNvPr id="13" name="Text 10"/>
          <p:cNvSpPr/>
          <p:nvPr/>
        </p:nvSpPr>
        <p:spPr>
          <a:xfrm>
            <a:off x="1188720" y="2880360"/>
            <a:ext cx="7315200" cy="228600"/>
          </a:xfrm>
          <a:prstGeom prst="rect">
            <a:avLst/>
          </a:prstGeom>
          <a:noFill/>
          <a:ln/>
        </p:spPr>
        <p:txBody>
          <a:bodyPr wrap="square" lIns="0" tIns="0" rIns="0" bIns="0" rtlCol="0" anchor="ctr">
            <a:normAutofit/>
          </a:bodyPr>
          <a:lstStyle/>
          <a:p>
            <a:pPr indent="0" marL="0">
              <a:buNone/>
            </a:pPr>
            <a:r>
              <a:rPr lang="en-US" sz="1520" dirty="0">
                <a:solidFill>
                  <a:srgbClr val="12161C"/>
                </a:solidFill>
              </a:rPr>
              <a:t>O que é um aplicativo nativo?</a:t>
            </a:r>
            <a:endParaRPr lang="en-US" sz="1520" dirty="0"/>
          </a:p>
        </p:txBody>
      </p:sp>
      <p:sp>
        <p:nvSpPr>
          <p:cNvPr id="14" name="Shape 11"/>
          <p:cNvSpPr/>
          <p:nvPr/>
        </p:nvSpPr>
        <p:spPr>
          <a:xfrm>
            <a:off x="960120" y="3438144"/>
            <a:ext cx="109728" cy="109728"/>
          </a:xfrm>
          <a:prstGeom prst="ellipse">
            <a:avLst/>
          </a:prstGeom>
          <a:solidFill>
            <a:srgbClr val="D71920"/>
          </a:solidFill>
          <a:ln w="12700">
            <a:solidFill>
              <a:srgbClr val="D71920"/>
            </a:solidFill>
            <a:prstDash val="solid"/>
          </a:ln>
        </p:spPr>
        <p:txBody>
          <a:bodyPr/>
          <a:p/>
        </p:txBody>
      </p:sp>
      <p:sp>
        <p:nvSpPr>
          <p:cNvPr id="15" name="Text 12"/>
          <p:cNvSpPr/>
          <p:nvPr/>
        </p:nvSpPr>
        <p:spPr>
          <a:xfrm>
            <a:off x="1188720" y="3383280"/>
            <a:ext cx="7315200" cy="228600"/>
          </a:xfrm>
          <a:prstGeom prst="rect">
            <a:avLst/>
          </a:prstGeom>
          <a:noFill/>
          <a:ln/>
        </p:spPr>
        <p:txBody>
          <a:bodyPr wrap="square" lIns="0" tIns="0" rIns="0" bIns="0" rtlCol="0" anchor="ctr">
            <a:normAutofit/>
          </a:bodyPr>
          <a:lstStyle/>
          <a:p>
            <a:pPr indent="0" marL="0">
              <a:buNone/>
            </a:pPr>
            <a:r>
              <a:rPr lang="en-US" sz="1520" dirty="0">
                <a:solidFill>
                  <a:srgbClr val="12161C"/>
                </a:solidFill>
              </a:rPr>
              <a:t>O que é um aplicativo híbrido/multiplataforma?</a:t>
            </a:r>
            <a:endParaRPr lang="en-US" sz="1520" dirty="0"/>
          </a:p>
        </p:txBody>
      </p:sp>
      <p:sp>
        <p:nvSpPr>
          <p:cNvPr id="16" name="Shape 13"/>
          <p:cNvSpPr/>
          <p:nvPr/>
        </p:nvSpPr>
        <p:spPr>
          <a:xfrm>
            <a:off x="960120" y="3941064"/>
            <a:ext cx="109728" cy="109728"/>
          </a:xfrm>
          <a:prstGeom prst="ellipse">
            <a:avLst/>
          </a:prstGeom>
          <a:solidFill>
            <a:srgbClr val="D71920"/>
          </a:solidFill>
          <a:ln w="12700">
            <a:solidFill>
              <a:srgbClr val="D71920"/>
            </a:solidFill>
            <a:prstDash val="solid"/>
          </a:ln>
        </p:spPr>
        <p:txBody>
          <a:bodyPr/>
          <a:p/>
        </p:txBody>
      </p:sp>
      <p:sp>
        <p:nvSpPr>
          <p:cNvPr id="17" name="Text 14"/>
          <p:cNvSpPr/>
          <p:nvPr/>
        </p:nvSpPr>
        <p:spPr>
          <a:xfrm>
            <a:off x="1188720" y="3886200"/>
            <a:ext cx="7315200" cy="228600"/>
          </a:xfrm>
          <a:prstGeom prst="rect">
            <a:avLst/>
          </a:prstGeom>
          <a:noFill/>
          <a:ln/>
        </p:spPr>
        <p:txBody>
          <a:bodyPr wrap="square" lIns="0" tIns="0" rIns="0" bIns="0" rtlCol="0" anchor="ctr">
            <a:normAutofit/>
          </a:bodyPr>
          <a:lstStyle/>
          <a:p>
            <a:pPr indent="0" marL="0">
              <a:buNone/>
            </a:pPr>
            <a:r>
              <a:rPr lang="en-US" sz="1520" dirty="0">
                <a:solidFill>
                  <a:srgbClr val="12161C"/>
                </a:solidFill>
              </a:rPr>
              <a:t>Qual parte do laboratório gerou mais dúvida?</a:t>
            </a:r>
            <a:endParaRPr lang="en-US" sz="1520" dirty="0"/>
          </a:p>
        </p:txBody>
      </p:sp>
      <p:sp>
        <p:nvSpPr>
          <p:cNvPr id="18" name="Shape 15"/>
          <p:cNvSpPr/>
          <p:nvPr/>
        </p:nvSpPr>
        <p:spPr>
          <a:xfrm>
            <a:off x="960120" y="4443984"/>
            <a:ext cx="109728" cy="109728"/>
          </a:xfrm>
          <a:prstGeom prst="ellipse">
            <a:avLst/>
          </a:prstGeom>
          <a:solidFill>
            <a:srgbClr val="D71920"/>
          </a:solidFill>
          <a:ln w="12700">
            <a:solidFill>
              <a:srgbClr val="D71920"/>
            </a:solidFill>
            <a:prstDash val="solid"/>
          </a:ln>
        </p:spPr>
        <p:txBody>
          <a:bodyPr/>
          <a:p/>
        </p:txBody>
      </p:sp>
      <p:sp>
        <p:nvSpPr>
          <p:cNvPr id="19" name="Text 16"/>
          <p:cNvSpPr/>
          <p:nvPr/>
        </p:nvSpPr>
        <p:spPr>
          <a:xfrm>
            <a:off x="1188720" y="4389120"/>
            <a:ext cx="7315200" cy="228600"/>
          </a:xfrm>
          <a:prstGeom prst="rect">
            <a:avLst/>
          </a:prstGeom>
          <a:noFill/>
          <a:ln/>
        </p:spPr>
        <p:txBody>
          <a:bodyPr wrap="square" lIns="0" tIns="0" rIns="0" bIns="0" rtlCol="0" anchor="ctr">
            <a:normAutofit/>
          </a:bodyPr>
          <a:lstStyle/>
          <a:p>
            <a:pPr indent="0" marL="0">
              <a:buNone/>
            </a:pPr>
            <a:r>
              <a:rPr lang="en-US" sz="1520" dirty="0">
                <a:solidFill>
                  <a:srgbClr val="12161C"/>
                </a:solidFill>
              </a:rPr>
              <a:t>Que tipo de app você gostaria de desenvolver durante a disciplina?</a:t>
            </a:r>
            <a:endParaRPr lang="en-US" sz="1520" dirty="0"/>
          </a:p>
        </p:txBody>
      </p:sp>
      <p:sp>
        <p:nvSpPr>
          <p:cNvPr id="20" name="Shape 17"/>
          <p:cNvSpPr/>
          <p:nvPr/>
        </p:nvSpPr>
        <p:spPr>
          <a:xfrm>
            <a:off x="9098280" y="1783080"/>
            <a:ext cx="2011680" cy="3566160"/>
          </a:xfrm>
          <a:prstGeom prst="roundRect">
            <a:avLst>
              <a:gd name="adj" fmla="val 8182"/>
            </a:avLst>
          </a:prstGeom>
          <a:solidFill>
            <a:srgbClr val="FFF9E6"/>
          </a:solidFill>
          <a:ln w="12700">
            <a:solidFill>
              <a:srgbClr val="F1D777"/>
            </a:solidFill>
            <a:prstDash val="solid"/>
          </a:ln>
        </p:spPr>
        <p:txBody>
          <a:bodyPr/>
          <a:p/>
        </p:txBody>
      </p:sp>
      <p:sp>
        <p:nvSpPr>
          <p:cNvPr id="21" name="Text 18"/>
          <p:cNvSpPr/>
          <p:nvPr/>
        </p:nvSpPr>
        <p:spPr>
          <a:xfrm>
            <a:off x="9372600" y="2148840"/>
            <a:ext cx="1463040" cy="274320"/>
          </a:xfrm>
          <a:prstGeom prst="rect">
            <a:avLst/>
          </a:prstGeom>
          <a:noFill/>
          <a:ln/>
        </p:spPr>
        <p:txBody>
          <a:bodyPr wrap="square" lIns="0" tIns="0" rIns="0" bIns="0" rtlCol="0" anchor="ctr"/>
          <a:lstStyle/>
          <a:p>
            <a:pPr algn="ctr" indent="0" marL="0">
              <a:buNone/>
            </a:pPr>
            <a:r>
              <a:rPr lang="en-US" sz="1700" b="1" dirty="0">
                <a:solidFill>
                  <a:srgbClr val="D71920"/>
                </a:solidFill>
              </a:rPr>
              <a:t>Próxima aula</a:t>
            </a:r>
            <a:endParaRPr lang="en-US" sz="1700" dirty="0"/>
          </a:p>
        </p:txBody>
      </p:sp>
      <p:sp>
        <p:nvSpPr>
          <p:cNvPr id="22" name="Text 19"/>
          <p:cNvSpPr/>
          <p:nvPr/>
        </p:nvSpPr>
        <p:spPr>
          <a:xfrm>
            <a:off x="9372600" y="2743200"/>
            <a:ext cx="1463040" cy="1097280"/>
          </a:xfrm>
          <a:prstGeom prst="rect">
            <a:avLst/>
          </a:prstGeom>
          <a:noFill/>
          <a:ln/>
        </p:spPr>
        <p:txBody>
          <a:bodyPr wrap="square" lIns="254" tIns="254" rIns="254" bIns="254" rtlCol="0" anchor="ctr">
            <a:normAutofit/>
          </a:bodyPr>
          <a:lstStyle/>
          <a:p>
            <a:pPr algn="ctr" indent="0" marL="0">
              <a:buNone/>
            </a:pPr>
            <a:r>
              <a:rPr lang="en-US" sz="1300" dirty="0">
                <a:solidFill>
                  <a:srgbClr val="12161C"/>
                </a:solidFill>
              </a:rPr>
              <a:t>Fundamentos para começar a desenvolver no ecossistema Android.</a:t>
            </a:r>
            <a:endParaRPr lang="en-US" sz="1300" dirty="0"/>
          </a:p>
        </p:txBody>
      </p:sp>
      <p:sp>
        <p:nvSpPr>
          <p:cNvPr id="24" name="Shape 20"/>
          <p:cNvSpPr/>
          <p:nvPr/>
        </p:nvSpPr>
        <p:spPr>
          <a:xfrm>
            <a:off x="621792" y="6455664"/>
            <a:ext cx="11018520" cy="0"/>
          </a:xfrm>
          <a:prstGeom prst="line">
            <a:avLst/>
          </a:prstGeom>
          <a:noFill/>
          <a:ln w="12700">
            <a:solidFill>
              <a:srgbClr val="E7E4DE"/>
            </a:solidFill>
            <a:prstDash val="solid"/>
          </a:ln>
        </p:spPr>
        <p:txBody>
          <a:bodyPr/>
          <a:p/>
        </p:txBody>
      </p:sp>
      <p:sp>
        <p:nvSpPr>
          <p:cNvPr id="25" name="Text 21"/>
          <p:cNvSpPr/>
          <p:nvPr/>
        </p:nvSpPr>
        <p:spPr>
          <a:xfrm>
            <a:off x="621792" y="6537960"/>
            <a:ext cx="2194560" cy="182880"/>
          </a:xfrm>
          <a:prstGeom prst="rect">
            <a:avLst/>
          </a:prstGeom>
          <a:noFill/>
          <a:ln/>
        </p:spPr>
        <p:txBody>
          <a:bodyPr wrap="square" lIns="0" tIns="0" rIns="0" bIns="0" rtlCol="0" anchor="ctr"/>
          <a:lstStyle/>
          <a:p>
            <a:pPr indent="0" marL="0">
              <a:buNone/>
            </a:pPr>
            <a:r>
              <a:rPr lang="en-US" sz="850" dirty="0">
                <a:solidFill>
                  <a:srgbClr val="5A6472"/>
                </a:solidFill>
              </a:rPr>
              <a:t>Emanuel Nascente</a:t>
            </a:r>
            <a:endParaRPr lang="en-US" sz="850" dirty="0"/>
          </a:p>
        </p:txBody>
      </p:sp>
      <p:sp>
        <p:nvSpPr>
          <p:cNvPr id="26" name="Text 22"/>
          <p:cNvSpPr/>
          <p:nvPr/>
        </p:nvSpPr>
        <p:spPr>
          <a:xfrm>
            <a:off x="11064240" y="6519672"/>
            <a:ext cx="548640" cy="228600"/>
          </a:xfrm>
          <a:prstGeom prst="rect">
            <a:avLst/>
          </a:prstGeom>
          <a:noFill/>
          <a:ln/>
        </p:spPr>
        <p:txBody>
          <a:bodyPr wrap="square" lIns="0" tIns="0" rIns="0" bIns="0" rtlCol="0" anchor="ctr"/>
          <a:lstStyle/>
          <a:p>
            <a:pPr algn="r" indent="0" marL="0">
              <a:buNone/>
            </a:pPr>
            <a:r>
              <a:rPr sz="850" b="1">
                <a:solidFill>
                  <a:srgbClr val="5A6472"/>
                </a:solidFill>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D71920"/>
          </a:solidFill>
          <a:ln w="12700">
            <a:solidFill>
              <a:srgbClr val="D71920"/>
            </a:solidFill>
            <a:prstDash val="solid"/>
          </a:ln>
        </p:spPr>
        <p:txBody>
          <a:bodyPr/>
          <a:p/>
        </p:txBody>
      </p:sp>
      <p:sp>
        <p:nvSpPr>
          <p:cNvPr id="3" name="Shape 1"/>
          <p:cNvSpPr/>
          <p:nvPr/>
        </p:nvSpPr>
        <p:spPr>
          <a:xfrm>
            <a:off x="164592" y="0"/>
            <a:ext cx="54864" cy="6858000"/>
          </a:xfrm>
          <a:prstGeom prst="rect">
            <a:avLst/>
          </a:prstGeom>
          <a:solidFill>
            <a:srgbClr val="FFD322"/>
          </a:solidFill>
          <a:ln w="12700">
            <a:solidFill>
              <a:srgbClr val="FFD322"/>
            </a:solidFill>
            <a:prstDash val="solid"/>
          </a:ln>
        </p:spPr>
        <p:txBody>
          <a:bodyPr/>
          <a:p/>
        </p:txBody>
      </p:sp>
      <p:pic>
        <p:nvPicPr>
          <p:cNvPr id="4" name="Image 0" descr="/mnt/data/logo_mesquita_stylized.png">    </p:cNvPr>
          <p:cNvPicPr>
            <a:picLocks noChangeAspect="1"/>
          </p:cNvPicPr>
          <p:nvPr/>
        </p:nvPicPr>
        <p:blipFill>
          <a:blip r:embed="rId1"/>
          <a:stretch>
            <a:fillRect/>
          </a:stretch>
        </p:blipFill>
        <p:spPr>
          <a:xfrm>
            <a:off x="8915400" y="502920"/>
            <a:ext cx="2103120" cy="1463040"/>
          </a:xfrm>
          <a:prstGeom prst="rect">
            <a:avLst/>
          </a:prstGeom>
        </p:spPr>
      </p:pic>
      <p:sp>
        <p:nvSpPr>
          <p:cNvPr id="25" name="Shape 21"/>
          <p:cNvSpPr/>
          <p:nvPr/>
        </p:nvSpPr>
        <p:spPr>
          <a:xfrm>
            <a:off x="621792" y="6455664"/>
            <a:ext cx="11018520" cy="0"/>
          </a:xfrm>
          <a:prstGeom prst="line">
            <a:avLst/>
          </a:prstGeom>
          <a:noFill/>
          <a:ln w="12700">
            <a:solidFill>
              <a:srgbClr val="E7E4DE"/>
            </a:solidFill>
            <a:prstDash val="solid"/>
          </a:ln>
        </p:spPr>
        <p:txBody>
          <a:bodyPr/>
          <a:p/>
        </p:txBody>
      </p:sp>
      <p:sp>
        <p:nvSpPr>
          <p:cNvPr id="26" name="Text 22"/>
          <p:cNvSpPr/>
          <p:nvPr/>
        </p:nvSpPr>
        <p:spPr>
          <a:xfrm>
            <a:off x="621792" y="6537960"/>
            <a:ext cx="2194560" cy="182880"/>
          </a:xfrm>
          <a:prstGeom prst="rect">
            <a:avLst/>
          </a:prstGeom>
          <a:noFill/>
          <a:ln/>
        </p:spPr>
        <p:txBody>
          <a:bodyPr wrap="square" lIns="0" tIns="0" rIns="0" bIns="0" rtlCol="0" anchor="ctr"/>
          <a:lstStyle/>
          <a:p>
            <a:pPr indent="0" marL="0">
              <a:buNone/>
            </a:pPr>
            <a:r>
              <a:rPr lang="en-US" sz="850" dirty="0">
                <a:solidFill>
                  <a:srgbClr val="5A6472"/>
                </a:solidFill>
              </a:rPr>
              <a:t>Emanuel Nascente</a:t>
            </a:r>
            <a:endParaRPr lang="en-US" sz="850" dirty="0"/>
          </a:p>
        </p:txBody>
      </p:sp>
      <p:sp>
        <p:nvSpPr>
          <p:cNvPr id="27" name="Text 23"/>
          <p:cNvSpPr/>
          <p:nvPr/>
        </p:nvSpPr>
        <p:spPr>
          <a:xfrm>
            <a:off x="11064240" y="6519672"/>
            <a:ext cx="548640" cy="228600"/>
          </a:xfrm>
          <a:prstGeom prst="rect">
            <a:avLst/>
          </a:prstGeom>
          <a:noFill/>
          <a:ln/>
        </p:spPr>
        <p:txBody>
          <a:bodyPr wrap="square" lIns="0" tIns="0" rIns="0" bIns="0" rtlCol="0" anchor="ctr"/>
          <a:lstStyle/>
          <a:p>
            <a:pPr algn="r" indent="0" marL="0">
              <a:buNone/>
            </a:pPr>
            <a:r>
              <a:rPr sz="850" b="1">
                <a:solidFill>
                  <a:srgbClr val="5A6472"/>
                </a:solidFill>
              </a:rPr>
              <a:t>22</a:t>
            </a:r>
            <a:endParaRPr lang="en-US" sz="850" dirty="0"/>
          </a:p>
        </p:txBody>
      </p:sp>
      <p:pic>
        <p:nvPicPr>
          <p:cNvPr id="31" name="Picture 30" descr="javascript.png"/>
          <p:cNvPicPr>
            <a:picLocks noChangeAspect="1"/>
          </p:cNvPicPr>
          <p:nvPr/>
        </p:nvPicPr>
        <p:blipFill>
          <a:blip r:embed="rId4"/>
          <a:stretch>
            <a:fillRect/>
          </a:stretch>
        </p:blipFill>
        <p:spPr>
          <a:xfrm>
            <a:off x="7257213" y="2770632"/>
            <a:ext cx="481732" cy="481732"/>
          </a:xfrm>
          <a:prstGeom prst="rect">
            <a:avLst/>
          </a:prstGeom>
        </p:spPr>
      </p:pic>
      <p:pic>
        <p:nvPicPr>
          <p:cNvPr id="37" name="Picture 36" descr="kotlin.png"/>
          <p:cNvPicPr>
            <a:picLocks noChangeAspect="1"/>
          </p:cNvPicPr>
          <p:nvPr/>
        </p:nvPicPr>
        <p:blipFill>
          <a:blip r:embed="rId5"/>
          <a:stretch>
            <a:fillRect/>
          </a:stretch>
        </p:blipFill>
        <p:spPr>
          <a:xfrm>
            <a:off x="8537373" y="2770632"/>
            <a:ext cx="481732" cy="481732"/>
          </a:xfrm>
          <a:prstGeom prst="rect">
            <a:avLst/>
          </a:prstGeom>
        </p:spPr>
      </p:pic>
      <p:pic>
        <p:nvPicPr>
          <p:cNvPr id="43" name="Picture 42" descr="react.png"/>
          <p:cNvPicPr>
            <a:picLocks noChangeAspect="1"/>
          </p:cNvPicPr>
          <p:nvPr/>
        </p:nvPicPr>
        <p:blipFill>
          <a:blip r:embed="rId6"/>
          <a:stretch>
            <a:fillRect/>
          </a:stretch>
        </p:blipFill>
        <p:spPr>
          <a:xfrm>
            <a:off x="9817533" y="2770632"/>
            <a:ext cx="481732" cy="481732"/>
          </a:xfrm>
          <a:prstGeom prst="rect">
            <a:avLst/>
          </a:prstGeom>
        </p:spPr>
      </p:pic>
      <p:sp>
        <p:nvSpPr>
          <p:cNvPr id="44" name="TextBox 43"/>
          <p:cNvSpPr txBox="1"/>
          <p:nvPr/>
        </p:nvSpPr>
        <p:spPr>
          <a:xfrm>
            <a:off x="868680" y="1234440"/>
            <a:ext cx="7315200" cy="731520"/>
          </a:xfrm>
          <a:prstGeom prst="rect">
            <a:avLst/>
          </a:prstGeom>
          <a:noFill/>
        </p:spPr>
        <p:txBody>
          <a:bodyPr wrap="square" anchor="t">
            <a:spAutoFit/>
          </a:bodyPr>
          <a:lstStyle/>
          <a:p>
            <a:pPr algn="l"/>
            <a:r>
              <a:rPr sz="4000" b="1">
                <a:solidFill>
                  <a:srgbClr val="12161C"/>
                </a:solidFill>
                <a:latin typeface="Aptos"/>
              </a:rPr>
              <a:t>Obrigado!</a:t>
            </a:r>
          </a:p>
        </p:txBody>
      </p:sp>
      <p:sp>
        <p:nvSpPr>
          <p:cNvPr id="45" name="TextBox 44"/>
          <p:cNvSpPr txBox="1"/>
          <p:nvPr/>
        </p:nvSpPr>
        <p:spPr>
          <a:xfrm>
            <a:off x="868680" y="2057400"/>
            <a:ext cx="7863840" cy="365760"/>
          </a:xfrm>
          <a:prstGeom prst="rect">
            <a:avLst/>
          </a:prstGeom>
          <a:noFill/>
        </p:spPr>
        <p:txBody>
          <a:bodyPr wrap="square" anchor="t">
            <a:spAutoFit/>
          </a:bodyPr>
          <a:lstStyle/>
          <a:p>
            <a:pPr algn="l"/>
            <a:r>
              <a:rPr sz="1500" b="0">
                <a:solidFill>
                  <a:srgbClr val="5A6472"/>
                </a:solidFill>
                <a:latin typeface="Aptos"/>
              </a:rPr>
              <a:t>Dúvidas, comentários ou dificuldades do laboratório?</a:t>
            </a:r>
          </a:p>
        </p:txBody>
      </p:sp>
      <p:sp>
        <p:nvSpPr>
          <p:cNvPr id="46" name="Rounded Rectangle 45"/>
          <p:cNvSpPr/>
          <p:nvPr/>
        </p:nvSpPr>
        <p:spPr>
          <a:xfrm>
            <a:off x="868680" y="2788920"/>
            <a:ext cx="5120640" cy="2286000"/>
          </a:xfrm>
          <a:prstGeom prst="roundRect">
            <a:avLst>
              <a:gd name="adj" fmla="val 6000"/>
            </a:avLst>
          </a:prstGeom>
          <a:solidFill>
            <a:srgbClr val="F6F7F9"/>
          </a:solidFill>
          <a:ln w="12700">
            <a:solidFill>
              <a:srgbClr val="E3E7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43000" y="2999232"/>
            <a:ext cx="4572000" cy="274320"/>
          </a:xfrm>
          <a:prstGeom prst="rect">
            <a:avLst/>
          </a:prstGeom>
          <a:noFill/>
        </p:spPr>
        <p:txBody>
          <a:bodyPr wrap="square" anchor="t">
            <a:spAutoFit/>
          </a:bodyPr>
          <a:lstStyle/>
          <a:p>
            <a:pPr algn="l"/>
            <a:r>
              <a:rPr sz="900" b="1">
                <a:solidFill>
                  <a:srgbClr val="D71920"/>
                </a:solidFill>
                <a:latin typeface="Cascadia Mono"/>
              </a:rPr>
              <a:t>NA PRÓXIMA AULA</a:t>
            </a:r>
          </a:p>
        </p:txBody>
      </p:sp>
      <p:sp>
        <p:nvSpPr>
          <p:cNvPr id="48" name="TextBox 47"/>
          <p:cNvSpPr txBox="1"/>
          <p:nvPr/>
        </p:nvSpPr>
        <p:spPr>
          <a:xfrm>
            <a:off x="1143000" y="3337560"/>
            <a:ext cx="4572000" cy="1554480"/>
          </a:xfrm>
          <a:prstGeom prst="rect">
            <a:avLst/>
          </a:prstGeom>
          <a:noFill/>
        </p:spPr>
        <p:txBody>
          <a:bodyPr wrap="square" anchor="t">
            <a:spAutoFit/>
          </a:bodyPr>
          <a:lstStyle/>
          <a:p>
            <a:pPr algn="l"/>
            <a:r>
              <a:rPr sz="1250" b="0">
                <a:solidFill>
                  <a:srgbClr val="12161C"/>
                </a:solidFill>
                <a:latin typeface="Aptos"/>
              </a:rPr>
              <a:t>Fundamentos do ecossistema Android</a:t>
            </a:r>
          </a:p>
          <a:p>
            <a:pPr algn="l"/>
            <a:r>
              <a:rPr sz="1250" b="0">
                <a:solidFill>
                  <a:srgbClr val="12161C"/>
                </a:solidFill>
                <a:latin typeface="Aptos"/>
              </a:rPr>
              <a:t/>
            </a:r>
          </a:p>
          <a:p>
            <a:pPr algn="l"/>
            <a:r>
              <a:rPr sz="1250" b="0">
                <a:solidFill>
                  <a:srgbClr val="12161C"/>
                </a:solidFill>
                <a:latin typeface="Aptos"/>
              </a:rPr>
              <a:t>• Estrutura de um projeto</a:t>
            </a:r>
          </a:p>
          <a:p>
            <a:pPr algn="l"/>
            <a:r>
              <a:rPr sz="1250" b="0">
                <a:solidFill>
                  <a:srgbClr val="12161C"/>
                </a:solidFill>
                <a:latin typeface="Aptos"/>
              </a:rPr>
              <a:t>• Kotlin: o básico que vamos usar</a:t>
            </a:r>
          </a:p>
          <a:p>
            <a:pPr algn="l"/>
            <a:r>
              <a:rPr sz="1250" b="0">
                <a:solidFill>
                  <a:srgbClr val="12161C"/>
                </a:solidFill>
                <a:latin typeface="Aptos"/>
              </a:rPr>
              <a:t>• Primeira tela de verdade</a:t>
            </a:r>
          </a:p>
        </p:txBody>
      </p:sp>
      <p:sp>
        <p:nvSpPr>
          <p:cNvPr id="49" name="Rounded Rectangle 48"/>
          <p:cNvSpPr/>
          <p:nvPr/>
        </p:nvSpPr>
        <p:spPr>
          <a:xfrm>
            <a:off x="6263640" y="2788920"/>
            <a:ext cx="5120640" cy="2286000"/>
          </a:xfrm>
          <a:prstGeom prst="roundRect">
            <a:avLst>
              <a:gd name="adj" fmla="val 6000"/>
            </a:avLst>
          </a:prstGeom>
          <a:solidFill>
            <a:srgbClr val="FFF9E6"/>
          </a:solidFill>
          <a:ln w="12700">
            <a:solidFill>
              <a:srgbClr val="F1D77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37960" y="2999232"/>
            <a:ext cx="4572000" cy="274320"/>
          </a:xfrm>
          <a:prstGeom prst="rect">
            <a:avLst/>
          </a:prstGeom>
          <a:noFill/>
        </p:spPr>
        <p:txBody>
          <a:bodyPr wrap="square" anchor="t">
            <a:spAutoFit/>
          </a:bodyPr>
          <a:lstStyle/>
          <a:p>
            <a:pPr algn="l"/>
            <a:r>
              <a:rPr sz="900" b="1">
                <a:solidFill>
                  <a:srgbClr val="8A6D00"/>
                </a:solidFill>
                <a:latin typeface="Cascadia Mono"/>
              </a:rPr>
              <a:t>PARA PENSAR ATÉ LÁ</a:t>
            </a:r>
          </a:p>
        </p:txBody>
      </p:sp>
      <p:sp>
        <p:nvSpPr>
          <p:cNvPr id="51" name="TextBox 50"/>
          <p:cNvSpPr txBox="1"/>
          <p:nvPr/>
        </p:nvSpPr>
        <p:spPr>
          <a:xfrm>
            <a:off x="6537960" y="3337560"/>
            <a:ext cx="4572000" cy="1554480"/>
          </a:xfrm>
          <a:prstGeom prst="rect">
            <a:avLst/>
          </a:prstGeom>
          <a:noFill/>
        </p:spPr>
        <p:txBody>
          <a:bodyPr wrap="square" anchor="t">
            <a:spAutoFit/>
          </a:bodyPr>
          <a:lstStyle/>
          <a:p>
            <a:pPr algn="l"/>
            <a:r>
              <a:rPr sz="1250" b="0">
                <a:solidFill>
                  <a:srgbClr val="12161C"/>
                </a:solidFill>
                <a:latin typeface="Aptos"/>
              </a:rPr>
              <a:t>Escolha um app que você usa todo dia.</a:t>
            </a:r>
          </a:p>
          <a:p>
            <a:pPr algn="l"/>
            <a:r>
              <a:rPr sz="1250" b="0">
                <a:solidFill>
                  <a:srgbClr val="12161C"/>
                </a:solidFill>
                <a:latin typeface="Aptos"/>
              </a:rPr>
              <a:t/>
            </a:r>
          </a:p>
          <a:p>
            <a:pPr algn="l"/>
            <a:r>
              <a:rPr sz="1250" b="0">
                <a:solidFill>
                  <a:srgbClr val="12161C"/>
                </a:solidFill>
                <a:latin typeface="Aptos"/>
              </a:rPr>
              <a:t>Ele precisaria ser nativo?</a:t>
            </a:r>
          </a:p>
          <a:p>
            <a:pPr algn="l"/>
            <a:r>
              <a:rPr sz="1250" b="0">
                <a:solidFill>
                  <a:srgbClr val="12161C"/>
                </a:solidFill>
                <a:latin typeface="Aptos"/>
              </a:rPr>
              <a:t>Qual requisito faria você mudar</a:t>
            </a:r>
          </a:p>
          <a:p>
            <a:pPr algn="l"/>
            <a:r>
              <a:rPr sz="1250" b="0">
                <a:solidFill>
                  <a:srgbClr val="12161C"/>
                </a:solidFill>
                <a:latin typeface="Aptos"/>
              </a:rPr>
              <a:t>de ideia?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Escola Técnica Mesquita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Aula 01 — Introdução ao Desenvolvimento Mobile</dc:title>
  <dc:subject>Aula 01 - Desenvolvimento Mobile</dc:subject>
  <dc:creator>Emanuel Nascente</dc:creator>
  <cp:lastModifiedBy>Emanuel Nascente</cp:lastModifiedBy>
  <cp:revision>1</cp:revision>
  <dcterms:created xsi:type="dcterms:W3CDTF">2026-08-28T16:19:05Z</dcterms:created>
  <dcterms:modified xsi:type="dcterms:W3CDTF">2026-08-28T16:19:05Z</dcterms:modified>
</cp:coreProperties>
</file>