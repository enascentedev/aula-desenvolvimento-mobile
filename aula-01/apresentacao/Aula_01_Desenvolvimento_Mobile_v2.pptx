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6" r:id="rId27"/>
    <p:sldId id="263" r:id="rId9"/>
    <p:sldId id="264" r:id="rId10"/>
    <p:sldId id="265" r:id="rId11"/>
    <p:sldId id="266" r:id="rId12"/>
    <p:sldId id="277" r:id="rId28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a aula com acolhimento. Dizer que hoje não é uma aula pesada de código: o foco é entender a disciplina, conhecer a turma e ter o primeiro contato prático com ambientes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este slide para pactuar tempo: metade inicial mais conversada; metade final no laboratório. Se a apresentação dos alunos for mais rápida, avançar para a introdução ainda na primeira metade.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curta. Evitar se alongar. Mostrar disponibilidade para dúvidas e deixar claro que o foco será aprender fazendo, mas com base teórica suficiente para entender as escolhas técnicas.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Controlar o tempo com gentileza. A apresentação é importante, mas não pode consumir toda a aula. Anotar tecnologias citadas pela turma: Java, JavaScript, PHP, Python, banco, Git,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aprofundar cada item. Mostrar a jornada geral para reduzir ansiedade e criar mapa mental do semestre. Reforçar que a primeira aula começa pelo primeiro tópico da ementa.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Fazer a pergunta e ouvir respostas antes de conceituar. Não tratar como pegadinha: o objetivo é mostrar que existem diferentes formas de entregar software no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deve conectar com conhecimento prévio de web. Os alunos provavelmente já conhecem navegador, HTML/CSS/JS e servidor. Mostrar que mobile tem outra camada: instalação, sistema operacional e recursos do aparelho.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Exemplos simples. Perguntar quais desses recursos os aplicativos que eles usam acessam. Não entrar em permissões ainda; apenas introduzir a ideia.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que nativo não significa “melhor sempre”. Significa que o app é feito com ferramentas e linguagem próprias daquele ecossistema. Para a disciplina, o foco prático principal tende a ser Android.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que a ementa usa o termo híbrido e cita React Native e Flutter. Neste momento, manter linguagem simples: uma solução permite compartilhar parte do desenvolvimento. Depois podemos explicar as diferenças técnicas entre híbrido, cross-platform e native bridge.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a tabela de forma rápida. O ponto central é decisão técnica orientada a contexto: equipe, prazo, orçamento, recursos do dispositivo e público-alvo.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Pode ser feito rapidamente em duplas. Serve para consolidar a diferença antes do intervalo. O professor não precisa corrigir como certo/errado; deve explorar argumentos.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Intervalo. Na volta, abrir rapidamente os ambientes. Se houver atraso nas apresentações, este slide marca a transição para a parte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 que o objetivo é contato inicial e comparação. Se algum computador apresentar problema, formar duplas ou usar demonstração projetada.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é também um aviso para preparação do laboratório. Se algo não estiver instalado, priorizar demonstração coletiva e deixar a instalação detalhada para um material de apoio.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explicar toda a classe. Apenas mostrar que a aplicação nativa tem estrutura própria do Android e usa Kotlin. Se o template vier diferente, adaptar ao ambiente instalado.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Expo é uma forma didática para a primeira aula, porque reduz a complexidade inicial. Explicar que Flutter também será mencionado na disciplina, mas não é necessário instalar tudo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principal fechamento conceitual da prática. O aluno precisa sair entendendo que o “app final” pode parecer igual, mas a tecnologia, fluxo de desenvolvimento e manutenção são diferentes.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Pode ser feito em papel, formulário ou discussão rápida. Guardar as respostas, pois ajudarão a ajustar a aula 2 e o ritmo da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Encerrar retomando a pergunta da aula: existem diferentes formas de entregar software no celular. Na próxima aula começamos a avançar na base técnica.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1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-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-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0"/>
            <a:ext cx="34747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47472" y="0"/>
            <a:ext cx="14630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pic>
        <p:nvPicPr>
          <p:cNvPr id="6" name="Image 0" descr="/mnt/data/logo_mesquita_sty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438912"/>
            <a:ext cx="2240280" cy="1554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109728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800" b="1" dirty="0">
                <a:solidFill>
                  <a:srgbClr val="1216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Desenvolvimento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1216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Mobile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804672" y="278892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6472"/>
                </a:solidFill>
              </a:rPr>
              <a:t>Aula 01 — Introdução, apresentação da turma e primeiro laboratório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5394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71920"/>
                </a:solidFill>
              </a:rPr>
              <a:t>Professor: Emanuel Nascente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4672" y="57607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</a:rPr>
              <a:t>Curso Técnico em Informática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8" name="Text 24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01</a:t>
            </a:r>
            <a:endParaRPr lang="en-US" sz="850" dirty="0"/>
          </a:p>
        </p:txBody>
      </p:sp>
      <p:sp>
        <p:nvSpPr>
          <p:cNvPr id="30" name="Rounded Rectangle 29"/>
          <p:cNvSpPr/>
          <p:nvPr/>
        </p:nvSpPr>
        <p:spPr>
          <a:xfrm>
            <a:off x="7591193" y="2423160"/>
            <a:ext cx="1048214" cy="2148840"/>
          </a:xfrm>
          <a:prstGeom prst="roundRect">
            <a:avLst>
              <a:gd name="adj" fmla="val 14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643603" y="2475570"/>
            <a:ext cx="943394" cy="2044020"/>
          </a:xfrm>
          <a:prstGeom prst="roundRect">
            <a:avLst>
              <a:gd name="adj" fmla="val 11000"/>
            </a:avLst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958068" y="2512146"/>
            <a:ext cx="314464" cy="64008"/>
          </a:xfrm>
          <a:prstGeom prst="roundRect">
            <a:avLst>
              <a:gd name="adj" fmla="val 50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javascri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729" y="3024835"/>
            <a:ext cx="503142" cy="50314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499753" y="3647998"/>
            <a:ext cx="1231094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WEB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9753" y="3927348"/>
            <a:ext cx="123109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9AA4B2"/>
                </a:solidFill>
                <a:latin typeface="Cascadia Mono"/>
              </a:rPr>
              <a:t>Browser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26801" y="2423160"/>
            <a:ext cx="1048214" cy="2148840"/>
          </a:xfrm>
          <a:prstGeom prst="roundRect">
            <a:avLst>
              <a:gd name="adj" fmla="val 14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079211" y="2475570"/>
            <a:ext cx="943394" cy="2044020"/>
          </a:xfrm>
          <a:prstGeom prst="roundRect">
            <a:avLst>
              <a:gd name="adj" fmla="val 11000"/>
            </a:avLst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393676" y="2512146"/>
            <a:ext cx="314464" cy="64008"/>
          </a:xfrm>
          <a:prstGeom prst="roundRect">
            <a:avLst>
              <a:gd name="adj" fmla="val 50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kotl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9337" y="3024835"/>
            <a:ext cx="503142" cy="50314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935361" y="3647998"/>
            <a:ext cx="1231094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NATIVO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5361" y="3927348"/>
            <a:ext cx="123109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9AA4B2"/>
                </a:solidFill>
                <a:latin typeface="Cascadia Mono"/>
              </a:rPr>
              <a:t>Android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53265" y="2423160"/>
            <a:ext cx="1048214" cy="2148840"/>
          </a:xfrm>
          <a:prstGeom prst="roundRect">
            <a:avLst>
              <a:gd name="adj" fmla="val 14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505675" y="2475570"/>
            <a:ext cx="943394" cy="2044020"/>
          </a:xfrm>
          <a:prstGeom prst="roundRect">
            <a:avLst>
              <a:gd name="adj" fmla="val 11000"/>
            </a:avLst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820140" y="2512146"/>
            <a:ext cx="314464" cy="64008"/>
          </a:xfrm>
          <a:prstGeom prst="roundRect">
            <a:avLst>
              <a:gd name="adj" fmla="val 50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reac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5801" y="3024835"/>
            <a:ext cx="503142" cy="50314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361825" y="3647998"/>
            <a:ext cx="1231094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HÍBRIDO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1825" y="3927348"/>
            <a:ext cx="123109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9AA4B2"/>
                </a:solidFill>
                <a:latin typeface="Cascadia Mono"/>
              </a:rPr>
              <a:t>Multi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38912" y="210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Aula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788920" y="210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</a:rPr>
              <a:t>Desenvolvimento Mobile</a:t>
            </a:r>
            <a:endParaRPr lang="en-US" sz="950" dirty="0"/>
          </a:p>
        </p:txBody>
      </p:sp>
      <p:pic>
        <p:nvPicPr>
          <p:cNvPr id="6" name="Image 0" descr="/mnt/data/logo_mesquita_sty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128016"/>
            <a:ext cx="987552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7498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16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Plano da primeira aula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30352" y="1325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2"/>
                </a:solidFill>
              </a:rPr>
              <a:t>4 horas: apresentação, visão geral e laboratório inicial.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22960" y="1847088"/>
            <a:ext cx="310896" cy="310896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822960" y="1915668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353312" y="183794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61C"/>
                </a:solidFill>
              </a:rPr>
              <a:t>Apresentação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794760" y="1856232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</a:rPr>
              <a:t>Professor, alunos e expectativas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2960" y="2560320"/>
            <a:ext cx="310896" cy="310896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22960" y="2628900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53312" y="255117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61C"/>
                </a:solidFill>
              </a:rPr>
              <a:t>Disciplina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794760" y="2569464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</a:rPr>
              <a:t>O que vamos estudar no semestre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3273552"/>
            <a:ext cx="310896" cy="310896"/>
          </a:xfrm>
          <a:prstGeom prst="ellipse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22960" y="3342132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161C"/>
                </a:solidFill>
              </a:rPr>
              <a:t>3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353312" y="32644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61C"/>
                </a:solidFill>
              </a:rPr>
              <a:t>Web × Mobile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3794760" y="3282696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</a:rPr>
              <a:t>Diferenças essenciais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22960" y="3986784"/>
            <a:ext cx="310896" cy="310896"/>
          </a:xfrm>
          <a:prstGeom prst="ellipse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822960" y="4055364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161C"/>
                </a:solidFill>
              </a:rPr>
              <a:t>4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353312" y="39776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61C"/>
                </a:solidFill>
              </a:rPr>
              <a:t>Nativo × Híbrido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3794760" y="399592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</a:rPr>
              <a:t>Como um app pode ser construído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22960" y="4700016"/>
            <a:ext cx="310896" cy="310896"/>
          </a:xfrm>
          <a:prstGeom prst="ellipse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822960" y="4768596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161C"/>
                </a:solidFill>
              </a:rPr>
              <a:t>5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353312" y="4690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61C"/>
                </a:solidFill>
              </a:rPr>
              <a:t>Laboratório 01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3794760" y="47091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</a:rPr>
              <a:t>Primeiro contato com Android Studio e Expo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9372600" y="1828800"/>
            <a:ext cx="2057400" cy="3108960"/>
          </a:xfrm>
          <a:prstGeom prst="roundRect">
            <a:avLst>
              <a:gd name="adj" fmla="val 7111"/>
            </a:avLst>
          </a:prstGeom>
          <a:solidFill>
            <a:srgbClr val="F7F7F5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9646920" y="20848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71920"/>
                </a:solidFill>
              </a:rPr>
              <a:t>Meta do encontro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9646920" y="2651760"/>
            <a:ext cx="1554480" cy="1280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2161C"/>
                </a:solidFill>
              </a:rPr>
              <a:t>Sair sabendo explicar, em linguagem simples, a diferença entre aplicação web, mobile nativa e híbrida/multiplataforma.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34" name="Text 30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38912" y="210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Aula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788920" y="210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</a:rPr>
              <a:t>Desenvolvimento Mobile</a:t>
            </a:r>
            <a:endParaRPr lang="en-US" sz="950" dirty="0"/>
          </a:p>
        </p:txBody>
      </p:sp>
      <p:pic>
        <p:nvPicPr>
          <p:cNvPr id="6" name="Image 0" descr="/mnt/data/logo_mesquita_sty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128016"/>
            <a:ext cx="987552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7498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16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Apresentação do professor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30352" y="1325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2"/>
                </a:solidFill>
              </a:rPr>
              <a:t>Criar proximidade e explicar como a disciplina será conduzida.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77240" y="1975104"/>
            <a:ext cx="91440" cy="91440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978408" y="190195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2161C"/>
                </a:solidFill>
              </a:rPr>
              <a:t>Quem sou eu e minha experiência com desenvolvimento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77240" y="2505456"/>
            <a:ext cx="91440" cy="91440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978408" y="2432304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2161C"/>
                </a:solidFill>
              </a:rPr>
              <a:t>Como serão as aulas: conceito → demonstração → prática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77240" y="3035808"/>
            <a:ext cx="91440" cy="91440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78408" y="2962656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2161C"/>
                </a:solidFill>
              </a:rPr>
              <a:t>O que espero da turma: participação, dúvidas e prática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77240" y="3566160"/>
            <a:ext cx="91440" cy="91440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978408" y="349300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2161C"/>
                </a:solidFill>
              </a:rPr>
              <a:t>Como vamos conectar programação com aplicativos reais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275320" y="1600200"/>
            <a:ext cx="2971800" cy="2880360"/>
          </a:xfrm>
          <a:prstGeom prst="roundRect">
            <a:avLst>
              <a:gd name="adj" fmla="val 5714"/>
            </a:avLst>
          </a:prstGeom>
          <a:solidFill>
            <a:srgbClr val="FFF9E6"/>
          </a:solidFill>
          <a:ln w="12700">
            <a:solidFill>
              <a:srgbClr val="F0D36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54964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161C"/>
                </a:solidFill>
              </a:rPr>
              <a:t>Emanuel Nascente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549640" y="2532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2"/>
                </a:solidFill>
              </a:rPr>
              <a:t>Professor de Desenvolvimento Mobile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41080" y="3154680"/>
            <a:ext cx="219456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2161C"/>
                </a:solidFill>
              </a:rPr>
              <a:t>Aulas com foco em entendimento, exemplos práticos e construção gradual de conhecimento.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24" name="Text 20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38912" y="210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Aula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788920" y="210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</a:rPr>
              <a:t>Desenvolvimento Mobile</a:t>
            </a:r>
            <a:endParaRPr lang="en-US" sz="950" dirty="0"/>
          </a:p>
        </p:txBody>
      </p:sp>
      <p:pic>
        <p:nvPicPr>
          <p:cNvPr id="6" name="Image 0" descr="/mnt/data/logo_mesquita_sty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128016"/>
            <a:ext cx="987552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7498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16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Apresentação dos alunos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30352" y="1325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2"/>
                </a:solidFill>
              </a:rPr>
              <a:t>A turma já está no 3º módulo: vamos entender o ponto de partida real.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77240" y="17830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61C"/>
                </a:solidFill>
              </a:rPr>
              <a:t>Cada aluno responde em até 1 minuto: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68680" y="2304288"/>
            <a:ext cx="320040" cy="320040"/>
          </a:xfrm>
          <a:prstGeom prst="roundRect">
            <a:avLst>
              <a:gd name="adj" fmla="val 22857"/>
            </a:avLst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868680" y="2372868"/>
            <a:ext cx="320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353312" y="2331720"/>
            <a:ext cx="5669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2161C"/>
                </a:solidFill>
              </a:rPr>
              <a:t>Nome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868680" y="2807208"/>
            <a:ext cx="320040" cy="320040"/>
          </a:xfrm>
          <a:prstGeom prst="roundRect">
            <a:avLst>
              <a:gd name="adj" fmla="val 22857"/>
            </a:avLst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68680" y="2875788"/>
            <a:ext cx="320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53312" y="2834640"/>
            <a:ext cx="5669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2161C"/>
                </a:solidFill>
              </a:rPr>
              <a:t>O que já estudou/programou no curso?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868680" y="3310128"/>
            <a:ext cx="320040" cy="320040"/>
          </a:xfrm>
          <a:prstGeom prst="roundRect">
            <a:avLst>
              <a:gd name="adj" fmla="val 22857"/>
            </a:avLst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868680" y="3378708"/>
            <a:ext cx="320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353312" y="3337560"/>
            <a:ext cx="5669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2161C"/>
                </a:solidFill>
              </a:rPr>
              <a:t>Qual linguagem ou tecnologia mais gostou?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868680" y="3813048"/>
            <a:ext cx="320040" cy="320040"/>
          </a:xfrm>
          <a:prstGeom prst="roundRect">
            <a:avLst>
              <a:gd name="adj" fmla="val 22857"/>
            </a:avLst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868680" y="3881628"/>
            <a:ext cx="320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353312" y="3840480"/>
            <a:ext cx="5669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2161C"/>
                </a:solidFill>
              </a:rPr>
              <a:t>Já tentou criar algum app?</a:t>
            </a:r>
            <a:endParaRPr lang="en-US" sz="1550" dirty="0"/>
          </a:p>
        </p:txBody>
      </p:sp>
      <p:sp>
        <p:nvSpPr>
          <p:cNvPr id="22" name="Shape 19"/>
          <p:cNvSpPr/>
          <p:nvPr/>
        </p:nvSpPr>
        <p:spPr>
          <a:xfrm>
            <a:off x="868680" y="4315968"/>
            <a:ext cx="320040" cy="320040"/>
          </a:xfrm>
          <a:prstGeom prst="roundRect">
            <a:avLst>
              <a:gd name="adj" fmla="val 22857"/>
            </a:avLst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868680" y="4384548"/>
            <a:ext cx="320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353312" y="4343400"/>
            <a:ext cx="5669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2161C"/>
                </a:solidFill>
              </a:rPr>
              <a:t>O que espera aprender nesta disciplina?</a:t>
            </a:r>
            <a:endParaRPr lang="en-US" sz="1550" dirty="0"/>
          </a:p>
        </p:txBody>
      </p:sp>
      <p:sp>
        <p:nvSpPr>
          <p:cNvPr id="25" name="Shape 22"/>
          <p:cNvSpPr/>
          <p:nvPr/>
        </p:nvSpPr>
        <p:spPr>
          <a:xfrm>
            <a:off x="7955280" y="2011680"/>
            <a:ext cx="3154680" cy="2651760"/>
          </a:xfrm>
          <a:prstGeom prst="roundRect">
            <a:avLst>
              <a:gd name="adj" fmla="val 6207"/>
            </a:avLst>
          </a:prstGeom>
          <a:solidFill>
            <a:srgbClr val="F7F7F5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827532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71920"/>
                </a:solidFill>
              </a:rPr>
              <a:t>Regra de tempo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8302752" y="2880360"/>
            <a:ext cx="24505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2161C"/>
                </a:solidFill>
              </a:rPr>
              <a:t>25 alunos × 1 minuto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2161C"/>
                </a:solidFill>
              </a:rPr>
              <a:t>≈ 25 minutos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2161C"/>
                </a:solidFill>
              </a:rPr>
              <a:t>Se passar disso, reduzimos as respostas abertas.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30" name="Text 26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38912" y="210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Aula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788920" y="210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</a:rPr>
              <a:t>Desenvolvimento Mobile</a:t>
            </a:r>
            <a:endParaRPr lang="en-US" sz="950" dirty="0"/>
          </a:p>
        </p:txBody>
      </p:sp>
      <p:pic>
        <p:nvPicPr>
          <p:cNvPr id="6" name="Image 0" descr="/mnt/data/logo_mesquita_sty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128016"/>
            <a:ext cx="987552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7498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16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que vamos aprender no semestre?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30352" y="1325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2"/>
                </a:solidFill>
              </a:rPr>
              <a:t>A disciplina acompanha o ciclo de criação de um aplicativo.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77240" y="1847088"/>
            <a:ext cx="2240280" cy="1051560"/>
          </a:xfrm>
          <a:prstGeom prst="roundRect">
            <a:avLst>
              <a:gd name="adj" fmla="val 10435"/>
            </a:avLst>
          </a:prstGeom>
          <a:solidFill>
            <a:srgbClr val="FFF5F5"/>
          </a:solidFill>
          <a:ln w="1905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941832" y="202996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71920"/>
                </a:solidFill>
              </a:rPr>
              <a:t>Introdução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941832" y="235000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5A6472"/>
                </a:solidFill>
              </a:rPr>
              <a:t>Mobile, web, nativo e híbrido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3538728" y="1847088"/>
            <a:ext cx="22402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3703320" y="202996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61C"/>
                </a:solidFill>
              </a:rPr>
              <a:t>Kotlin / Java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3703320" y="235000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5A6472"/>
                </a:solidFill>
              </a:rPr>
              <a:t>Linguagens no Android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6300216" y="1847088"/>
            <a:ext cx="22402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64808" y="202996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61C"/>
                </a:solidFill>
              </a:rPr>
              <a:t>Android nativo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64808" y="235000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5A6472"/>
                </a:solidFill>
              </a:rPr>
              <a:t>Telas, navegação e recursos</a:t>
            </a:r>
            <a:endParaRPr lang="en-US" sz="1080" dirty="0"/>
          </a:p>
        </p:txBody>
      </p:sp>
      <p:sp>
        <p:nvSpPr>
          <p:cNvPr id="18" name="Shape 15"/>
          <p:cNvSpPr/>
          <p:nvPr/>
        </p:nvSpPr>
        <p:spPr>
          <a:xfrm>
            <a:off x="9061704" y="1847088"/>
            <a:ext cx="22402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9226296" y="202996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61C"/>
                </a:solidFill>
              </a:rPr>
              <a:t>React Native / Flutter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9226296" y="235000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5A6472"/>
                </a:solidFill>
              </a:rPr>
              <a:t>Visão de desenvolvimento híbrido</a:t>
            </a:r>
            <a:endParaRPr lang="en-US" sz="1080" dirty="0"/>
          </a:p>
        </p:txBody>
      </p:sp>
      <p:sp>
        <p:nvSpPr>
          <p:cNvPr id="21" name="Shape 18"/>
          <p:cNvSpPr/>
          <p:nvPr/>
        </p:nvSpPr>
        <p:spPr>
          <a:xfrm>
            <a:off x="777240" y="3767328"/>
            <a:ext cx="22402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941832" y="39502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61C"/>
                </a:solidFill>
              </a:rPr>
              <a:t>UX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941832" y="42702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5A6472"/>
                </a:solidFill>
              </a:rPr>
              <a:t>Experiência e design mobile</a:t>
            </a:r>
            <a:endParaRPr lang="en-US" sz="1080" dirty="0"/>
          </a:p>
        </p:txBody>
      </p:sp>
      <p:sp>
        <p:nvSpPr>
          <p:cNvPr id="24" name="Shape 21"/>
          <p:cNvSpPr/>
          <p:nvPr/>
        </p:nvSpPr>
        <p:spPr>
          <a:xfrm>
            <a:off x="3538728" y="3767328"/>
            <a:ext cx="22402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3703320" y="39502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61C"/>
                </a:solidFill>
              </a:rPr>
              <a:t>Testes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3703320" y="42702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5A6472"/>
                </a:solidFill>
              </a:rPr>
              <a:t>Depuração e qualidade</a:t>
            </a:r>
            <a:endParaRPr lang="en-US" sz="1080" dirty="0"/>
          </a:p>
        </p:txBody>
      </p:sp>
      <p:sp>
        <p:nvSpPr>
          <p:cNvPr id="27" name="Shape 24"/>
          <p:cNvSpPr/>
          <p:nvPr/>
        </p:nvSpPr>
        <p:spPr>
          <a:xfrm>
            <a:off x="6300216" y="3767328"/>
            <a:ext cx="22402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6464808" y="39502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61C"/>
                </a:solidFill>
              </a:rPr>
              <a:t>Publicação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464808" y="42702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5A6472"/>
                </a:solidFill>
              </a:rPr>
              <a:t>Preparação para loja Google</a:t>
            </a:r>
            <a:endParaRPr lang="en-US" sz="1080" dirty="0"/>
          </a:p>
        </p:txBody>
      </p:sp>
      <p:sp>
        <p:nvSpPr>
          <p:cNvPr id="31" name="Shape 27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32" name="Text 28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38912" y="210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Aula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788920" y="210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</a:rPr>
              <a:t>Desenvolvimento Mobile</a:t>
            </a:r>
            <a:endParaRPr lang="en-US" sz="950" dirty="0"/>
          </a:p>
        </p:txBody>
      </p:sp>
      <p:pic>
        <p:nvPicPr>
          <p:cNvPr id="6" name="Image 0" descr="/mnt/data/logo_mesquita_sty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128016"/>
            <a:ext cx="987552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7498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16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Pergunta de partida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30352" y="1325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2"/>
                </a:solidFill>
              </a:rPr>
              <a:t>Antes de falar de tecnologia, precisamos pensar no produto.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68680" y="1828800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2161C"/>
                </a:solidFill>
              </a:rPr>
              <a:t>Um site aberto no celular é um aplicativo mobile?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914400" y="28803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71920"/>
                </a:solidFill>
              </a:rPr>
              <a:t>Discussão rápida: sim, não ou depende?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14400" y="4343400"/>
            <a:ext cx="9966960" cy="914400"/>
          </a:xfrm>
          <a:prstGeom prst="roundRect">
            <a:avLst>
              <a:gd name="adj" fmla="val 14000"/>
            </a:avLst>
          </a:prstGeom>
          <a:solidFill>
            <a:srgbClr val="F7F7F5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1234440" y="4617720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12161C"/>
                </a:solidFill>
              </a:rPr>
              <a:t>A resposta abre a diferença entre acesso pelo navegador, aplicativo instalado e integração com recursos do dispositivo.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06</a:t>
            </a:r>
            <a:endParaRPr lang="en-US" sz="850" dirty="0"/>
          </a:p>
        </p:txBody>
      </p:sp>
      <p:sp>
        <p:nvSpPr>
          <p:cNvPr id="27" name="Rounded Rectangle 26"/>
          <p:cNvSpPr/>
          <p:nvPr/>
        </p:nvSpPr>
        <p:spPr>
          <a:xfrm>
            <a:off x="8414710" y="1691640"/>
            <a:ext cx="1092819" cy="2240280"/>
          </a:xfrm>
          <a:prstGeom prst="roundRect">
            <a:avLst>
              <a:gd name="adj" fmla="val 14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469350" y="1746280"/>
            <a:ext cx="983539" cy="2131000"/>
          </a:xfrm>
          <a:prstGeom prst="roundRect">
            <a:avLst>
              <a:gd name="adj" fmla="val 11000"/>
            </a:avLst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797197" y="1782856"/>
            <a:ext cx="327845" cy="64008"/>
          </a:xfrm>
          <a:prstGeom prst="roundRect">
            <a:avLst>
              <a:gd name="adj" fmla="val 50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javascri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8843" y="2318918"/>
            <a:ext cx="524553" cy="52455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323270" y="2968599"/>
            <a:ext cx="1275699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SITE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3270" y="3259836"/>
            <a:ext cx="127569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9AA4B2"/>
                </a:solidFill>
                <a:latin typeface="Cascadia Mono"/>
              </a:rPr>
              <a:t>Browser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60630" y="1691640"/>
            <a:ext cx="1092819" cy="2240280"/>
          </a:xfrm>
          <a:prstGeom prst="roundRect">
            <a:avLst>
              <a:gd name="adj" fmla="val 14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115270" y="1746280"/>
            <a:ext cx="983539" cy="2131000"/>
          </a:xfrm>
          <a:prstGeom prst="roundRect">
            <a:avLst>
              <a:gd name="adj" fmla="val 11000"/>
            </a:avLst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443117" y="1782856"/>
            <a:ext cx="327845" cy="64008"/>
          </a:xfrm>
          <a:prstGeom prst="roundRect">
            <a:avLst>
              <a:gd name="adj" fmla="val 50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ndro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4763" y="2318918"/>
            <a:ext cx="524553" cy="52455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969190" y="2968599"/>
            <a:ext cx="1275699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APP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9190" y="3259836"/>
            <a:ext cx="127569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9AA4B2"/>
                </a:solidFill>
                <a:latin typeface="Cascadia Mono"/>
              </a:rPr>
              <a:t>Instalado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38912" y="210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Aula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788920" y="210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</a:rPr>
              <a:t>Desenvolvimento Mobile</a:t>
            </a:r>
            <a:endParaRPr lang="en-US" sz="950" dirty="0"/>
          </a:p>
        </p:txBody>
      </p:sp>
      <p:pic>
        <p:nvPicPr>
          <p:cNvPr id="6" name="Image 0" descr="/mnt/data/logo_mesquita_sty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128016"/>
            <a:ext cx="987552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7498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16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Aplicação Web × Aplicação Mobile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30352" y="1325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2"/>
                </a:solidFill>
              </a:rPr>
              <a:t>Diferença principal: onde roda e como chega até o usuário.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1920240" y="2743200"/>
            <a:ext cx="1097280" cy="0"/>
          </a:xfrm>
          <a:prstGeom prst="line">
            <a:avLst/>
          </a:prstGeom>
          <a:noFill/>
          <a:ln w="25400">
            <a:solidFill>
              <a:srgbClr val="D7192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303520" y="2743200"/>
            <a:ext cx="1097280" cy="0"/>
          </a:xfrm>
          <a:prstGeom prst="line">
            <a:avLst/>
          </a:prstGeom>
          <a:noFill/>
          <a:ln w="25400">
            <a:solidFill>
              <a:srgbClr val="D7192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8686800" y="2743200"/>
            <a:ext cx="1097280" cy="0"/>
          </a:xfrm>
          <a:prstGeom prst="line">
            <a:avLst/>
          </a:prstGeom>
          <a:noFill/>
          <a:ln w="25400">
            <a:solidFill>
              <a:srgbClr val="D71920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731520" y="2011680"/>
            <a:ext cx="1554480" cy="1463040"/>
          </a:xfrm>
          <a:prstGeom prst="roundRect">
            <a:avLst>
              <a:gd name="adj" fmla="val 7500"/>
            </a:avLst>
          </a:prstGeom>
          <a:solidFill>
            <a:srgbClr val="FFF7D6"/>
          </a:solidFill>
          <a:ln w="12700">
            <a:solidFill>
              <a:srgbClr val="F3D552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868680" y="257860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Usuário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108960" y="2011680"/>
            <a:ext cx="18288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337560" y="243230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Navegador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3337560" y="27614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</a:rPr>
              <a:t>Chrome / Safari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92240" y="2011680"/>
            <a:ext cx="18288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720840" y="243230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Web App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675120" y="2761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</a:rPr>
              <a:t>HTML / CSS / JS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875520" y="2011680"/>
            <a:ext cx="164592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0058400" y="243230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Servidor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10058400" y="276148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</a:rPr>
              <a:t>API / dados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91440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161C"/>
                </a:solidFill>
              </a:rPr>
              <a:t>WEB: geralmente acessada por URL e executada no navegador.</a:t>
            </a:r>
            <a:endParaRPr lang="en-US" sz="1550" dirty="0"/>
          </a:p>
        </p:txBody>
      </p:sp>
      <p:sp>
        <p:nvSpPr>
          <p:cNvPr id="24" name="Text 21"/>
          <p:cNvSpPr/>
          <p:nvPr/>
        </p:nvSpPr>
        <p:spPr>
          <a:xfrm>
            <a:off x="914400" y="46908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161C"/>
                </a:solidFill>
              </a:rPr>
              <a:t>MOBILE: geralmente instalada no dispositivo e integrada ao sistema operacional.</a:t>
            </a:r>
            <a:endParaRPr lang="en-US" sz="1550" dirty="0"/>
          </a:p>
        </p:txBody>
      </p:sp>
      <p:sp>
        <p:nvSpPr>
          <p:cNvPr id="26" name="Shape 22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7" name="Text 23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28" name="Text 24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38912" y="210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Aula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788920" y="210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</a:rPr>
              <a:t>Desenvolvimento Mobile</a:t>
            </a:r>
            <a:endParaRPr lang="en-US" sz="950" dirty="0"/>
          </a:p>
        </p:txBody>
      </p:sp>
      <p:pic>
        <p:nvPicPr>
          <p:cNvPr id="6" name="Image 0" descr="/mnt/data/logo_mesquita_sty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128016"/>
            <a:ext cx="987552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7498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16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Recursos que tornam o mobile diferente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30352" y="1325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2"/>
                </a:solidFill>
              </a:rPr>
              <a:t>Um aplicativo pode conversar diretamente com o aparelho.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914400" y="1874520"/>
            <a:ext cx="1508760" cy="2834640"/>
          </a:xfrm>
          <a:prstGeom prst="roundRect">
            <a:avLst>
              <a:gd name="adj" fmla="val 13333"/>
            </a:avLst>
          </a:prstGeom>
          <a:solidFill>
            <a:srgbClr val="12161C"/>
          </a:solidFill>
          <a:ln w="12700">
            <a:solidFill>
              <a:srgbClr val="1F1F1F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457554" y="1947672"/>
            <a:ext cx="422453" cy="45720"/>
          </a:xfrm>
          <a:prstGeom prst="roundRect">
            <a:avLst>
              <a:gd name="adj" fmla="val 40000"/>
            </a:avLst>
          </a:prstGeom>
          <a:solidFill>
            <a:srgbClr val="5A6472"/>
          </a:solidFill>
          <a:ln w="12700">
            <a:solidFill>
              <a:srgbClr val="666666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3749040" y="1691640"/>
            <a:ext cx="1508760" cy="640080"/>
          </a:xfrm>
          <a:prstGeom prst="roundRect">
            <a:avLst>
              <a:gd name="adj" fmla="val 22857"/>
            </a:avLst>
          </a:prstGeom>
          <a:solidFill>
            <a:srgbClr val="FFF5F5"/>
          </a:solidFill>
          <a:ln w="12700">
            <a:solidFill>
              <a:srgbClr val="F2BBBB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794760" y="19110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161C"/>
                </a:solidFill>
              </a:rPr>
              <a:t>Câmera</a:t>
            </a:r>
            <a:endParaRPr lang="en-US" sz="1320" dirty="0"/>
          </a:p>
        </p:txBody>
      </p:sp>
      <p:sp>
        <p:nvSpPr>
          <p:cNvPr id="16" name="Shape 13"/>
          <p:cNvSpPr/>
          <p:nvPr/>
        </p:nvSpPr>
        <p:spPr>
          <a:xfrm>
            <a:off x="5760720" y="1691640"/>
            <a:ext cx="1508760" cy="640080"/>
          </a:xfrm>
          <a:prstGeom prst="roundRect">
            <a:avLst>
              <a:gd name="adj" fmla="val 22857"/>
            </a:avLst>
          </a:prstGeom>
          <a:solidFill>
            <a:srgbClr val="FFF9E6"/>
          </a:solidFill>
          <a:ln w="12700">
            <a:solidFill>
              <a:srgbClr val="F1D777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5806440" y="19110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161C"/>
                </a:solidFill>
              </a:rPr>
              <a:t>GPS</a:t>
            </a:r>
            <a:endParaRPr lang="en-US" sz="1320" dirty="0"/>
          </a:p>
        </p:txBody>
      </p:sp>
      <p:sp>
        <p:nvSpPr>
          <p:cNvPr id="18" name="Shape 15"/>
          <p:cNvSpPr/>
          <p:nvPr/>
        </p:nvSpPr>
        <p:spPr>
          <a:xfrm>
            <a:off x="7772400" y="1691640"/>
            <a:ext cx="1508760" cy="640080"/>
          </a:xfrm>
          <a:prstGeom prst="roundRect">
            <a:avLst>
              <a:gd name="adj" fmla="val 22857"/>
            </a:avLst>
          </a:prstGeom>
          <a:solidFill>
            <a:srgbClr val="FFF5F5"/>
          </a:solidFill>
          <a:ln w="12700">
            <a:solidFill>
              <a:srgbClr val="F2BBBB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7818120" y="19110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161C"/>
                </a:solidFill>
              </a:rPr>
              <a:t>Notificações</a:t>
            </a:r>
            <a:endParaRPr lang="en-US" sz="1320" dirty="0"/>
          </a:p>
        </p:txBody>
      </p:sp>
      <p:sp>
        <p:nvSpPr>
          <p:cNvPr id="20" name="Shape 17"/>
          <p:cNvSpPr/>
          <p:nvPr/>
        </p:nvSpPr>
        <p:spPr>
          <a:xfrm>
            <a:off x="3749040" y="3063240"/>
            <a:ext cx="1508760" cy="640080"/>
          </a:xfrm>
          <a:prstGeom prst="roundRect">
            <a:avLst>
              <a:gd name="adj" fmla="val 22857"/>
            </a:avLst>
          </a:prstGeom>
          <a:solidFill>
            <a:srgbClr val="FFF9E6"/>
          </a:solidFill>
          <a:ln w="12700">
            <a:solidFill>
              <a:srgbClr val="F1D777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3794760" y="32826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161C"/>
                </a:solidFill>
              </a:rPr>
              <a:t>Biometria</a:t>
            </a:r>
            <a:endParaRPr lang="en-US" sz="1320" dirty="0"/>
          </a:p>
        </p:txBody>
      </p:sp>
      <p:sp>
        <p:nvSpPr>
          <p:cNvPr id="22" name="Shape 19"/>
          <p:cNvSpPr/>
          <p:nvPr/>
        </p:nvSpPr>
        <p:spPr>
          <a:xfrm>
            <a:off x="5760720" y="3063240"/>
            <a:ext cx="1508760" cy="640080"/>
          </a:xfrm>
          <a:prstGeom prst="roundRect">
            <a:avLst>
              <a:gd name="adj" fmla="val 22857"/>
            </a:avLst>
          </a:prstGeom>
          <a:solidFill>
            <a:srgbClr val="FFF5F5"/>
          </a:solidFill>
          <a:ln w="12700">
            <a:solidFill>
              <a:srgbClr val="F2BBBB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5806440" y="32826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161C"/>
                </a:solidFill>
              </a:rPr>
              <a:t>Bluetooth</a:t>
            </a:r>
            <a:endParaRPr lang="en-US" sz="1320" dirty="0"/>
          </a:p>
        </p:txBody>
      </p:sp>
      <p:sp>
        <p:nvSpPr>
          <p:cNvPr id="24" name="Shape 21"/>
          <p:cNvSpPr/>
          <p:nvPr/>
        </p:nvSpPr>
        <p:spPr>
          <a:xfrm>
            <a:off x="7772400" y="3063240"/>
            <a:ext cx="1508760" cy="640080"/>
          </a:xfrm>
          <a:prstGeom prst="roundRect">
            <a:avLst>
              <a:gd name="adj" fmla="val 22857"/>
            </a:avLst>
          </a:prstGeom>
          <a:solidFill>
            <a:srgbClr val="FFF9E6"/>
          </a:solidFill>
          <a:ln w="12700">
            <a:solidFill>
              <a:srgbClr val="F1D777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7818120" y="32826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161C"/>
                </a:solidFill>
              </a:rPr>
              <a:t>Armazenamento</a:t>
            </a:r>
            <a:endParaRPr lang="en-US" sz="1320" dirty="0"/>
          </a:p>
        </p:txBody>
      </p:sp>
      <p:sp>
        <p:nvSpPr>
          <p:cNvPr id="26" name="Text 23"/>
          <p:cNvSpPr/>
          <p:nvPr/>
        </p:nvSpPr>
        <p:spPr>
          <a:xfrm>
            <a:off x="3520440" y="4892040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5A6472"/>
                </a:solidFill>
              </a:rPr>
              <a:t>Esses recursos existem também em alguns contextos web, mas no app instalado a integração costuma ser mais direta e controlada pela plataforma.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9" name="Text 25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09</a:t>
            </a:r>
            <a:endParaRPr lang="en-US" sz="850" dirty="0"/>
          </a:p>
        </p:txBody>
      </p:sp>
      <p:sp>
        <p:nvSpPr>
          <p:cNvPr id="31" name="Rounded Rectangle 30"/>
          <p:cNvSpPr/>
          <p:nvPr/>
        </p:nvSpPr>
        <p:spPr>
          <a:xfrm>
            <a:off x="1084456" y="2093976"/>
            <a:ext cx="1168647" cy="2395728"/>
          </a:xfrm>
          <a:prstGeom prst="roundRect">
            <a:avLst>
              <a:gd name="adj" fmla="val 14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142888" y="2152408"/>
            <a:ext cx="1051783" cy="2278864"/>
          </a:xfrm>
          <a:prstGeom prst="roundRect">
            <a:avLst>
              <a:gd name="adj" fmla="val 11000"/>
            </a:avLst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493482" y="2188984"/>
            <a:ext cx="350594" cy="64008"/>
          </a:xfrm>
          <a:prstGeom prst="roundRect">
            <a:avLst>
              <a:gd name="adj" fmla="val 50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andro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4459" y="2764779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93016" y="3459540"/>
            <a:ext cx="135152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APP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16" y="3770985"/>
            <a:ext cx="135152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9AA4B2"/>
                </a:solidFill>
                <a:latin typeface="Cascadia Mono"/>
              </a:rPr>
              <a:t>Android / iOS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38912" y="210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Aula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788920" y="210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</a:rPr>
              <a:t>Desenvolvimento Mobile</a:t>
            </a:r>
            <a:endParaRPr lang="en-US" sz="950" dirty="0"/>
          </a:p>
        </p:txBody>
      </p:sp>
      <p:pic>
        <p:nvPicPr>
          <p:cNvPr id="6" name="Image 0" descr="/mnt/data/logo_mesquita_sty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128016"/>
            <a:ext cx="987552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7498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16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Aplicativo nativo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30352" y="1325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2"/>
                </a:solidFill>
              </a:rPr>
              <a:t>Construído para uma plataforma específica.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914400" y="1920240"/>
            <a:ext cx="4343400" cy="2697480"/>
          </a:xfrm>
          <a:prstGeom prst="roundRect">
            <a:avLst>
              <a:gd name="adj" fmla="val 5424"/>
            </a:avLst>
          </a:prstGeom>
          <a:solidFill>
            <a:srgbClr val="FFF5F5"/>
          </a:solidFill>
          <a:ln w="12700">
            <a:solidFill>
              <a:srgbClr val="F2BBBB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2834640" y="233172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71920"/>
                </a:solidFill>
              </a:rPr>
              <a:t>Android nativo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852928" y="2953512"/>
            <a:ext cx="91440" cy="91440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3054096" y="28803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2161C"/>
                </a:solidFill>
              </a:rPr>
              <a:t>Kotlin ou Java</a:t>
            </a:r>
            <a:endParaRPr lang="en-US" sz="1280" dirty="0"/>
          </a:p>
        </p:txBody>
      </p:sp>
      <p:sp>
        <p:nvSpPr>
          <p:cNvPr id="18" name="Shape 15"/>
          <p:cNvSpPr/>
          <p:nvPr/>
        </p:nvSpPr>
        <p:spPr>
          <a:xfrm>
            <a:off x="2852928" y="3319272"/>
            <a:ext cx="91440" cy="91440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3054096" y="32461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2161C"/>
                </a:solidFill>
              </a:rPr>
              <a:t>Android Studio</a:t>
            </a:r>
            <a:endParaRPr lang="en-US" sz="1280" dirty="0"/>
          </a:p>
        </p:txBody>
      </p:sp>
      <p:sp>
        <p:nvSpPr>
          <p:cNvPr id="20" name="Shape 17"/>
          <p:cNvSpPr/>
          <p:nvPr/>
        </p:nvSpPr>
        <p:spPr>
          <a:xfrm>
            <a:off x="2852928" y="3685032"/>
            <a:ext cx="91440" cy="91440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3054096" y="3611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2161C"/>
                </a:solidFill>
              </a:rPr>
              <a:t>Integração direta com Android</a:t>
            </a:r>
            <a:endParaRPr lang="en-US" sz="1280" dirty="0"/>
          </a:p>
        </p:txBody>
      </p:sp>
      <p:sp>
        <p:nvSpPr>
          <p:cNvPr id="22" name="Shape 19"/>
          <p:cNvSpPr/>
          <p:nvPr/>
        </p:nvSpPr>
        <p:spPr>
          <a:xfrm>
            <a:off x="6766560" y="1920240"/>
            <a:ext cx="4343400" cy="2697480"/>
          </a:xfrm>
          <a:prstGeom prst="roundRect">
            <a:avLst>
              <a:gd name="adj" fmla="val 5424"/>
            </a:avLst>
          </a:prstGeom>
          <a:solidFill>
            <a:srgbClr val="F5F5F5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8686800" y="23317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161C"/>
                </a:solidFill>
              </a:rPr>
              <a:t>iOS nativo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8705088" y="2953512"/>
            <a:ext cx="91440" cy="91440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8906256" y="2880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2161C"/>
                </a:solidFill>
              </a:rPr>
              <a:t>Swift</a:t>
            </a:r>
            <a:endParaRPr lang="en-US" sz="1280" dirty="0"/>
          </a:p>
        </p:txBody>
      </p:sp>
      <p:sp>
        <p:nvSpPr>
          <p:cNvPr id="31" name="Shape 28"/>
          <p:cNvSpPr/>
          <p:nvPr/>
        </p:nvSpPr>
        <p:spPr>
          <a:xfrm>
            <a:off x="8705088" y="3319272"/>
            <a:ext cx="91440" cy="91440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8906256" y="32461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2161C"/>
                </a:solidFill>
              </a:rPr>
              <a:t>Xcode</a:t>
            </a:r>
            <a:endParaRPr lang="en-US" sz="1280" dirty="0"/>
          </a:p>
        </p:txBody>
      </p:sp>
      <p:sp>
        <p:nvSpPr>
          <p:cNvPr id="33" name="Shape 30"/>
          <p:cNvSpPr/>
          <p:nvPr/>
        </p:nvSpPr>
        <p:spPr>
          <a:xfrm>
            <a:off x="8705088" y="3685032"/>
            <a:ext cx="91440" cy="91440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8906256" y="36118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2161C"/>
                </a:solidFill>
              </a:rPr>
              <a:t>Integração direta com iOS</a:t>
            </a:r>
            <a:endParaRPr lang="en-US" sz="1280" dirty="0"/>
          </a:p>
        </p:txBody>
      </p:sp>
      <p:sp>
        <p:nvSpPr>
          <p:cNvPr id="36" name="Shape 32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37" name="Text 33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38" name="Text 34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10</a:t>
            </a:r>
            <a:endParaRPr lang="en-US" sz="850" dirty="0"/>
          </a:p>
        </p:txBody>
      </p:sp>
      <p:sp>
        <p:nvSpPr>
          <p:cNvPr id="39" name="Rounded Rectangle 38"/>
          <p:cNvSpPr/>
          <p:nvPr/>
        </p:nvSpPr>
        <p:spPr>
          <a:xfrm>
            <a:off x="1554480" y="2423160"/>
            <a:ext cx="914400" cy="1874520"/>
          </a:xfrm>
          <a:prstGeom prst="roundRect">
            <a:avLst>
              <a:gd name="adj" fmla="val 14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600200" y="2468880"/>
            <a:ext cx="822960" cy="1783080"/>
          </a:xfrm>
          <a:prstGeom prst="roundRect">
            <a:avLst>
              <a:gd name="adj" fmla="val 11000"/>
            </a:avLst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874520" y="2505456"/>
            <a:ext cx="274320" cy="64008"/>
          </a:xfrm>
          <a:prstGeom prst="roundRect">
            <a:avLst>
              <a:gd name="adj" fmla="val 50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ndro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2948025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463040" y="3491636"/>
            <a:ext cx="1097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Android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63040" y="3735324"/>
            <a:ext cx="1097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9AA4B2"/>
                </a:solidFill>
                <a:latin typeface="Cascadia Mono"/>
              </a:rPr>
              <a:t>Kotlin / Java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06640" y="2423160"/>
            <a:ext cx="914400" cy="1874520"/>
          </a:xfrm>
          <a:prstGeom prst="roundRect">
            <a:avLst>
              <a:gd name="adj" fmla="val 14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452360" y="2468880"/>
            <a:ext cx="822960" cy="1783080"/>
          </a:xfrm>
          <a:prstGeom prst="roundRect">
            <a:avLst>
              <a:gd name="adj" fmla="val 11000"/>
            </a:avLst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726680" y="2505456"/>
            <a:ext cx="274320" cy="64008"/>
          </a:xfrm>
          <a:prstGeom prst="roundRect">
            <a:avLst>
              <a:gd name="adj" fmla="val 50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ap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4384" y="2948025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15200" y="3491636"/>
            <a:ext cx="1097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iOS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3735324"/>
            <a:ext cx="1097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9AA4B2"/>
                </a:solidFill>
                <a:latin typeface="Cascadia Mono"/>
              </a:rPr>
              <a:t>Swift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38912" y="210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Aula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788920" y="210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</a:rPr>
              <a:t>Desenvolvimento Mobile</a:t>
            </a:r>
            <a:endParaRPr lang="en-US" sz="950" dirty="0"/>
          </a:p>
        </p:txBody>
      </p:sp>
      <p:pic>
        <p:nvPicPr>
          <p:cNvPr id="6" name="Image 0" descr="/mnt/data/logo_mesquita_sty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128016"/>
            <a:ext cx="987552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7498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16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Aplicativo híbrido / multiplataforma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30352" y="1325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2"/>
                </a:solidFill>
              </a:rPr>
              <a:t>Uma abordagem para reaproveitar parte da base de código.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06240" y="1737360"/>
            <a:ext cx="3840480" cy="1097280"/>
          </a:xfrm>
          <a:prstGeom prst="roundRect">
            <a:avLst>
              <a:gd name="adj" fmla="val 13333"/>
            </a:avLst>
          </a:prstGeom>
          <a:solidFill>
            <a:srgbClr val="FFF9E6"/>
          </a:solidFill>
          <a:ln w="12700">
            <a:solidFill>
              <a:srgbClr val="E7C95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434840" y="20756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161C"/>
                </a:solidFill>
              </a:rPr>
              <a:t>Framework / base compartilhada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4251960" y="3063240"/>
            <a:ext cx="1371600" cy="384048"/>
          </a:xfrm>
          <a:prstGeom prst="roundRect">
            <a:avLst>
              <a:gd name="adj" fmla="val 28571"/>
            </a:avLst>
          </a:prstGeom>
          <a:solidFill>
            <a:srgbClr val="D719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4379976" y="3163824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React Native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806440" y="3063240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D719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5934456" y="316382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Flutter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7059168" y="3063240"/>
            <a:ext cx="822960" cy="384048"/>
          </a:xfrm>
          <a:prstGeom prst="roundRect">
            <a:avLst>
              <a:gd name="adj" fmla="val 28571"/>
            </a:avLst>
          </a:prstGeom>
          <a:solidFill>
            <a:srgbClr val="D719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7187184" y="3163824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Expo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34" name="Text 30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11</a:t>
            </a:r>
            <a:endParaRPr lang="en-US" sz="850" dirty="0"/>
          </a:p>
        </p:txBody>
      </p:sp>
      <p:sp>
        <p:nvSpPr>
          <p:cNvPr id="36" name="Rounded Rectangle 35"/>
          <p:cNvSpPr/>
          <p:nvPr/>
        </p:nvSpPr>
        <p:spPr>
          <a:xfrm>
            <a:off x="2128768" y="3703320"/>
            <a:ext cx="1137424" cy="2331720"/>
          </a:xfrm>
          <a:prstGeom prst="roundRect">
            <a:avLst>
              <a:gd name="adj" fmla="val 14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185639" y="3760191"/>
            <a:ext cx="1023682" cy="2217978"/>
          </a:xfrm>
          <a:prstGeom prst="roundRect">
            <a:avLst>
              <a:gd name="adj" fmla="val 11000"/>
            </a:avLst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526866" y="3796767"/>
            <a:ext cx="341227" cy="64008"/>
          </a:xfrm>
          <a:prstGeom prst="roundRect">
            <a:avLst>
              <a:gd name="adj" fmla="val 50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andro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4498" y="4356201"/>
            <a:ext cx="545963" cy="545963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037328" y="5032400"/>
            <a:ext cx="1320304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Android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37328" y="5335524"/>
            <a:ext cx="132030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9AA4B2"/>
                </a:solidFill>
                <a:latin typeface="Cascadia Mono"/>
              </a:rPr>
              <a:t>App final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57768" y="3703320"/>
            <a:ext cx="1137424" cy="2331720"/>
          </a:xfrm>
          <a:prstGeom prst="roundRect">
            <a:avLst>
              <a:gd name="adj" fmla="val 14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614639" y="3760191"/>
            <a:ext cx="1023682" cy="2217978"/>
          </a:xfrm>
          <a:prstGeom prst="roundRect">
            <a:avLst>
              <a:gd name="adj" fmla="val 11000"/>
            </a:avLst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955866" y="3796767"/>
            <a:ext cx="341227" cy="64008"/>
          </a:xfrm>
          <a:prstGeom prst="roundRect">
            <a:avLst>
              <a:gd name="adj" fmla="val 50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ap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3498" y="4356201"/>
            <a:ext cx="545963" cy="545963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5466328" y="5032400"/>
            <a:ext cx="1320304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iOS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66328" y="5335524"/>
            <a:ext cx="132030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9AA4B2"/>
                </a:solidFill>
                <a:latin typeface="Cascadia Mono"/>
              </a:rPr>
              <a:t>App final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86768" y="3703320"/>
            <a:ext cx="1137424" cy="2331720"/>
          </a:xfrm>
          <a:prstGeom prst="roundRect">
            <a:avLst>
              <a:gd name="adj" fmla="val 14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043639" y="3760191"/>
            <a:ext cx="1023682" cy="2217978"/>
          </a:xfrm>
          <a:prstGeom prst="roundRect">
            <a:avLst>
              <a:gd name="adj" fmla="val 11000"/>
            </a:avLst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384866" y="3796767"/>
            <a:ext cx="341227" cy="64008"/>
          </a:xfrm>
          <a:prstGeom prst="roundRect">
            <a:avLst>
              <a:gd name="adj" fmla="val 50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javascrip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2498" y="4356201"/>
            <a:ext cx="545963" cy="545963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895328" y="5032400"/>
            <a:ext cx="1320304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Web?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95328" y="5335524"/>
            <a:ext cx="1320304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9AA4B2"/>
                </a:solidFill>
                <a:latin typeface="Cascadia Mono"/>
              </a:rPr>
              <a:t>dependendo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38912" y="210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Aula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788920" y="210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</a:rPr>
              <a:t>Desenvolvimento Mobile</a:t>
            </a:r>
            <a:endParaRPr lang="en-US" sz="950" dirty="0"/>
          </a:p>
        </p:txBody>
      </p:sp>
      <p:pic>
        <p:nvPicPr>
          <p:cNvPr id="6" name="Image 0" descr="/mnt/data/logo_mesquita_sty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128016"/>
            <a:ext cx="987552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7498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16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Comparação simples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30352" y="1325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2"/>
                </a:solidFill>
              </a:rPr>
              <a:t>A pergunta não é “qual é melhor?”, mas “qual faz sentido para o problema?”.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31520" y="1755648"/>
            <a:ext cx="2057400" cy="530352"/>
          </a:xfrm>
          <a:prstGeom prst="rect">
            <a:avLst/>
          </a:prstGeom>
          <a:solidFill>
            <a:srgbClr val="12161C"/>
          </a:solidFill>
          <a:ln w="635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841248" y="1911096"/>
            <a:ext cx="1837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Critério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291840" y="1755648"/>
            <a:ext cx="2468880" cy="530352"/>
          </a:xfrm>
          <a:prstGeom prst="rect">
            <a:avLst/>
          </a:prstGeom>
          <a:solidFill>
            <a:srgbClr val="12161C"/>
          </a:solidFill>
          <a:ln w="635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3401568" y="1911096"/>
            <a:ext cx="2249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Nativo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46520" y="1755648"/>
            <a:ext cx="3977640" cy="530352"/>
          </a:xfrm>
          <a:prstGeom prst="rect">
            <a:avLst/>
          </a:prstGeom>
          <a:solidFill>
            <a:srgbClr val="12161C"/>
          </a:solidFill>
          <a:ln w="635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556248" y="1911096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Híbrido / multiplataforma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31520" y="2414016"/>
            <a:ext cx="20574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41248" y="2569464"/>
            <a:ext cx="1837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2161C"/>
                </a:solidFill>
              </a:rPr>
              <a:t>Foco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291840" y="2414016"/>
            <a:ext cx="24688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3401568" y="2569464"/>
            <a:ext cx="2249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2161C"/>
                </a:solidFill>
              </a:rPr>
              <a:t>Uma plataforma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46520" y="2414016"/>
            <a:ext cx="39776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6556248" y="2569464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2161C"/>
                </a:solidFill>
              </a:rPr>
              <a:t>Mais de uma plataforma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31520" y="3072384"/>
            <a:ext cx="2057400" cy="530352"/>
          </a:xfrm>
          <a:prstGeom prst="rect">
            <a:avLst/>
          </a:prstGeom>
          <a:solidFill>
            <a:srgbClr val="F6F7F9"/>
          </a:solidFill>
          <a:ln w="635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841248" y="3227832"/>
            <a:ext cx="1837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2161C"/>
                </a:solidFill>
              </a:rPr>
              <a:t>Android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291840" y="3072384"/>
            <a:ext cx="2468880" cy="530352"/>
          </a:xfrm>
          <a:prstGeom prst="rect">
            <a:avLst/>
          </a:prstGeom>
          <a:solidFill>
            <a:srgbClr val="F6F7F9"/>
          </a:solidFill>
          <a:ln w="635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3401568" y="3227832"/>
            <a:ext cx="2249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2161C"/>
                </a:solidFill>
              </a:rPr>
              <a:t>Kotlin / Java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446520" y="3072384"/>
            <a:ext cx="3977640" cy="530352"/>
          </a:xfrm>
          <a:prstGeom prst="rect">
            <a:avLst/>
          </a:prstGeom>
          <a:solidFill>
            <a:srgbClr val="F6F7F9"/>
          </a:solidFill>
          <a:ln w="635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6556248" y="3227832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2161C"/>
                </a:solidFill>
              </a:rPr>
              <a:t>React Native / Flutter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31520" y="3730752"/>
            <a:ext cx="20574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841248" y="3886200"/>
            <a:ext cx="1837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2161C"/>
                </a:solidFill>
              </a:rPr>
              <a:t>iOS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291840" y="3730752"/>
            <a:ext cx="24688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3401568" y="3886200"/>
            <a:ext cx="2249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2161C"/>
                </a:solidFill>
              </a:rPr>
              <a:t>Swift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446520" y="3730752"/>
            <a:ext cx="39776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6556248" y="3886200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2161C"/>
                </a:solidFill>
              </a:rPr>
              <a:t>React Native / Flutter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31520" y="4389120"/>
            <a:ext cx="2057400" cy="530352"/>
          </a:xfrm>
          <a:prstGeom prst="rect">
            <a:avLst/>
          </a:prstGeom>
          <a:solidFill>
            <a:srgbClr val="F6F7F9"/>
          </a:solidFill>
          <a:ln w="635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841248" y="4544568"/>
            <a:ext cx="1837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2161C"/>
                </a:solidFill>
              </a:rPr>
              <a:t>Código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291840" y="4389120"/>
            <a:ext cx="2468880" cy="530352"/>
          </a:xfrm>
          <a:prstGeom prst="rect">
            <a:avLst/>
          </a:prstGeom>
          <a:solidFill>
            <a:srgbClr val="F6F7F9"/>
          </a:solidFill>
          <a:ln w="635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3401568" y="4544568"/>
            <a:ext cx="2249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2161C"/>
                </a:solidFill>
              </a:rPr>
              <a:t>Mais específico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6446520" y="4389120"/>
            <a:ext cx="3977640" cy="530352"/>
          </a:xfrm>
          <a:prstGeom prst="rect">
            <a:avLst/>
          </a:prstGeom>
          <a:solidFill>
            <a:srgbClr val="F6F7F9"/>
          </a:solidFill>
          <a:ln w="635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6556248" y="4544568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2161C"/>
                </a:solidFill>
              </a:rPr>
              <a:t>Maior reaproveitamento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731520" y="5047488"/>
            <a:ext cx="20574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841248" y="5202936"/>
            <a:ext cx="1837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2161C"/>
                </a:solidFill>
              </a:rPr>
              <a:t>Uso ideal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3291840" y="5047488"/>
            <a:ext cx="246888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42" name="Text 39"/>
          <p:cNvSpPr/>
          <p:nvPr/>
        </p:nvSpPr>
        <p:spPr>
          <a:xfrm>
            <a:off x="3401568" y="5202936"/>
            <a:ext cx="2249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2161C"/>
                </a:solidFill>
              </a:rPr>
              <a:t>Quando a plataforma importa muito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6446520" y="5047488"/>
            <a:ext cx="39776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6556248" y="5202936"/>
            <a:ext cx="3758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2161C"/>
                </a:solidFill>
              </a:rPr>
              <a:t>Quando precisamos lançar rápido em mais plataformas</a:t>
            </a:r>
            <a:endParaRPr lang="en-US" sz="1100" dirty="0"/>
          </a:p>
        </p:txBody>
      </p:sp>
      <p:sp>
        <p:nvSpPr>
          <p:cNvPr id="46" name="Shape 42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47" name="Text 43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38912" y="210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Aula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788920" y="210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</a:rPr>
              <a:t>Desenvolvimento Mobile</a:t>
            </a:r>
            <a:endParaRPr lang="en-US" sz="950" dirty="0"/>
          </a:p>
        </p:txBody>
      </p:sp>
      <p:pic>
        <p:nvPicPr>
          <p:cNvPr id="6" name="Image 0" descr="/mnt/data/logo_mesquita_sty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128016"/>
            <a:ext cx="987552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7498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16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Atividade relâmpago antes do intervalo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30352" y="1325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2"/>
                </a:solidFill>
              </a:rPr>
              <a:t>Pensar como equipe de desenvolvimento.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68680" y="1874520"/>
            <a:ext cx="4983480" cy="2423160"/>
          </a:xfrm>
          <a:prstGeom prst="roundRect">
            <a:avLst>
              <a:gd name="adj" fmla="val 6038"/>
            </a:avLst>
          </a:prstGeom>
          <a:solidFill>
            <a:srgbClr val="FFF5F5"/>
          </a:solidFill>
          <a:ln w="12700">
            <a:solidFill>
              <a:srgbClr val="F2BBBB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143000" y="21488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71920"/>
                </a:solidFill>
              </a:rPr>
              <a:t>Cenário A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43000" y="2651760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2161C"/>
                </a:solidFill>
              </a:rPr>
              <a:t>Uma pequena empresa quer lançar um app de delivery para Android e iPhone em pouco tempo.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143000" y="36576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61C"/>
                </a:solidFill>
              </a:rPr>
              <a:t>Qual caminho você escolheria?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6400800" y="1874520"/>
            <a:ext cx="4983480" cy="2423160"/>
          </a:xfrm>
          <a:prstGeom prst="roundRect">
            <a:avLst>
              <a:gd name="adj" fmla="val 6038"/>
            </a:avLst>
          </a:prstGeom>
          <a:solidFill>
            <a:srgbClr val="FFF9E6"/>
          </a:solidFill>
          <a:ln w="12700">
            <a:solidFill>
              <a:srgbClr val="F1D77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675120" y="21488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71920"/>
                </a:solidFill>
              </a:rPr>
              <a:t>Cenário B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675120" y="2651760"/>
            <a:ext cx="434340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2161C"/>
                </a:solidFill>
              </a:rPr>
              <a:t>Uma empresa precisa usar câmera, sensores, Bluetooth e recursos específicos do aparelho.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675120" y="36576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161C"/>
                </a:solidFill>
              </a:rPr>
              <a:t>Você manteria a mesma escolha?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2377440" y="5074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161C"/>
                </a:solidFill>
              </a:rPr>
              <a:t>Anote 3 argumentos. Não existe resposta única.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38912" y="210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Aula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788920" y="210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</a:rPr>
              <a:t>Desenvolvimento Mobile</a:t>
            </a:r>
            <a:endParaRPr lang="en-US" sz="950" dirty="0"/>
          </a:p>
        </p:txBody>
      </p:sp>
      <p:pic>
        <p:nvPicPr>
          <p:cNvPr id="6" name="Image 0" descr="/mnt/data/logo_mesquita_sty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128016"/>
            <a:ext cx="987552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0574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2161C"/>
                </a:solidFill>
              </a:rPr>
              <a:t>Intervalo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2834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71920"/>
                </a:solidFill>
              </a:rPr>
              <a:t>Na volta: laboratório prático no computador.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498080" y="1828800"/>
            <a:ext cx="2834640" cy="2194560"/>
          </a:xfrm>
          <a:prstGeom prst="roundRect">
            <a:avLst>
              <a:gd name="adj" fmla="val 7500"/>
            </a:avLst>
          </a:prstGeom>
          <a:solidFill>
            <a:srgbClr val="F7F7F5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955280" y="24505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71920"/>
                </a:solidFill>
              </a:rPr>
              <a:t>10–15 min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909560" y="303580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6472"/>
                </a:solidFill>
              </a:rPr>
              <a:t>Retorno direto para o laboratório.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38912" y="210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Laboratório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788920" y="210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</a:rPr>
              <a:t>Desenvolvimento Mobile</a:t>
            </a:r>
            <a:endParaRPr lang="en-US" sz="950" dirty="0"/>
          </a:p>
        </p:txBody>
      </p:sp>
      <p:pic>
        <p:nvPicPr>
          <p:cNvPr id="6" name="Image 0" descr="/mnt/data/logo_mesquita_sty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128016"/>
            <a:ext cx="987552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7498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16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Laboratório 01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30352" y="1325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2"/>
                </a:solidFill>
              </a:rPr>
              <a:t>Primeiro contato com ambientes de desenvolvimento mobile.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2296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71920"/>
                </a:solidFill>
              </a:rPr>
              <a:t>Objetivo: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148840" y="193852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2161C"/>
                </a:solidFill>
              </a:rPr>
              <a:t>comparar, na prática, a criação inicial de um projeto nativo e de um projeto híbrido/multiplataforma.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960120" y="2834640"/>
            <a:ext cx="4389120" cy="1645920"/>
          </a:xfrm>
          <a:prstGeom prst="roundRect">
            <a:avLst>
              <a:gd name="adj" fmla="val 8889"/>
            </a:avLst>
          </a:prstGeom>
          <a:solidFill>
            <a:srgbClr val="FFF5F5"/>
          </a:solidFill>
          <a:ln w="12700">
            <a:solidFill>
              <a:srgbClr val="F2BBBB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298448" y="31546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71920"/>
                </a:solidFill>
              </a:rPr>
              <a:t>Parte A — Nativo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1298448" y="36118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161C"/>
                </a:solidFill>
              </a:rPr>
              <a:t>Android Studio + Kotlin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46520" y="2834640"/>
            <a:ext cx="4389120" cy="1645920"/>
          </a:xfrm>
          <a:prstGeom prst="roundRect">
            <a:avLst>
              <a:gd name="adj" fmla="val 8889"/>
            </a:avLst>
          </a:prstGeom>
          <a:solidFill>
            <a:srgbClr val="FFF9E6"/>
          </a:solidFill>
          <a:ln w="12700">
            <a:solidFill>
              <a:srgbClr val="F1D777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784848" y="31546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71920"/>
                </a:solidFill>
              </a:rPr>
              <a:t>Parte B — Híbrido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6784848" y="36118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161C"/>
                </a:solidFill>
              </a:rPr>
              <a:t>React Native + Expo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901952" y="523036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2161C"/>
                </a:solidFill>
              </a:rPr>
              <a:t>Hoje não vamos aprofundar sintaxe. Vamos criar, rodar e comparar.</a:t>
            </a:r>
            <a:endParaRPr lang="en-US" sz="1650" dirty="0"/>
          </a:p>
        </p:txBody>
      </p:sp>
      <p:sp>
        <p:nvSpPr>
          <p:cNvPr id="19" name="Shape 15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38912" y="210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Laboratório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788920" y="210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</a:rPr>
              <a:t>Desenvolvimento Mobile</a:t>
            </a:r>
            <a:endParaRPr lang="en-US" sz="950" dirty="0"/>
          </a:p>
        </p:txBody>
      </p:sp>
      <p:pic>
        <p:nvPicPr>
          <p:cNvPr id="6" name="Image 0" descr="/mnt/data/logo_mesquita_sty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128016"/>
            <a:ext cx="987552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7498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16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Antes de começar: checklist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30352" y="1325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2"/>
                </a:solidFill>
              </a:rPr>
              <a:t>Evita perder a aula inteira com instalação.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914400" y="1874520"/>
            <a:ext cx="438912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078992" y="2039112"/>
            <a:ext cx="237744" cy="237744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083564" y="2043684"/>
            <a:ext cx="228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444752" y="20025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12161C"/>
                </a:solidFill>
              </a:rPr>
              <a:t>Android Studio</a:t>
            </a:r>
            <a:endParaRPr lang="en-US" sz="1420" dirty="0"/>
          </a:p>
        </p:txBody>
      </p:sp>
      <p:sp>
        <p:nvSpPr>
          <p:cNvPr id="13" name="Text 10"/>
          <p:cNvSpPr/>
          <p:nvPr/>
        </p:nvSpPr>
        <p:spPr>
          <a:xfrm>
            <a:off x="1444752" y="224028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A6472"/>
                </a:solidFill>
              </a:rPr>
              <a:t>para criar projeto Android nativo</a:t>
            </a:r>
            <a:endParaRPr lang="en-US" sz="980" dirty="0"/>
          </a:p>
        </p:txBody>
      </p:sp>
      <p:sp>
        <p:nvSpPr>
          <p:cNvPr id="14" name="Shape 11"/>
          <p:cNvSpPr/>
          <p:nvPr/>
        </p:nvSpPr>
        <p:spPr>
          <a:xfrm>
            <a:off x="914400" y="2834640"/>
            <a:ext cx="438912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1078992" y="2999232"/>
            <a:ext cx="237744" cy="237744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083564" y="3003804"/>
            <a:ext cx="228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444752" y="29626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12161C"/>
                </a:solidFill>
              </a:rPr>
              <a:t>Android SDK</a:t>
            </a:r>
            <a:endParaRPr lang="en-US" sz="1420" dirty="0"/>
          </a:p>
        </p:txBody>
      </p:sp>
      <p:sp>
        <p:nvSpPr>
          <p:cNvPr id="18" name="Text 15"/>
          <p:cNvSpPr/>
          <p:nvPr/>
        </p:nvSpPr>
        <p:spPr>
          <a:xfrm>
            <a:off x="1444752" y="320040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A6472"/>
                </a:solidFill>
              </a:rPr>
              <a:t>componentes da plataforma Android</a:t>
            </a:r>
            <a:endParaRPr lang="en-US" sz="980" dirty="0"/>
          </a:p>
        </p:txBody>
      </p:sp>
      <p:sp>
        <p:nvSpPr>
          <p:cNvPr id="19" name="Shape 16"/>
          <p:cNvSpPr/>
          <p:nvPr/>
        </p:nvSpPr>
        <p:spPr>
          <a:xfrm>
            <a:off x="914400" y="3794760"/>
            <a:ext cx="438912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1078992" y="3959352"/>
            <a:ext cx="237744" cy="237744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083564" y="3963924"/>
            <a:ext cx="228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444752" y="392277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12161C"/>
                </a:solidFill>
              </a:rPr>
              <a:t>Node.js LTS</a:t>
            </a:r>
            <a:endParaRPr lang="en-US" sz="1420" dirty="0"/>
          </a:p>
        </p:txBody>
      </p:sp>
      <p:sp>
        <p:nvSpPr>
          <p:cNvPr id="23" name="Text 20"/>
          <p:cNvSpPr/>
          <p:nvPr/>
        </p:nvSpPr>
        <p:spPr>
          <a:xfrm>
            <a:off x="1444752" y="416052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A6472"/>
                </a:solidFill>
              </a:rPr>
              <a:t>necessário para projetos Expo</a:t>
            </a:r>
            <a:endParaRPr lang="en-US" sz="980" dirty="0"/>
          </a:p>
        </p:txBody>
      </p:sp>
      <p:sp>
        <p:nvSpPr>
          <p:cNvPr id="24" name="Shape 21"/>
          <p:cNvSpPr/>
          <p:nvPr/>
        </p:nvSpPr>
        <p:spPr>
          <a:xfrm>
            <a:off x="6400800" y="1874520"/>
            <a:ext cx="438912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65392" y="2039112"/>
            <a:ext cx="237744" cy="237744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6569964" y="2043684"/>
            <a:ext cx="228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931152" y="20025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12161C"/>
                </a:solidFill>
              </a:rPr>
              <a:t>VS Code</a:t>
            </a:r>
            <a:endParaRPr lang="en-US" sz="1420" dirty="0"/>
          </a:p>
        </p:txBody>
      </p:sp>
      <p:sp>
        <p:nvSpPr>
          <p:cNvPr id="28" name="Text 25"/>
          <p:cNvSpPr/>
          <p:nvPr/>
        </p:nvSpPr>
        <p:spPr>
          <a:xfrm>
            <a:off x="6931152" y="224028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A6472"/>
                </a:solidFill>
              </a:rPr>
              <a:t>editor para projeto React Native / Expo</a:t>
            </a:r>
            <a:endParaRPr lang="en-US" sz="980" dirty="0"/>
          </a:p>
        </p:txBody>
      </p:sp>
      <p:sp>
        <p:nvSpPr>
          <p:cNvPr id="29" name="Shape 26"/>
          <p:cNvSpPr/>
          <p:nvPr/>
        </p:nvSpPr>
        <p:spPr>
          <a:xfrm>
            <a:off x="6400800" y="2834640"/>
            <a:ext cx="438912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30" name="Shape 27"/>
          <p:cNvSpPr/>
          <p:nvPr/>
        </p:nvSpPr>
        <p:spPr>
          <a:xfrm>
            <a:off x="6565392" y="2999232"/>
            <a:ext cx="237744" cy="237744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6569964" y="3003804"/>
            <a:ext cx="228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931152" y="29626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12161C"/>
                </a:solidFill>
              </a:rPr>
              <a:t>Celular ou emulador</a:t>
            </a:r>
            <a:endParaRPr lang="en-US" sz="1420" dirty="0"/>
          </a:p>
        </p:txBody>
      </p:sp>
      <p:sp>
        <p:nvSpPr>
          <p:cNvPr id="33" name="Text 30"/>
          <p:cNvSpPr/>
          <p:nvPr/>
        </p:nvSpPr>
        <p:spPr>
          <a:xfrm>
            <a:off x="6931152" y="320040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A6472"/>
                </a:solidFill>
              </a:rPr>
              <a:t>para executar e visualizar o app</a:t>
            </a:r>
            <a:endParaRPr lang="en-US" sz="980" dirty="0"/>
          </a:p>
        </p:txBody>
      </p:sp>
      <p:sp>
        <p:nvSpPr>
          <p:cNvPr id="34" name="Shape 31"/>
          <p:cNvSpPr/>
          <p:nvPr/>
        </p:nvSpPr>
        <p:spPr>
          <a:xfrm>
            <a:off x="6400800" y="3794760"/>
            <a:ext cx="438912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35" name="Shape 32"/>
          <p:cNvSpPr/>
          <p:nvPr/>
        </p:nvSpPr>
        <p:spPr>
          <a:xfrm>
            <a:off x="6565392" y="3959352"/>
            <a:ext cx="237744" cy="237744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6569964" y="3963924"/>
            <a:ext cx="2286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✓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931152" y="392277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b="1" dirty="0">
                <a:solidFill>
                  <a:srgbClr val="12161C"/>
                </a:solidFill>
              </a:rPr>
              <a:t>Internet</a:t>
            </a:r>
            <a:endParaRPr lang="en-US" sz="1420" dirty="0"/>
          </a:p>
        </p:txBody>
      </p:sp>
      <p:sp>
        <p:nvSpPr>
          <p:cNvPr id="38" name="Text 35"/>
          <p:cNvSpPr/>
          <p:nvPr/>
        </p:nvSpPr>
        <p:spPr>
          <a:xfrm>
            <a:off x="6931152" y="416052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5A6472"/>
                </a:solidFill>
              </a:rPr>
              <a:t>para criação do projeto Expo, se necessário</a:t>
            </a:r>
            <a:endParaRPr lang="en-US" sz="980" dirty="0"/>
          </a:p>
        </p:txBody>
      </p:sp>
      <p:sp>
        <p:nvSpPr>
          <p:cNvPr id="39" name="Shape 36"/>
          <p:cNvSpPr/>
          <p:nvPr/>
        </p:nvSpPr>
        <p:spPr>
          <a:xfrm>
            <a:off x="1463040" y="5257800"/>
            <a:ext cx="9235440" cy="502920"/>
          </a:xfrm>
          <a:prstGeom prst="roundRect">
            <a:avLst>
              <a:gd name="adj" fmla="val 21818"/>
            </a:avLst>
          </a:prstGeom>
          <a:solidFill>
            <a:srgbClr val="FFF9E6"/>
          </a:solidFill>
          <a:ln w="12700">
            <a:solidFill>
              <a:srgbClr val="F1D777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1737360" y="5413248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161C"/>
                </a:solidFill>
              </a:rPr>
              <a:t>Com turma grande, o ideal é deixar tudo instalado antes da aula.</a:t>
            </a:r>
            <a:endParaRPr lang="en-US" sz="1350" dirty="0"/>
          </a:p>
        </p:txBody>
      </p:sp>
      <p:sp>
        <p:nvSpPr>
          <p:cNvPr id="42" name="Shape 38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43" name="Text 39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38912" y="210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Laboratório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788920" y="210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</a:rPr>
              <a:t>Desenvolvimento Mobile</a:t>
            </a:r>
            <a:endParaRPr lang="en-US" sz="950" dirty="0"/>
          </a:p>
        </p:txBody>
      </p:sp>
      <p:pic>
        <p:nvPicPr>
          <p:cNvPr id="6" name="Image 0" descr="/mnt/data/logo_mesquita_sty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128016"/>
            <a:ext cx="987552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7498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16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Parte A — Criando um app nativo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30352" y="1325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2"/>
                </a:solidFill>
              </a:rPr>
              <a:t>Caminho mínimo no Android Studio.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68680" y="180136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71920"/>
                </a:solidFill>
              </a:rPr>
              <a:t>1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234440" y="1901952"/>
            <a:ext cx="320040" cy="0"/>
          </a:xfrm>
          <a:prstGeom prst="line">
            <a:avLst/>
          </a:prstGeom>
          <a:noFill/>
          <a:ln w="1905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691640" y="178308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2161C"/>
                </a:solidFill>
              </a:rPr>
              <a:t>Abrir Android Studio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868680" y="230428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71920"/>
                </a:solidFill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234440" y="2404872"/>
            <a:ext cx="320040" cy="0"/>
          </a:xfrm>
          <a:prstGeom prst="line">
            <a:avLst/>
          </a:prstGeom>
          <a:noFill/>
          <a:ln w="1905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691640" y="228600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2161C"/>
                </a:solidFill>
              </a:rPr>
              <a:t>New Project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868680" y="280720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71920"/>
                </a:solidFill>
              </a:rPr>
              <a:t>3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234440" y="2907792"/>
            <a:ext cx="320040" cy="0"/>
          </a:xfrm>
          <a:prstGeom prst="line">
            <a:avLst/>
          </a:prstGeom>
          <a:noFill/>
          <a:ln w="1905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691640" y="278892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2161C"/>
                </a:solidFill>
              </a:rPr>
              <a:t>Empty Activity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868680" y="331012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71920"/>
                </a:solidFill>
              </a:rPr>
              <a:t>4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234440" y="3410712"/>
            <a:ext cx="320040" cy="0"/>
          </a:xfrm>
          <a:prstGeom prst="line">
            <a:avLst/>
          </a:prstGeom>
          <a:noFill/>
          <a:ln w="1905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691640" y="32918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2161C"/>
                </a:solidFill>
              </a:rPr>
              <a:t>Nome: PrimeiroAppNativo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868680" y="381304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71920"/>
                </a:solidFill>
              </a:rPr>
              <a:t>5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1234440" y="3913632"/>
            <a:ext cx="320040" cy="0"/>
          </a:xfrm>
          <a:prstGeom prst="line">
            <a:avLst/>
          </a:prstGeom>
          <a:noFill/>
          <a:ln w="1905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691640" y="379476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2161C"/>
                </a:solidFill>
              </a:rPr>
              <a:t>Linguagem: Kotlin</a:t>
            </a:r>
            <a:endParaRPr lang="en-US" sz="1550" dirty="0"/>
          </a:p>
        </p:txBody>
      </p:sp>
      <p:sp>
        <p:nvSpPr>
          <p:cNvPr id="24" name="Text 21"/>
          <p:cNvSpPr/>
          <p:nvPr/>
        </p:nvSpPr>
        <p:spPr>
          <a:xfrm>
            <a:off x="868680" y="431596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71920"/>
                </a:solidFill>
              </a:rPr>
              <a:t>6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1234440" y="4416552"/>
            <a:ext cx="320040" cy="0"/>
          </a:xfrm>
          <a:prstGeom prst="line">
            <a:avLst/>
          </a:prstGeom>
          <a:noFill/>
          <a:ln w="1905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1691640" y="429768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2161C"/>
                </a:solidFill>
              </a:rPr>
              <a:t>Executar no emulador ou celular</a:t>
            </a:r>
            <a:endParaRPr lang="en-US" sz="1550" dirty="0"/>
          </a:p>
        </p:txBody>
      </p:sp>
      <p:sp>
        <p:nvSpPr>
          <p:cNvPr id="27" name="Shape 24"/>
          <p:cNvSpPr/>
          <p:nvPr/>
        </p:nvSpPr>
        <p:spPr>
          <a:xfrm>
            <a:off x="6812280" y="1828800"/>
            <a:ext cx="4160520" cy="2880360"/>
          </a:xfrm>
          <a:prstGeom prst="roundRect">
            <a:avLst>
              <a:gd name="adj" fmla="val 3175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6995160" y="1956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7F3D0"/>
                </a:solidFill>
              </a:rPr>
              <a:t>Kotlin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7013448" y="2240280"/>
            <a:ext cx="375818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sz="1120">
                <a:solidFill>
                  <a:srgbClr val="E3E7EC"/>
                </a:solidFill>
                <a:latin typeface="Cascadia Mono"/>
              </a:rPr>
              <a:t>@Composable</a:t>
            </a:r>
            <a:endParaRPr lang="en-US" sz="1120" dirty="0"/>
          </a:p>
          <a:p>
            <a:r>
              <a:rPr sz="1120">
                <a:solidFill>
                  <a:srgbClr val="E3E7EC"/>
                </a:solidFill>
                <a:latin typeface="Cascadia Mono"/>
              </a:rPr>
              <a:t>fun Greeting(name: String) {</a:t>
            </a:r>
          </a:p>
          <a:p>
            <a:r>
              <a:rPr sz="1120">
                <a:solidFill>
                  <a:srgbClr val="E3E7EC"/>
                </a:solidFill>
                <a:latin typeface="Cascadia Mono"/>
              </a:rPr>
              <a:t>    Text(</a:t>
            </a:r>
          </a:p>
          <a:p>
            <a:r>
              <a:rPr sz="1120">
                <a:solidFill>
                  <a:srgbClr val="E3E7EC"/>
                </a:solidFill>
                <a:latin typeface="Cascadia Mono"/>
              </a:rPr>
              <a:t>        text = "Olá, $name!"</a:t>
            </a:r>
          </a:p>
          <a:p>
            <a:r>
              <a:rPr sz="1120">
                <a:solidFill>
                  <a:srgbClr val="E3E7EC"/>
                </a:solidFill>
                <a:latin typeface="Cascadia Mono"/>
              </a:rPr>
              <a:t>    )</a:t>
            </a:r>
          </a:p>
          <a:p>
            <a:r>
              <a:rPr sz="1120">
                <a:solidFill>
                  <a:srgbClr val="E3E7EC"/>
                </a:solidFill>
                <a:latin typeface="Cascadia Mono"/>
              </a:rPr>
              <a:t>}</a:t>
            </a:r>
          </a:p>
        </p:txBody>
      </p:sp>
      <p:sp>
        <p:nvSpPr>
          <p:cNvPr id="30" name="Text 27"/>
          <p:cNvSpPr/>
          <p:nvPr/>
        </p:nvSpPr>
        <p:spPr>
          <a:xfrm>
            <a:off x="6812280" y="498348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71920"/>
                </a:solidFill>
              </a:rPr>
              <a:t>Hoje: reconhecer a estrutura. Depois: entender cada parte.</a:t>
            </a:r>
            <a:endParaRPr lang="en-US" sz="1350" dirty="0"/>
          </a:p>
        </p:txBody>
      </p:sp>
      <p:sp>
        <p:nvSpPr>
          <p:cNvPr id="32" name="Shape 28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33" name="Text 29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38912" y="210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Laboratório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788920" y="210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</a:rPr>
              <a:t>Desenvolvimento Mobile</a:t>
            </a:r>
            <a:endParaRPr lang="en-US" sz="950" dirty="0"/>
          </a:p>
        </p:txBody>
      </p:sp>
      <p:pic>
        <p:nvPicPr>
          <p:cNvPr id="6" name="Image 0" descr="/mnt/data/logo_mesquita_sty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128016"/>
            <a:ext cx="987552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7498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16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Parte B — Criando um app híbrido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30352" y="1325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2"/>
                </a:solidFill>
              </a:rPr>
              <a:t>Caminho mínimo com React Native + Expo.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68680" y="180136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71920"/>
                </a:solidFill>
              </a:rPr>
              <a:t>1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234440" y="1901952"/>
            <a:ext cx="320040" cy="0"/>
          </a:xfrm>
          <a:prstGeom prst="line">
            <a:avLst/>
          </a:prstGeom>
          <a:noFill/>
          <a:ln w="1905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691640" y="178308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2161C"/>
                </a:solidFill>
              </a:rPr>
              <a:t>Abrir terminal na pasta de projetos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868680" y="230428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71920"/>
                </a:solidFill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234440" y="2404872"/>
            <a:ext cx="320040" cy="0"/>
          </a:xfrm>
          <a:prstGeom prst="line">
            <a:avLst/>
          </a:prstGeom>
          <a:noFill/>
          <a:ln w="1905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691640" y="228600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sz="1550">
                <a:solidFill>
                  <a:srgbClr val="12161C"/>
                </a:solidFill>
              </a:rPr>
              <a:t>Executar: npx create-expo-app@latest</a:t>
            </a:r>
            <a:endParaRPr lang="en-US" sz="1550" dirty="0"/>
          </a:p>
          <a:p>
            <a:r>
              <a:rPr sz="1550">
                <a:solidFill>
                  <a:srgbClr val="12161C"/>
                </a:solidFill>
              </a:rPr>
              <a:t>--template blank</a:t>
            </a:r>
          </a:p>
        </p:txBody>
      </p:sp>
      <p:sp>
        <p:nvSpPr>
          <p:cNvPr id="15" name="Text 12"/>
          <p:cNvSpPr/>
          <p:nvPr/>
        </p:nvSpPr>
        <p:spPr>
          <a:xfrm>
            <a:off x="868680" y="280720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71920"/>
                </a:solidFill>
              </a:rPr>
              <a:t>3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234440" y="2907792"/>
            <a:ext cx="320040" cy="0"/>
          </a:xfrm>
          <a:prstGeom prst="line">
            <a:avLst/>
          </a:prstGeom>
          <a:noFill/>
          <a:ln w="1905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691640" y="278892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2161C"/>
                </a:solidFill>
              </a:rPr>
              <a:t>Abrir a pasta no VS Code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868680" y="331012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71920"/>
                </a:solidFill>
              </a:rPr>
              <a:t>4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234440" y="3410712"/>
            <a:ext cx="320040" cy="0"/>
          </a:xfrm>
          <a:prstGeom prst="line">
            <a:avLst/>
          </a:prstGeom>
          <a:noFill/>
          <a:ln w="1905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691640" y="32918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2161C"/>
                </a:solidFill>
              </a:rPr>
              <a:t>Executar: npx expo start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868680" y="381304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71920"/>
                </a:solidFill>
              </a:rPr>
              <a:t>5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1234440" y="3913632"/>
            <a:ext cx="320040" cy="0"/>
          </a:xfrm>
          <a:prstGeom prst="line">
            <a:avLst/>
          </a:prstGeom>
          <a:noFill/>
          <a:ln w="1905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691640" y="379476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2161C"/>
                </a:solidFill>
              </a:rPr>
              <a:t>Abrir no celular com Expo Go ou emulador</a:t>
            </a:r>
            <a:endParaRPr lang="en-US" sz="1550" dirty="0"/>
          </a:p>
        </p:txBody>
      </p:sp>
      <p:sp>
        <p:nvSpPr>
          <p:cNvPr id="24" name="Text 21"/>
          <p:cNvSpPr/>
          <p:nvPr/>
        </p:nvSpPr>
        <p:spPr>
          <a:xfrm>
            <a:off x="868680" y="4315968"/>
            <a:ext cx="22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71920"/>
                </a:solidFill>
              </a:rPr>
              <a:t>6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1234440" y="4416552"/>
            <a:ext cx="320040" cy="0"/>
          </a:xfrm>
          <a:prstGeom prst="line">
            <a:avLst/>
          </a:prstGeom>
          <a:noFill/>
          <a:ln w="1905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1691640" y="429768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2161C"/>
                </a:solidFill>
              </a:rPr>
              <a:t>Observar estrutura e comparar</a:t>
            </a:r>
            <a:endParaRPr lang="en-US" sz="1550" dirty="0"/>
          </a:p>
        </p:txBody>
      </p:sp>
      <p:sp>
        <p:nvSpPr>
          <p:cNvPr id="27" name="Shape 24"/>
          <p:cNvSpPr/>
          <p:nvPr/>
        </p:nvSpPr>
        <p:spPr>
          <a:xfrm>
            <a:off x="6812280" y="1828800"/>
            <a:ext cx="4160520" cy="2880360"/>
          </a:xfrm>
          <a:prstGeom prst="roundRect">
            <a:avLst>
              <a:gd name="adj" fmla="val 3175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6995160" y="19568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7F3D0"/>
                </a:solidFill>
              </a:rPr>
              <a:t>React Native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7013448" y="2240280"/>
            <a:ext cx="375818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E3E7E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import { Text, View } from 'react-native';</a:t>
            </a:r>
            <a:endParaRPr lang="en-US" sz="1120" dirty="0"/>
          </a:p>
          <a:p>
            <a:pPr indent="0" marL="0">
              <a:buNone/>
            </a:pP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E3E7E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export default function App() {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E3E7E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return (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E3E7E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&lt;View&gt;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E3E7E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  &lt;Text&gt;Olá, Mobile!&lt;/Text&gt;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E3E7E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&lt;/View&gt;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E3E7E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);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E3E7E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}</a:t>
            </a:r>
            <a:endParaRPr lang="en-US" sz="1120" dirty="0"/>
          </a:p>
        </p:txBody>
      </p:sp>
      <p:sp>
        <p:nvSpPr>
          <p:cNvPr id="30" name="Text 27"/>
          <p:cNvSpPr/>
          <p:nvPr/>
        </p:nvSpPr>
        <p:spPr>
          <a:xfrm>
            <a:off x="6812280" y="498348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71920"/>
                </a:solidFill>
              </a:rPr>
              <a:t>Hoje: executar e comparar. Depois: componentes, estado e eventos.</a:t>
            </a:r>
            <a:endParaRPr lang="en-US" sz="1350" dirty="0"/>
          </a:p>
        </p:txBody>
      </p:sp>
      <p:sp>
        <p:nvSpPr>
          <p:cNvPr id="32" name="Shape 28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33" name="Text 29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38912" y="210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Laboratório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788920" y="210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</a:rPr>
              <a:t>Desenvolvimento Mobile</a:t>
            </a:r>
            <a:endParaRPr lang="en-US" sz="950" dirty="0"/>
          </a:p>
        </p:txBody>
      </p:sp>
      <p:pic>
        <p:nvPicPr>
          <p:cNvPr id="6" name="Image 0" descr="/mnt/data/logo_mesquita_sty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128016"/>
            <a:ext cx="987552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7498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16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Comparando os dois projetos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30352" y="1325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2"/>
                </a:solidFill>
              </a:rPr>
              <a:t>O usuário pode ver algo parecido. O desenvolvedor vê caminhos diferentes.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2880360" y="1828800"/>
            <a:ext cx="24688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3127248" y="2121408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71920"/>
                </a:solidFill>
              </a:rPr>
              <a:t>Projeto nativo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3154680" y="267004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2161C"/>
                </a:solidFill>
              </a:rPr>
              <a:t>Android Studio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2161C"/>
                </a:solidFill>
              </a:rPr>
              <a:t>Kotlin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2161C"/>
                </a:solidFill>
              </a:rPr>
              <a:t>Android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903720" y="1828800"/>
            <a:ext cx="24688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7150608" y="2121408"/>
            <a:ext cx="1965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71920"/>
                </a:solidFill>
              </a:rPr>
              <a:t>Projeto híbrido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7178040" y="2633472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2161C"/>
                </a:solidFill>
              </a:rPr>
              <a:t>VS Code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2161C"/>
                </a:solidFill>
              </a:rPr>
              <a:t>JavaScript/TS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2161C"/>
                </a:solidFill>
              </a:rPr>
              <a:t>React Native / Expo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468880" y="3200400"/>
            <a:ext cx="411480" cy="0"/>
          </a:xfrm>
          <a:prstGeom prst="line">
            <a:avLst/>
          </a:prstGeom>
          <a:noFill/>
          <a:ln w="25400">
            <a:solidFill>
              <a:srgbClr val="5D6673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6" name="Shape 23"/>
          <p:cNvSpPr/>
          <p:nvPr/>
        </p:nvSpPr>
        <p:spPr>
          <a:xfrm>
            <a:off x="5349240" y="3200400"/>
            <a:ext cx="1554480" cy="0"/>
          </a:xfrm>
          <a:prstGeom prst="line">
            <a:avLst/>
          </a:prstGeom>
          <a:noFill/>
          <a:ln w="25400">
            <a:solidFill>
              <a:srgbClr val="5D6673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9372600" y="3200400"/>
            <a:ext cx="274320" cy="0"/>
          </a:xfrm>
          <a:prstGeom prst="line">
            <a:avLst/>
          </a:prstGeom>
          <a:noFill/>
          <a:ln w="25400">
            <a:solidFill>
              <a:srgbClr val="5D6673"/>
            </a:solidFill>
            <a:prstDash val="solid"/>
            <a:headEnd type="none"/>
            <a:tailEnd type="triangle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234440" y="516636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161C"/>
                </a:solidFill>
              </a:rPr>
              <a:t>Pergunta final: se o resultado visual é parecido, o que muda para quem desenvolve?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31" name="Text 27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20</a:t>
            </a:r>
            <a:endParaRPr lang="en-US" sz="850" dirty="0"/>
          </a:p>
        </p:txBody>
      </p:sp>
      <p:sp>
        <p:nvSpPr>
          <p:cNvPr id="33" name="Rounded Rectangle 32"/>
          <p:cNvSpPr/>
          <p:nvPr/>
        </p:nvSpPr>
        <p:spPr>
          <a:xfrm>
            <a:off x="1112892" y="1920240"/>
            <a:ext cx="1248936" cy="2560320"/>
          </a:xfrm>
          <a:prstGeom prst="roundRect">
            <a:avLst>
              <a:gd name="adj" fmla="val 14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175338" y="1982686"/>
            <a:ext cx="1124044" cy="2435428"/>
          </a:xfrm>
          <a:prstGeom prst="roundRect">
            <a:avLst>
              <a:gd name="adj" fmla="val 11000"/>
            </a:avLst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50020" y="2019262"/>
            <a:ext cx="374680" cy="64008"/>
          </a:xfrm>
          <a:prstGeom prst="roundRect">
            <a:avLst>
              <a:gd name="adj" fmla="val 50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1452" y="3379622"/>
            <a:ext cx="1431816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Olá, Mobile!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1452" y="3712464"/>
            <a:ext cx="1431816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9AA4B2"/>
                </a:solidFill>
                <a:latin typeface="Cascadia Mono"/>
              </a:rPr>
              <a:t>Nativo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08252" y="1920240"/>
            <a:ext cx="1248936" cy="2560320"/>
          </a:xfrm>
          <a:prstGeom prst="roundRect">
            <a:avLst>
              <a:gd name="adj" fmla="val 14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770698" y="1982686"/>
            <a:ext cx="1124044" cy="2435428"/>
          </a:xfrm>
          <a:prstGeom prst="roundRect">
            <a:avLst>
              <a:gd name="adj" fmla="val 11000"/>
            </a:avLst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145380" y="2019262"/>
            <a:ext cx="374680" cy="64008"/>
          </a:xfrm>
          <a:prstGeom prst="roundRect">
            <a:avLst>
              <a:gd name="adj" fmla="val 50000"/>
            </a:avLst>
          </a:prstGeom>
          <a:solidFill>
            <a:srgbClr val="1B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16812" y="3379622"/>
            <a:ext cx="1431816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Olá, Mobile!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16812" y="3712464"/>
            <a:ext cx="1431816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50">
                <a:solidFill>
                  <a:srgbClr val="9AA4B2"/>
                </a:solidFill>
                <a:latin typeface="Cascadia Mono"/>
              </a:rPr>
              <a:t>Híbrido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8680" y="5138928"/>
            <a:ext cx="10469880" cy="786384"/>
          </a:xfrm>
          <a:prstGeom prst="roundRect">
            <a:avLst>
              <a:gd name="adj" fmla="val 6000"/>
            </a:avLst>
          </a:prstGeom>
          <a:solidFill>
            <a:srgbClr val="FFF6F6"/>
          </a:solidFill>
          <a:ln w="12700">
            <a:solidFill>
              <a:srgbClr val="F3C9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7280" y="5266944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D71920"/>
                </a:solidFill>
                <a:latin typeface="Cascadia Mono"/>
              </a:rPr>
              <a:t>TEMPO ATÉ A PRIMEIRA TELA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" y="5522976"/>
            <a:ext cx="4206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61C"/>
                </a:solidFill>
                <a:latin typeface="Aptos"/>
              </a:rPr>
              <a:t>Nativo: minutos (build do Gradle)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5522976"/>
            <a:ext cx="4206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2161C"/>
                </a:solidFill>
                <a:latin typeface="Aptos"/>
              </a:rPr>
              <a:t>Expo: segundos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35040" y="5266944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5A6472"/>
                </a:solidFill>
                <a:latin typeface="Cascadia Mono"/>
              </a:rPr>
              <a:t>É O QUE VOCÊS SENTIRAM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38912" y="210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Aula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788920" y="210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</a:rPr>
              <a:t>Desenvolvimento Mobile</a:t>
            </a:r>
            <a:endParaRPr lang="en-US" sz="950" dirty="0"/>
          </a:p>
        </p:txBody>
      </p:sp>
      <p:pic>
        <p:nvPicPr>
          <p:cNvPr id="6" name="Image 0" descr="/mnt/data/logo_mesquita_sty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128016"/>
            <a:ext cx="987552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7498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161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Fechamento da aula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30352" y="13258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2"/>
                </a:solidFill>
              </a:rPr>
              <a:t>Registrar o que ficou claro e preparar a próxima aula.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68680" y="1828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71920"/>
                </a:solidFill>
              </a:rPr>
              <a:t>Responda individualmente: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960120" y="2432304"/>
            <a:ext cx="109728" cy="109728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188720" y="23774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dirty="0">
                <a:solidFill>
                  <a:srgbClr val="12161C"/>
                </a:solidFill>
              </a:rPr>
              <a:t>Qual diferença você percebeu entre web e mobile?</a:t>
            </a:r>
            <a:endParaRPr lang="en-US" sz="1520" dirty="0"/>
          </a:p>
        </p:txBody>
      </p:sp>
      <p:sp>
        <p:nvSpPr>
          <p:cNvPr id="12" name="Shape 9"/>
          <p:cNvSpPr/>
          <p:nvPr/>
        </p:nvSpPr>
        <p:spPr>
          <a:xfrm>
            <a:off x="960120" y="2935224"/>
            <a:ext cx="109728" cy="109728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188720" y="28803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dirty="0">
                <a:solidFill>
                  <a:srgbClr val="12161C"/>
                </a:solidFill>
              </a:rPr>
              <a:t>O que é um aplicativo nativo?</a:t>
            </a:r>
            <a:endParaRPr lang="en-US" sz="1520" dirty="0"/>
          </a:p>
        </p:txBody>
      </p:sp>
      <p:sp>
        <p:nvSpPr>
          <p:cNvPr id="14" name="Shape 11"/>
          <p:cNvSpPr/>
          <p:nvPr/>
        </p:nvSpPr>
        <p:spPr>
          <a:xfrm>
            <a:off x="960120" y="3438144"/>
            <a:ext cx="109728" cy="109728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188720" y="33832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dirty="0">
                <a:solidFill>
                  <a:srgbClr val="12161C"/>
                </a:solidFill>
              </a:rPr>
              <a:t>O que é um aplicativo híbrido/multiplataforma?</a:t>
            </a:r>
            <a:endParaRPr lang="en-US" sz="1520" dirty="0"/>
          </a:p>
        </p:txBody>
      </p:sp>
      <p:sp>
        <p:nvSpPr>
          <p:cNvPr id="16" name="Shape 13"/>
          <p:cNvSpPr/>
          <p:nvPr/>
        </p:nvSpPr>
        <p:spPr>
          <a:xfrm>
            <a:off x="960120" y="3941064"/>
            <a:ext cx="109728" cy="109728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188720" y="3886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dirty="0">
                <a:solidFill>
                  <a:srgbClr val="12161C"/>
                </a:solidFill>
              </a:rPr>
              <a:t>Qual parte do laboratório gerou mais dúvida?</a:t>
            </a:r>
            <a:endParaRPr lang="en-US" sz="1520" dirty="0"/>
          </a:p>
        </p:txBody>
      </p:sp>
      <p:sp>
        <p:nvSpPr>
          <p:cNvPr id="18" name="Shape 15"/>
          <p:cNvSpPr/>
          <p:nvPr/>
        </p:nvSpPr>
        <p:spPr>
          <a:xfrm>
            <a:off x="960120" y="4443984"/>
            <a:ext cx="109728" cy="109728"/>
          </a:xfrm>
          <a:prstGeom prst="ellipse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188720" y="43891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dirty="0">
                <a:solidFill>
                  <a:srgbClr val="12161C"/>
                </a:solidFill>
              </a:rPr>
              <a:t>Que tipo de app você gostaria de desenvolver durante a disciplina?</a:t>
            </a:r>
            <a:endParaRPr lang="en-US" sz="1520" dirty="0"/>
          </a:p>
        </p:txBody>
      </p:sp>
      <p:sp>
        <p:nvSpPr>
          <p:cNvPr id="20" name="Shape 17"/>
          <p:cNvSpPr/>
          <p:nvPr/>
        </p:nvSpPr>
        <p:spPr>
          <a:xfrm>
            <a:off x="9098280" y="1783080"/>
            <a:ext cx="2011680" cy="3566160"/>
          </a:xfrm>
          <a:prstGeom prst="roundRect">
            <a:avLst>
              <a:gd name="adj" fmla="val 8182"/>
            </a:avLst>
          </a:prstGeom>
          <a:solidFill>
            <a:srgbClr val="FFF9E6"/>
          </a:solidFill>
          <a:ln w="12700">
            <a:solidFill>
              <a:srgbClr val="F1D777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9372600" y="2148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71920"/>
                </a:solidFill>
              </a:rPr>
              <a:t>Próxima aula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9372600" y="2743200"/>
            <a:ext cx="146304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2161C"/>
                </a:solidFill>
              </a:rPr>
              <a:t>Fundamentos para começar a desenvolver no ecossistema Android.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mnt/data/logo_mesquita_styliz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502920"/>
            <a:ext cx="2103120" cy="146304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6" name="Text 22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22</a:t>
            </a:r>
            <a:endParaRPr lang="en-US" sz="850" dirty="0"/>
          </a:p>
        </p:txBody>
      </p:sp>
      <p:pic>
        <p:nvPicPr>
          <p:cNvPr id="31" name="Picture 30" descr="javascri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7213" y="2770632"/>
            <a:ext cx="481732" cy="481732"/>
          </a:xfrm>
          <a:prstGeom prst="rect">
            <a:avLst/>
          </a:prstGeom>
        </p:spPr>
      </p:pic>
      <p:pic>
        <p:nvPicPr>
          <p:cNvPr id="37" name="Picture 36" descr="kotl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7373" y="2770632"/>
            <a:ext cx="481732" cy="481732"/>
          </a:xfrm>
          <a:prstGeom prst="rect">
            <a:avLst/>
          </a:prstGeom>
        </p:spPr>
      </p:pic>
      <p:pic>
        <p:nvPicPr>
          <p:cNvPr id="43" name="Picture 42" descr="reac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533" y="2770632"/>
            <a:ext cx="481732" cy="4817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68680" y="1234440"/>
            <a:ext cx="7315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12161C"/>
                </a:solidFill>
                <a:latin typeface="Aptos"/>
              </a:rPr>
              <a:t>Obrigado!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" y="2057400"/>
            <a:ext cx="7863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6472"/>
                </a:solidFill>
                <a:latin typeface="Aptos"/>
              </a:rPr>
              <a:t>Dúvidas, comentários ou dificuldades do laboratório?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8680" y="2788920"/>
            <a:ext cx="5120640" cy="228600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299923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D71920"/>
                </a:solidFill>
                <a:latin typeface="Cascadia Mono"/>
              </a:rPr>
              <a:t>NA PRÓXIMA AULA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3337560"/>
            <a:ext cx="45720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2161C"/>
                </a:solidFill>
                <a:latin typeface="Aptos"/>
              </a:rPr>
              <a:t>Fundamentos do ecossistema Android</a:t>
            </a:r>
          </a:p>
          <a:p>
            <a:pPr algn="l"/>
            <a:r>
              <a:rPr sz="1250" b="0">
                <a:solidFill>
                  <a:srgbClr val="12161C"/>
                </a:solidFill>
                <a:latin typeface="Aptos"/>
              </a:rPr>
              <a:t/>
            </a:r>
          </a:p>
          <a:p>
            <a:pPr algn="l"/>
            <a:r>
              <a:rPr sz="1250" b="0">
                <a:solidFill>
                  <a:srgbClr val="12161C"/>
                </a:solidFill>
                <a:latin typeface="Aptos"/>
              </a:rPr>
              <a:t>• Estrutura de um projeto</a:t>
            </a:r>
          </a:p>
          <a:p>
            <a:pPr algn="l"/>
            <a:r>
              <a:rPr sz="1250" b="0">
                <a:solidFill>
                  <a:srgbClr val="12161C"/>
                </a:solidFill>
                <a:latin typeface="Aptos"/>
              </a:rPr>
              <a:t>• Kotlin: o básico que vamos usar</a:t>
            </a:r>
          </a:p>
          <a:p>
            <a:pPr algn="l"/>
            <a:r>
              <a:rPr sz="1250" b="0">
                <a:solidFill>
                  <a:srgbClr val="12161C"/>
                </a:solidFill>
                <a:latin typeface="Aptos"/>
              </a:rPr>
              <a:t>• Primeira tela de verdade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2788920"/>
            <a:ext cx="5120640" cy="2286000"/>
          </a:xfrm>
          <a:prstGeom prst="roundRect">
            <a:avLst>
              <a:gd name="adj" fmla="val 6000"/>
            </a:avLst>
          </a:prstGeom>
          <a:solidFill>
            <a:srgbClr val="FFF9E6"/>
          </a:solidFill>
          <a:ln w="12700">
            <a:solidFill>
              <a:srgbClr val="F1D7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37960" y="299923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8A6D00"/>
                </a:solidFill>
                <a:latin typeface="Cascadia Mono"/>
              </a:rPr>
              <a:t>PARA PENSAR ATÉ LÁ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37960" y="3337560"/>
            <a:ext cx="45720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2161C"/>
                </a:solidFill>
                <a:latin typeface="Aptos"/>
              </a:rPr>
              <a:t>Escolha um app que você usa todo dia.</a:t>
            </a:r>
          </a:p>
          <a:p>
            <a:pPr algn="l"/>
            <a:r>
              <a:rPr sz="1250" b="0">
                <a:solidFill>
                  <a:srgbClr val="12161C"/>
                </a:solidFill>
                <a:latin typeface="Aptos"/>
              </a:rPr>
              <a:t/>
            </a:r>
          </a:p>
          <a:p>
            <a:pPr algn="l"/>
            <a:r>
              <a:rPr sz="1250" b="0">
                <a:solidFill>
                  <a:srgbClr val="12161C"/>
                </a:solidFill>
                <a:latin typeface="Aptos"/>
              </a:rPr>
              <a:t>Ele precisaria ser nativo?</a:t>
            </a:r>
          </a:p>
          <a:p>
            <a:pPr algn="l"/>
            <a:r>
              <a:rPr sz="1250" b="0">
                <a:solidFill>
                  <a:srgbClr val="12161C"/>
                </a:solidFill>
                <a:latin typeface="Aptos"/>
              </a:rPr>
              <a:t>Qual requisito faria você mudar</a:t>
            </a:r>
          </a:p>
          <a:p>
            <a:pPr algn="l"/>
            <a:r>
              <a:rPr sz="1250" b="0">
                <a:solidFill>
                  <a:srgbClr val="12161C"/>
                </a:solidFill>
                <a:latin typeface="Aptos"/>
              </a:rPr>
              <a:t>de ideia?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38912" y="210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Aula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788920" y="210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</a:rPr>
              <a:t>Desenvolvimento Mobile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02920" y="7498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sz="3000" b="1">
                <a:solidFill>
                  <a:srgbClr val="12161C"/>
                </a:solidFill>
                <a:latin typeface="Aptos Display"/>
              </a:rPr>
              <a:t>E o meio-termo? PWA</a:t>
            </a:r>
            <a:endParaRPr lang="en-US" sz="3000" dirty="0"/>
          </a:p>
        </p:txBody>
      </p:sp>
      <p:sp>
        <p:nvSpPr>
          <p:cNvPr id="26" name="Shape 22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27" name="Text 23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28" name="Text 24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08</a:t>
            </a:r>
            <a:endParaRPr lang="en-US" sz="850" dirty="0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128016"/>
            <a:ext cx="987552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68680" y="1371600"/>
            <a:ext cx="9601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472"/>
                </a:solidFill>
                <a:latin typeface="Aptos"/>
              </a:rPr>
              <a:t>A fronteira entre Web e Mobile é um espectro, não uma parede.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88720" y="2011680"/>
            <a:ext cx="3108960" cy="23317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2240280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5A6472"/>
                </a:solidFill>
                <a:latin typeface="Cascadia Mono"/>
              </a:rPr>
              <a:t>WEB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256032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2161C"/>
                </a:solidFill>
                <a:latin typeface="Aptos"/>
              </a:rPr>
              <a:t>SITE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3127248"/>
            <a:ext cx="2560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2"/>
                </a:solidFill>
                <a:latin typeface="Aptos"/>
              </a:rPr>
              <a:t>Aberto pelo navegador,</a:t>
            </a:r>
          </a:p>
          <a:p>
            <a:pPr algn="l"/>
            <a:r>
              <a:rPr sz="1200" b="0">
                <a:solidFill>
                  <a:srgbClr val="5A6472"/>
                </a:solidFill>
                <a:latin typeface="Aptos"/>
              </a:rPr>
              <a:t>por uma URL.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00600" y="2011680"/>
            <a:ext cx="3108960" cy="2331720"/>
          </a:xfrm>
          <a:prstGeom prst="roundRect">
            <a:avLst>
              <a:gd name="adj" fmla="val 6000"/>
            </a:avLst>
          </a:prstGeom>
          <a:solidFill>
            <a:srgbClr val="FFF9E6"/>
          </a:solidFill>
          <a:ln w="1270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74920" y="2240280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5A6472"/>
                </a:solidFill>
                <a:latin typeface="Cascadia Mono"/>
              </a:rPr>
              <a:t>MEIO-TERMO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74920" y="256032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2161C"/>
                </a:solidFill>
                <a:latin typeface="Aptos"/>
              </a:rPr>
              <a:t>PWA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3127248"/>
            <a:ext cx="2560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2"/>
                </a:solidFill>
                <a:latin typeface="Aptos"/>
              </a:rPr>
              <a:t>Site que pode ser instalado</a:t>
            </a:r>
          </a:p>
          <a:p>
            <a:pPr algn="l"/>
            <a:r>
              <a:rPr sz="1200" b="0">
                <a:solidFill>
                  <a:srgbClr val="5A6472"/>
                </a:solidFill>
                <a:latin typeface="Aptos"/>
              </a:rPr>
              <a:t>e abrir sem barra do navegador.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12480" y="2011680"/>
            <a:ext cx="3108960" cy="2331720"/>
          </a:xfrm>
          <a:prstGeom prst="roundRect">
            <a:avLst>
              <a:gd name="adj" fmla="val 6000"/>
            </a:avLst>
          </a:prstGeom>
          <a:solidFill>
            <a:srgbClr val="FFF6F6"/>
          </a:solidFill>
          <a:ln w="1270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240280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5A6472"/>
                </a:solidFill>
                <a:latin typeface="Cascadia Mono"/>
              </a:rPr>
              <a:t>NATIVO/HÍBRIDO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256032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2161C"/>
                </a:solidFill>
                <a:latin typeface="Aptos"/>
              </a:rPr>
              <a:t>APP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3127248"/>
            <a:ext cx="25603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472"/>
                </a:solidFill>
                <a:latin typeface="Aptos"/>
              </a:rPr>
              <a:t>Instalado pela loja,</a:t>
            </a:r>
          </a:p>
          <a:p>
            <a:pPr algn="l"/>
            <a:r>
              <a:rPr sz="1200" b="0">
                <a:solidFill>
                  <a:srgbClr val="5A6472"/>
                </a:solidFill>
                <a:latin typeface="Aptos"/>
              </a:rPr>
              <a:t>integrado ao sistema.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452628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6472"/>
                </a:solidFill>
                <a:latin typeface="Cascadia Mono"/>
              </a:rPr>
              <a:t>menos integrado com o aparelho  ──────────────────────▶  mais integrado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88720" y="5029200"/>
            <a:ext cx="9829800" cy="10515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463040" y="5175504"/>
            <a:ext cx="9326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D71920"/>
                </a:solidFill>
                <a:latin typeface="Cascadia Mono"/>
              </a:rPr>
              <a:t>POR QUE ISSO IMPORTA NA AULA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63040" y="5449824"/>
            <a:ext cx="9326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2161C"/>
                </a:solidFill>
                <a:latin typeface="Aptos"/>
              </a:rPr>
              <a:t>Alguém vai perguntar do site que pede “adicionar à tela de início”. A resposta não quebra o que vimos: reforça que a diferença está em como o software é executado e distribuído, não no aparelho onde ele aparece.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FFD322"/>
          </a:solidFill>
          <a:ln w="12700">
            <a:solidFill>
              <a:srgbClr val="FFD32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38912" y="210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19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Aula 01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2788920" y="210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2"/>
                </a:solidFill>
              </a:rPr>
              <a:t>Desenvolvimento Mobile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02920" y="7498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sz="3000" b="1">
                <a:solidFill>
                  <a:srgbClr val="12161C"/>
                </a:solidFill>
                <a:latin typeface="Aptos Display"/>
              </a:rPr>
              <a:t>Mitos que vamos desfazer</a:t>
            </a:r>
            <a:endParaRPr lang="en-US" sz="3000" dirty="0"/>
          </a:p>
        </p:txBody>
      </p:sp>
      <p:sp>
        <p:nvSpPr>
          <p:cNvPr id="46" name="Shape 42"/>
          <p:cNvSpPr/>
          <p:nvPr/>
        </p:nvSpPr>
        <p:spPr>
          <a:xfrm>
            <a:off x="621792" y="6455664"/>
            <a:ext cx="11018520" cy="0"/>
          </a:xfrm>
          <a:prstGeom prst="line">
            <a:avLst/>
          </a:prstGeom>
          <a:noFill/>
          <a:ln w="12700">
            <a:solidFill>
              <a:srgbClr val="E7E4DE"/>
            </a:solidFill>
            <a:prstDash val="solid"/>
          </a:ln>
        </p:spPr>
        <p:txBody>
          <a:bodyPr/>
          <a:p/>
        </p:txBody>
      </p:sp>
      <p:sp>
        <p:nvSpPr>
          <p:cNvPr id="47" name="Text 43"/>
          <p:cNvSpPr/>
          <p:nvPr/>
        </p:nvSpPr>
        <p:spPr>
          <a:xfrm>
            <a:off x="621792" y="653796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</a:rPr>
              <a:t>Emanuel Nascente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1064240" y="6519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sz="850" b="1">
                <a:solidFill>
                  <a:srgbClr val="5A6472"/>
                </a:solidFill>
              </a:rPr>
              <a:t>13</a:t>
            </a:r>
            <a:endParaRPr lang="en-US" sz="850" dirty="0"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128016"/>
            <a:ext cx="987552" cy="685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8680" y="1371600"/>
            <a:ext cx="8686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472"/>
                </a:solidFill>
                <a:latin typeface="Aptos"/>
              </a:rPr>
              <a:t>Frases comuns que não sobrevivem a um projeto real.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8680" y="1965960"/>
            <a:ext cx="5138928" cy="1170432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69848" y="2240279"/>
            <a:ext cx="237744" cy="237744"/>
          </a:xfrm>
          <a:prstGeom prst="ellipse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17319" y="2148840"/>
            <a:ext cx="4361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2161C"/>
                </a:solidFill>
                <a:latin typeface="Aptos"/>
              </a:rPr>
              <a:t>“Nativo é sempre mais rápido”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19" y="2587752"/>
            <a:ext cx="436168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2"/>
                </a:solidFill>
                <a:latin typeface="Aptos"/>
              </a:rPr>
              <a:t>Depende do app e de quem escreveu.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08776" y="1965960"/>
            <a:ext cx="5138928" cy="1170432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409944" y="2240279"/>
            <a:ext cx="237744" cy="237744"/>
          </a:xfrm>
          <a:prstGeom prst="ellipse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57416" y="2148840"/>
            <a:ext cx="4361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2161C"/>
                </a:solidFill>
                <a:latin typeface="Aptos"/>
              </a:rPr>
              <a:t>“Híbrido não acessa câmera nem GPS”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57416" y="2587752"/>
            <a:ext cx="436168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2"/>
                </a:solidFill>
                <a:latin typeface="Aptos"/>
              </a:rPr>
              <a:t>Acessa. React Native e Flutter também.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680" y="3337560"/>
            <a:ext cx="5138928" cy="1170432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69848" y="3611879"/>
            <a:ext cx="237744" cy="237744"/>
          </a:xfrm>
          <a:prstGeom prst="ellipse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17319" y="3520440"/>
            <a:ext cx="4361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2161C"/>
                </a:solidFill>
                <a:latin typeface="Aptos"/>
              </a:rPr>
              <a:t>“Bluetooth obriga usar nativo”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17319" y="3959352"/>
            <a:ext cx="436168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2"/>
                </a:solidFill>
                <a:latin typeface="Aptos"/>
              </a:rPr>
              <a:t>Não obriga. Muda o custo da integração.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08776" y="3337560"/>
            <a:ext cx="5138928" cy="1170432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409944" y="3611879"/>
            <a:ext cx="237744" cy="237744"/>
          </a:xfrm>
          <a:prstGeom prst="ellipse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✕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57416" y="3520440"/>
            <a:ext cx="4361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2161C"/>
                </a:solidFill>
                <a:latin typeface="Aptos"/>
              </a:rPr>
              <a:t>“Multiplataforma é sempre mais barato”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57416" y="3959352"/>
            <a:ext cx="436168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2"/>
                </a:solidFill>
                <a:latin typeface="Aptos"/>
              </a:rPr>
              <a:t>Só se a equipe já dominar o framework.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68680" y="4709160"/>
            <a:ext cx="5138928" cy="1170432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069848" y="4983480"/>
            <a:ext cx="237744" cy="237744"/>
          </a:xfrm>
          <a:prstGeom prst="ellipse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✕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17319" y="4892040"/>
            <a:ext cx="4361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2161C"/>
                </a:solidFill>
                <a:latin typeface="Aptos"/>
              </a:rPr>
              <a:t>“Site no celular vira app”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17319" y="5330952"/>
            <a:ext cx="436168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2"/>
                </a:solidFill>
                <a:latin typeface="Aptos"/>
              </a:rPr>
              <a:t>O ambiente de execução continua sendo o navegador.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08776" y="4709160"/>
            <a:ext cx="5138928" cy="1170432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09944" y="4983480"/>
            <a:ext cx="237744" cy="237744"/>
          </a:xfrm>
          <a:prstGeom prst="ellipse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✕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57416" y="4892040"/>
            <a:ext cx="436168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2161C"/>
                </a:solidFill>
                <a:latin typeface="Aptos"/>
              </a:rPr>
              <a:t>“Multiplataforma = 100% do código”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57416" y="5330952"/>
            <a:ext cx="4361688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472"/>
                </a:solidFill>
                <a:latin typeface="Aptos"/>
              </a:rPr>
              <a:t>Quase sempre sobra código por plataforma.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8680" y="6108192"/>
            <a:ext cx="104241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D71920"/>
                </a:solidFill>
                <a:latin typeface="Aptos"/>
              </a:rPr>
              <a:t>Nenhuma dessas frases é regra. Todas são trade-offs que dependem do contexto.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Escola Técnica Mesquita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01 — Introdução ao Desenvolvimento Mobile</dc:title>
  <dc:subject>Aula 01 - Desenvolvimento Mobile</dc:subject>
  <dc:creator>Emanuel Nascente</dc:creator>
  <cp:lastModifiedBy>Emanuel Nascente</cp:lastModifiedBy>
  <cp:revision>1</cp:revision>
  <dcterms:created xsi:type="dcterms:W3CDTF">2026-08-28T16:19:05Z</dcterms:created>
  <dcterms:modified xsi:type="dcterms:W3CDTF">2026-08-28T16:19:05Z</dcterms:modified>
</cp:coreProperties>
</file>