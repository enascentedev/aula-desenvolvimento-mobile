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27"/>
    <p:sldId id="263" r:id="rId9"/>
    <p:sldId id="264" r:id="rId10"/>
    <p:sldId id="265" r:id="rId11"/>
    <p:sldId id="266" r:id="rId12"/>
    <p:sldId id="277" r:id="rId28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8.xml"/><Relationship Id="rId28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a aula com acolhimento. Dizer que hoje não é uma aula pesada de código: o foco é entender a disciplina, conhecer a turma e ter o primeiro contato prático com ambientes mobile.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slide para pactuar tempo: metade inicial mais conversada; metade final no laboratório. Se a apresentação dos alunos for mais rápida, avançar para a introdução ainda na primeira metade.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curta. Evitar se alongar. Mostrar disponibilidade para dúvidas e deixar claro que o foco será aprender fazendo, mas com base teórica suficiente para entender as escolhas técnicas.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Controlar o tempo com gentileza. A apresentação é importante, mas não pode consumir toda a aula. Anotar tecnologias citadas pela turma: Java, JavaScript, PHP, Python, banco, Git,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aprofundar cada item. Mostrar a jornada geral para reduzir ansiedade e criar mapa mental do semestre. Reforçar que a primeira aula começa pelo primeiro tópico da ementa.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Fazer a pergunta e ouvir respostas antes de conceituar. Não tratar como pegadinha: o objetivo é mostrar que existem diferentes formas de entregar software no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deve conectar com conhecimento prévio de web. Os alunos provavelmente já conhecem navegador, HTML/CSS/JS e servidor. Mostrar que mobile tem outra camada: instalação, sistema operacional e recursos do aparelho.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Exemplos simples. Perguntar quais desses recursos os aplicativos que eles usam acessam. Não entrar em permissões ainda; apenas introduzir a ideia.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nativo não significa “melhor sempre”. Significa que o app é feito com ferramentas e linguagem próprias daquele ecossistema. Para a disciplina, o foco prático principal tende a ser Android.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ementa usa o termo híbrido e cita React Native e Flutter. Neste momento, manter linguagem simples: uma solução permite compartilhar parte do desenvolvimento. Depois podemos explicar as diferenças técnicas entre híbrido, cross-platform e native bridge.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a tabela de forma rápida. O ponto central é decisão técnica orientada a contexto: equipe, prazo, orçamento, recursos do dispositivo e público-alvo.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Pode ser feito rapidamente em duplas. Serve para consolidar a diferença antes do intervalo. O professor não precisa corrigir como certo/errado; deve explorar argumentos.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Intervalo. Na volta, abrir rapidamente os ambientes. Se houver atraso nas apresentações, este slide marca a transição para a parte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o objetivo é contato inicial e comparação. Se algum computador apresentar problema, formar duplas ou usar demonstração projetada.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também um aviso para preparação do laboratório. Se algo não estiver instalado, priorizar demonstração coletiva e deixar a instalação detalhada para um material de apoio.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explicar toda a classe. Apenas mostrar que a aplicação nativa tem estrutura própria do Android e usa Kotlin. Se o template vier diferente, adaptar ao ambiente instalado.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Expo é uma forma didática para a primeira aula, porque reduz a complexidade inicial. Explicar que Flutter também será mencionado na disciplina, mas não é necessário instalar tudo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principal fechamento conceitual da prática. O aluno precisa sair entendendo que o “app final” pode parecer igual, mas a tecnologia, fluxo de desenvolvimento e manutenção são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Pode ser feito em papel, formulário ou discussão rápida. Guardar as respostas, pois ajudarão a ajustar a aula 2 e o ritmo da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retomando a pergunta da aula: existem diferentes formas de entregar software no celular. Na próxima aula começamos a avançar na base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-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-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47472" y="0"/>
            <a:ext cx="14630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438912"/>
            <a:ext cx="2240280" cy="1554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0972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1216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Desenvolvimento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1216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Mobile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04672" y="27889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</a:rPr>
              <a:t>Aula 01 — Introdução, apresentação da turma e primeiro laboratório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5394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1920"/>
                </a:solidFill>
              </a:rPr>
              <a:t>Professor: Emanuel Nascente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5760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</a:rPr>
              <a:t>Curso Técnico em Informática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01</a:t>
            </a:r>
            <a:endParaRPr lang="en-US" sz="850" dirty="0"/>
          </a:p>
        </p:txBody>
      </p:sp>
      <p:sp>
        <p:nvSpPr>
          <p:cNvPr id="30" name="Rounded Rectangle 29"/>
          <p:cNvSpPr/>
          <p:nvPr/>
        </p:nvSpPr>
        <p:spPr>
          <a:xfrm>
            <a:off x="7591193" y="2423160"/>
            <a:ext cx="1048214" cy="2148840"/>
          </a:xfrm>
          <a:prstGeom prst="roundRect">
            <a:avLst>
              <a:gd name="adj" fmla="val 14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43603" y="2475570"/>
            <a:ext cx="943394" cy="2044020"/>
          </a:xfrm>
          <a:prstGeom prst="roundRect">
            <a:avLst>
              <a:gd name="adj" fmla="val 11000"/>
            </a:avLst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58068" y="2512146"/>
            <a:ext cx="314464" cy="64008"/>
          </a:xfrm>
          <a:prstGeom prst="roundRect">
            <a:avLst>
              <a:gd name="adj" fmla="val 50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javascri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729" y="3024835"/>
            <a:ext cx="503142" cy="50314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99753" y="3647998"/>
            <a:ext cx="123109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9753" y="3927348"/>
            <a:ext cx="123109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9AA4B2"/>
                </a:solidFill>
                <a:latin typeface="Cascadia Mono"/>
              </a:rPr>
              <a:t>Browser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26801" y="2423160"/>
            <a:ext cx="1048214" cy="2148840"/>
          </a:xfrm>
          <a:prstGeom prst="roundRect">
            <a:avLst>
              <a:gd name="adj" fmla="val 14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79211" y="2475570"/>
            <a:ext cx="943394" cy="2044020"/>
          </a:xfrm>
          <a:prstGeom prst="roundRect">
            <a:avLst>
              <a:gd name="adj" fmla="val 11000"/>
            </a:avLst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93676" y="2512146"/>
            <a:ext cx="314464" cy="64008"/>
          </a:xfrm>
          <a:prstGeom prst="roundRect">
            <a:avLst>
              <a:gd name="adj" fmla="val 50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kotl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337" y="3024835"/>
            <a:ext cx="503142" cy="50314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935361" y="3647998"/>
            <a:ext cx="123109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NATIVO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361" y="3927348"/>
            <a:ext cx="123109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9AA4B2"/>
                </a:solidFill>
                <a:latin typeface="Cascadia Mono"/>
              </a:rPr>
              <a:t>Android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53265" y="2423160"/>
            <a:ext cx="1048214" cy="2148840"/>
          </a:xfrm>
          <a:prstGeom prst="roundRect">
            <a:avLst>
              <a:gd name="adj" fmla="val 14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505675" y="2475570"/>
            <a:ext cx="943394" cy="2044020"/>
          </a:xfrm>
          <a:prstGeom prst="roundRect">
            <a:avLst>
              <a:gd name="adj" fmla="val 11000"/>
            </a:avLst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820140" y="2512146"/>
            <a:ext cx="314464" cy="64008"/>
          </a:xfrm>
          <a:prstGeom prst="roundRect">
            <a:avLst>
              <a:gd name="adj" fmla="val 50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rea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5801" y="3024835"/>
            <a:ext cx="503142" cy="50314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361825" y="3647998"/>
            <a:ext cx="123109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HÍBRIDO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61825" y="3927348"/>
            <a:ext cx="123109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9AA4B2"/>
                </a:solidFill>
                <a:latin typeface="Cascadia Mono"/>
              </a:rPr>
              <a:t>Multi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Plano da primeira aula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</a:rPr>
              <a:t>4 horas: apresentação, visão geral e laboratório inicial.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1847088"/>
            <a:ext cx="310896" cy="310896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22960" y="19156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353312" y="18379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61C"/>
                </a:solidFill>
              </a:rPr>
              <a:t>Apresentação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794760" y="185623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Professor, alunos e expectativas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2560320"/>
            <a:ext cx="310896" cy="310896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22960" y="26289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353312" y="2551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61C"/>
                </a:solidFill>
              </a:rPr>
              <a:t>Disciplina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794760" y="2569464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O que vamos estudar no semestre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2960" y="3273552"/>
            <a:ext cx="310896" cy="310896"/>
          </a:xfrm>
          <a:prstGeom prst="ellipse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22960" y="334213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161C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353312" y="3264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61C"/>
                </a:solidFill>
              </a:rPr>
              <a:t>Web × Mobile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3794760" y="3282696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Diferenças essenciais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22960" y="3986784"/>
            <a:ext cx="310896" cy="310896"/>
          </a:xfrm>
          <a:prstGeom prst="ellipse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822960" y="405536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161C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353312" y="3977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61C"/>
                </a:solidFill>
              </a:rPr>
              <a:t>Nativo × Híbrido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3794760" y="399592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Como um app pode ser construído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22960" y="4700016"/>
            <a:ext cx="310896" cy="310896"/>
          </a:xfrm>
          <a:prstGeom prst="ellipse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822960" y="47685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161C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353312" y="4690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61C"/>
                </a:solidFill>
              </a:rPr>
              <a:t>Laboratório 01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3794760" y="47091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Primeiro contato com Android Studio e Expo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9372600" y="1828800"/>
            <a:ext cx="2057400" cy="3108960"/>
          </a:xfrm>
          <a:prstGeom prst="roundRect">
            <a:avLst>
              <a:gd name="adj" fmla="val 7111"/>
            </a:avLst>
          </a:prstGeom>
          <a:solidFill>
            <a:srgbClr val="F7F7F5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646920" y="2084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1920"/>
                </a:solidFill>
              </a:rPr>
              <a:t>Meta do encontro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646920" y="2651760"/>
            <a:ext cx="15544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2161C"/>
                </a:solidFill>
              </a:rPr>
              <a:t>Sair sabendo explicar, em linguagem simples, a diferença entre aplicação web, mobile nativa e híbrida/multiplataforma.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Apresentação do professor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</a:rPr>
              <a:t>Criar proximidade e explicar como a disciplina será conduzida.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7240" y="1975104"/>
            <a:ext cx="91440" cy="9144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78408" y="19019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2161C"/>
                </a:solidFill>
              </a:rPr>
              <a:t>Quem sou eu e minha experiência com desenvolvimento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77240" y="2505456"/>
            <a:ext cx="91440" cy="9144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78408" y="243230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2161C"/>
                </a:solidFill>
              </a:rPr>
              <a:t>Como serão as aulas: conceito → demonstração → prática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77240" y="3035808"/>
            <a:ext cx="91440" cy="9144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78408" y="296265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2161C"/>
                </a:solidFill>
              </a:rPr>
              <a:t>O que espero da turma: participação, dúvidas e prática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77240" y="3566160"/>
            <a:ext cx="91440" cy="9144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78408" y="34930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2161C"/>
                </a:solidFill>
              </a:rPr>
              <a:t>Como vamos conectar programação com aplicativos reais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275320" y="1600200"/>
            <a:ext cx="2971800" cy="2880360"/>
          </a:xfrm>
          <a:prstGeom prst="roundRect">
            <a:avLst>
              <a:gd name="adj" fmla="val 5714"/>
            </a:avLst>
          </a:prstGeom>
          <a:solidFill>
            <a:srgbClr val="FFF9E6"/>
          </a:solidFill>
          <a:ln w="12700">
            <a:solidFill>
              <a:srgbClr val="F0D36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5496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61C"/>
                </a:solidFill>
              </a:rPr>
              <a:t>Emanuel Nascente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549640" y="2532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Professor de Desenvolvimento Mobile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41080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2161C"/>
                </a:solidFill>
              </a:rPr>
              <a:t>Aulas com foco em entendimento, exemplos práticos e construção gradual de conhecimento.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Apresentação dos alunos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</a:rPr>
              <a:t>A turma já está no 3º módulo: vamos entender o ponto de partida real.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1783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61C"/>
                </a:solidFill>
              </a:rPr>
              <a:t>Cada aluno responde em até 1 minuto: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304288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68680" y="237286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353312" y="2331720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2161C"/>
                </a:solidFill>
              </a:rPr>
              <a:t>Nome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68680" y="2807208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68680" y="28757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353312" y="2834640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2161C"/>
                </a:solidFill>
              </a:rPr>
              <a:t>O que já estudou/programou no curso?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868680" y="3310128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68680" y="337870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353312" y="3337560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2161C"/>
                </a:solidFill>
              </a:rPr>
              <a:t>Qual linguagem ou tecnologia mais gostou?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868680" y="3813048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68680" y="388162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353312" y="3840480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2161C"/>
                </a:solidFill>
              </a:rPr>
              <a:t>Já tentou criar algum app?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868680" y="4315968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68680" y="438454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353312" y="4343400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2161C"/>
                </a:solidFill>
              </a:rPr>
              <a:t>O que espera aprender nesta disciplina?</a:t>
            </a:r>
            <a:endParaRPr lang="en-US" sz="1550" dirty="0"/>
          </a:p>
        </p:txBody>
      </p:sp>
      <p:sp>
        <p:nvSpPr>
          <p:cNvPr id="25" name="Shape 22"/>
          <p:cNvSpPr/>
          <p:nvPr/>
        </p:nvSpPr>
        <p:spPr>
          <a:xfrm>
            <a:off x="7955280" y="2011680"/>
            <a:ext cx="3154680" cy="2651760"/>
          </a:xfrm>
          <a:prstGeom prst="roundRect">
            <a:avLst>
              <a:gd name="adj" fmla="val 6207"/>
            </a:avLst>
          </a:prstGeom>
          <a:solidFill>
            <a:srgbClr val="F7F7F5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827532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71920"/>
                </a:solidFill>
              </a:rPr>
              <a:t>Regra de tempo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302752" y="2880360"/>
            <a:ext cx="2450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2161C"/>
                </a:solidFill>
              </a:rPr>
              <a:t>25 alunos × 1 minuto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161C"/>
                </a:solidFill>
              </a:rPr>
              <a:t>≈ 25 minutos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161C"/>
                </a:solidFill>
              </a:rPr>
              <a:t>Se passar disso, reduzimos as respostas abertas.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vamos aprender no semestre?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</a:rPr>
              <a:t>A disciplina acompanha o ciclo de criação de um aplicativo.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7240" y="1847088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FF5F5"/>
          </a:solidFill>
          <a:ln w="1905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41832" y="2029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71920"/>
                </a:solidFill>
              </a:rPr>
              <a:t>Introdução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41832" y="2350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472"/>
                </a:solidFill>
              </a:rPr>
              <a:t>Mobile, web, nativo e híbrido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3538728" y="1847088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703320" y="2029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1C"/>
                </a:solidFill>
              </a:rPr>
              <a:t>Kotlin / Java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703320" y="2350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472"/>
                </a:solidFill>
              </a:rPr>
              <a:t>Linguagens no Android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300216" y="1847088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64808" y="2029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1C"/>
                </a:solidFill>
              </a:rPr>
              <a:t>Android nativo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464808" y="2350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472"/>
                </a:solidFill>
              </a:rPr>
              <a:t>Telas, navegação e recursos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9061704" y="1847088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226296" y="2029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1C"/>
                </a:solidFill>
              </a:rPr>
              <a:t>React Native / Flutter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9226296" y="2350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472"/>
                </a:solidFill>
              </a:rPr>
              <a:t>Visão de desenvolvimento híbrido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777240" y="3767328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41832" y="3950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1C"/>
                </a:solidFill>
              </a:rPr>
              <a:t>UX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941832" y="42702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472"/>
                </a:solidFill>
              </a:rPr>
              <a:t>Experiência e design mobile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3538728" y="3767328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3703320" y="3950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1C"/>
                </a:solidFill>
              </a:rPr>
              <a:t>Testes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3703320" y="42702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472"/>
                </a:solidFill>
              </a:rPr>
              <a:t>Depuração e qualidade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6300216" y="3767328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6464808" y="3950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1C"/>
                </a:solidFill>
              </a:rPr>
              <a:t>Publicação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464808" y="42702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472"/>
                </a:solidFill>
              </a:rPr>
              <a:t>Preparação para loja Google</a:t>
            </a:r>
            <a:endParaRPr lang="en-US" sz="1080" dirty="0"/>
          </a:p>
        </p:txBody>
      </p:sp>
      <p:sp>
        <p:nvSpPr>
          <p:cNvPr id="31" name="Shape 27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 de partida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</a:rPr>
              <a:t>Antes de falar de tecnologia, precisamos pensar no produto.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18288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161C"/>
                </a:solidFill>
              </a:rPr>
              <a:t>Um site aberto no celular é um aplicativo mobile?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14400" y="2880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1920"/>
                </a:solidFill>
              </a:rPr>
              <a:t>Discussão rápida: sim, não ou depende?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914400" y="4343400"/>
            <a:ext cx="9966960" cy="914400"/>
          </a:xfrm>
          <a:prstGeom prst="roundRect">
            <a:avLst>
              <a:gd name="adj" fmla="val 14000"/>
            </a:avLst>
          </a:prstGeom>
          <a:solidFill>
            <a:srgbClr val="F7F7F5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234440" y="461772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2161C"/>
                </a:solidFill>
              </a:rPr>
              <a:t>A resposta abre a diferença entre acesso pelo navegador, aplicativo instalado e integração com recursos do dispositivo.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06</a:t>
            </a:r>
            <a:endParaRPr lang="en-US" sz="850" dirty="0"/>
          </a:p>
        </p:txBody>
      </p:sp>
      <p:sp>
        <p:nvSpPr>
          <p:cNvPr id="27" name="Rounded Rectangle 26"/>
          <p:cNvSpPr/>
          <p:nvPr/>
        </p:nvSpPr>
        <p:spPr>
          <a:xfrm>
            <a:off x="8414710" y="1691640"/>
            <a:ext cx="1092819" cy="2240280"/>
          </a:xfrm>
          <a:prstGeom prst="roundRect">
            <a:avLst>
              <a:gd name="adj" fmla="val 14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69350" y="1746280"/>
            <a:ext cx="983539" cy="2131000"/>
          </a:xfrm>
          <a:prstGeom prst="roundRect">
            <a:avLst>
              <a:gd name="adj" fmla="val 11000"/>
            </a:avLst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97197" y="1782856"/>
            <a:ext cx="327845" cy="64008"/>
          </a:xfrm>
          <a:prstGeom prst="roundRect">
            <a:avLst>
              <a:gd name="adj" fmla="val 50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javascri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8843" y="2318918"/>
            <a:ext cx="524553" cy="52455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323270" y="2968599"/>
            <a:ext cx="127569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3270" y="3259836"/>
            <a:ext cx="12756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9AA4B2"/>
                </a:solidFill>
                <a:latin typeface="Cascadia Mono"/>
              </a:rPr>
              <a:t>Browser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60630" y="1691640"/>
            <a:ext cx="1092819" cy="2240280"/>
          </a:xfrm>
          <a:prstGeom prst="roundRect">
            <a:avLst>
              <a:gd name="adj" fmla="val 14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115270" y="1746280"/>
            <a:ext cx="983539" cy="2131000"/>
          </a:xfrm>
          <a:prstGeom prst="roundRect">
            <a:avLst>
              <a:gd name="adj" fmla="val 11000"/>
            </a:avLst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443117" y="1782856"/>
            <a:ext cx="327845" cy="64008"/>
          </a:xfrm>
          <a:prstGeom prst="roundRect">
            <a:avLst>
              <a:gd name="adj" fmla="val 50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andro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4763" y="2318918"/>
            <a:ext cx="524553" cy="52455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969190" y="2968599"/>
            <a:ext cx="127569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9190" y="3259836"/>
            <a:ext cx="12756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9AA4B2"/>
                </a:solidFill>
                <a:latin typeface="Cascadia Mono"/>
              </a:rPr>
              <a:t>Instalado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Aplicação Web × Aplicação Mobile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</a:rPr>
              <a:t>Diferença principal: onde roda e como chega até o usuário.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920240" y="2743200"/>
            <a:ext cx="1097280" cy="0"/>
          </a:xfrm>
          <a:prstGeom prst="line">
            <a:avLst/>
          </a:prstGeom>
          <a:noFill/>
          <a:ln w="25400">
            <a:solidFill>
              <a:srgbClr val="D7192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303520" y="2743200"/>
            <a:ext cx="1097280" cy="0"/>
          </a:xfrm>
          <a:prstGeom prst="line">
            <a:avLst/>
          </a:prstGeom>
          <a:noFill/>
          <a:ln w="25400">
            <a:solidFill>
              <a:srgbClr val="D7192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686800" y="2743200"/>
            <a:ext cx="1097280" cy="0"/>
          </a:xfrm>
          <a:prstGeom prst="line">
            <a:avLst/>
          </a:prstGeom>
          <a:noFill/>
          <a:ln w="25400">
            <a:solidFill>
              <a:srgbClr val="D7192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31520" y="2011680"/>
            <a:ext cx="1554480" cy="1463040"/>
          </a:xfrm>
          <a:prstGeom prst="roundRect">
            <a:avLst>
              <a:gd name="adj" fmla="val 7500"/>
            </a:avLst>
          </a:prstGeom>
          <a:solidFill>
            <a:srgbClr val="FFF7D6"/>
          </a:solidFill>
          <a:ln w="12700">
            <a:solidFill>
              <a:srgbClr val="F3D552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68680" y="25786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Usuário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108960" y="201168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337560" y="2432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Navegador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337560" y="2761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</a:rPr>
              <a:t>Chrome / Safari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92240" y="201168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20840" y="2432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Web App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675120" y="2761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</a:rPr>
              <a:t>HTML / CSS / JS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875520" y="2011680"/>
            <a:ext cx="16459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0058400" y="24323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Servidor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058400" y="27614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</a:rPr>
              <a:t>API / dados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1440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61C"/>
                </a:solidFill>
              </a:rPr>
              <a:t>WEB: geralmente acessada por URL e executada no navegador.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914400" y="46908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61C"/>
                </a:solidFill>
              </a:rPr>
              <a:t>MOBILE: geralmente instalada no dispositivo e integrada ao sistema operacional.</a:t>
            </a:r>
            <a:endParaRPr lang="en-US" sz="1550" dirty="0"/>
          </a:p>
        </p:txBody>
      </p:sp>
      <p:sp>
        <p:nvSpPr>
          <p:cNvPr id="26" name="Shape 22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</a:rPr>
              <a:t>Desenvolvimento Mobile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3000" b="1">
                <a:solidFill>
                  <a:srgbClr val="12161C"/>
                </a:solidFill>
                <a:latin typeface="Aptos Display"/>
              </a:rPr>
              <a:t>Como funciona uma aplicação Mobile?</a:t>
            </a:r>
            <a:endParaRPr lang="en-US" sz="3000" dirty="0"/>
          </a:p>
        </p:txBody>
      </p:sp>
      <p:sp>
        <p:nvSpPr>
          <p:cNvPr id="26" name="Shape 22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08</a:t>
            </a:r>
            <a:endParaRPr lang="en-US" sz="850" dirty="0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8680" y="1371600"/>
            <a:ext cx="9601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  <a:latin typeface="Aptos"/>
              </a:rPr>
              <a:t>Do toque do usuário até os dados.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1874519"/>
            <a:ext cx="1755648" cy="1188720"/>
          </a:xfrm>
          <a:prstGeom prst="roundRect">
            <a:avLst>
              <a:gd name="adj" fmla="val 6000"/>
            </a:avLst>
          </a:prstGeom>
          <a:solidFill>
            <a:srgbClr val="FFF9E6"/>
          </a:solidFill>
          <a:ln w="12700">
            <a:solidFill>
              <a:srgbClr val="F1D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2167127"/>
            <a:ext cx="175564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12161C"/>
                </a:solidFill>
                <a:latin typeface="Aptos"/>
              </a:rPr>
              <a:t>Usuário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2587752"/>
            <a:ext cx="17556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A6472"/>
                </a:solidFill>
                <a:latin typeface="Cascadia Mono"/>
              </a:rPr>
              <a:t>toca no ícone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2688336" y="2414015"/>
            <a:ext cx="256031" cy="109728"/>
          </a:xfrm>
          <a:prstGeom prst="rightArrow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008376" y="1874519"/>
            <a:ext cx="1755648" cy="11887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08376" y="2167127"/>
            <a:ext cx="175564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12161C"/>
                </a:solidFill>
                <a:latin typeface="Aptos"/>
              </a:rPr>
              <a:t>App instalado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08376" y="2587752"/>
            <a:ext cx="17556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A6472"/>
                </a:solidFill>
                <a:latin typeface="Cascadia Mono"/>
              </a:rPr>
              <a:t>no dispositivo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4828032" y="2414015"/>
            <a:ext cx="256031" cy="109728"/>
          </a:xfrm>
          <a:prstGeom prst="rightArrow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148072" y="1874519"/>
            <a:ext cx="1755648" cy="11887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48072" y="2167127"/>
            <a:ext cx="175564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12161C"/>
                </a:solidFill>
                <a:latin typeface="Aptos"/>
              </a:rPr>
              <a:t>Sistema</a:t>
            </a:r>
          </a:p>
          <a:p>
            <a:pPr algn="ctr"/>
            <a:r>
              <a:rPr sz="1350" b="1">
                <a:solidFill>
                  <a:srgbClr val="12161C"/>
                </a:solidFill>
                <a:latin typeface="Aptos"/>
              </a:rPr>
              <a:t>Operacional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48072" y="2660903"/>
            <a:ext cx="17556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A6472"/>
                </a:solidFill>
                <a:latin typeface="Cascadia Mono"/>
              </a:rPr>
              <a:t>Android / iOS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6967728" y="2414015"/>
            <a:ext cx="256031" cy="109728"/>
          </a:xfrm>
          <a:prstGeom prst="rightArrow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287768" y="1874519"/>
            <a:ext cx="1755648" cy="11887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87768" y="2167127"/>
            <a:ext cx="175564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12161C"/>
                </a:solidFill>
                <a:latin typeface="Aptos"/>
              </a:rPr>
              <a:t>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87768" y="2587752"/>
            <a:ext cx="17556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A6472"/>
                </a:solidFill>
                <a:latin typeface="Cascadia Mono"/>
              </a:rPr>
              <a:t>requisição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9107424" y="2414015"/>
            <a:ext cx="256031" cy="109728"/>
          </a:xfrm>
          <a:prstGeom prst="rightArrow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427463" y="1874519"/>
            <a:ext cx="1755648" cy="11887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27463" y="2167127"/>
            <a:ext cx="175564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12161C"/>
                </a:solidFill>
                <a:latin typeface="Aptos"/>
              </a:rPr>
              <a:t>Servidor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27463" y="2587752"/>
            <a:ext cx="17556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A6472"/>
                </a:solidFill>
                <a:latin typeface="Cascadia Mono"/>
              </a:rPr>
              <a:t>dados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" y="3383280"/>
            <a:ext cx="2542032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69848" y="3584448"/>
            <a:ext cx="274320" cy="274320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scadia Mono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35607" y="3621024"/>
            <a:ext cx="181051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71920"/>
                </a:solidFill>
                <a:latin typeface="Cascadia Mono"/>
              </a:rPr>
              <a:t>APP INSTALADO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6" y="4041648"/>
            <a:ext cx="212140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2"/>
                </a:solidFill>
                <a:latin typeface="Aptos"/>
              </a:rPr>
              <a:t>O usuário abre o aplicativo direto no aparelho. Não há URL e não há navegador.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93591" y="3383280"/>
            <a:ext cx="2542032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794759" y="3584448"/>
            <a:ext cx="274320" cy="274320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scadia Mono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60520" y="3621024"/>
            <a:ext cx="181051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71920"/>
                </a:solidFill>
                <a:latin typeface="Cascadia Mono"/>
              </a:rPr>
              <a:t>CÓDIGO DA APLICAÇÃO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13048" y="4041648"/>
            <a:ext cx="212140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2"/>
                </a:solidFill>
                <a:latin typeface="Aptos"/>
              </a:rPr>
              <a:t>Nativo: Kotlin / Java no Android, Swift no iOS. Multiplataforma: React Native, Flutter.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18504" y="3383280"/>
            <a:ext cx="2542032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519672" y="3584448"/>
            <a:ext cx="274320" cy="274320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scadia Mono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85432" y="3621024"/>
            <a:ext cx="181051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71920"/>
                </a:solidFill>
                <a:latin typeface="Cascadia Mono"/>
              </a:rPr>
              <a:t>API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37960" y="4041648"/>
            <a:ext cx="212140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2"/>
                </a:solidFill>
                <a:latin typeface="Aptos"/>
              </a:rPr>
              <a:t>Quando precisa de informação externa, o app faz uma requisição — igual à Web.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43416" y="3383280"/>
            <a:ext cx="2542032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244584" y="3584448"/>
            <a:ext cx="274320" cy="274320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scadia Mono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10344" y="3621024"/>
            <a:ext cx="181051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71920"/>
                </a:solidFill>
                <a:latin typeface="Cascadia Mono"/>
              </a:rPr>
              <a:t>SERVIDOR / DADOS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62872" y="4041648"/>
            <a:ext cx="212140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2"/>
                </a:solidFill>
                <a:latin typeface="Aptos"/>
              </a:rPr>
              <a:t>Processa, consulta o banco de dados e devolve uma resposta ao aplicativo.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39" y="4462272"/>
            <a:ext cx="219456" cy="219456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7" y="4462272"/>
            <a:ext cx="219456" cy="219456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868680" y="5138928"/>
            <a:ext cx="10460736" cy="841248"/>
          </a:xfrm>
          <a:prstGeom prst="roundRect">
            <a:avLst>
              <a:gd name="adj" fmla="val 6000"/>
            </a:avLst>
          </a:prstGeom>
          <a:solidFill>
            <a:srgbClr val="FFF9E6"/>
          </a:solidFill>
          <a:ln w="12700">
            <a:solidFill>
              <a:srgbClr val="F1D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15568" y="528523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8A6D00"/>
                </a:solidFill>
                <a:latin typeface="Cascadia Mono"/>
              </a:rPr>
              <a:t>A DIFERENÇA QUE IMPORTA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5568" y="5541264"/>
            <a:ext cx="10058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61C"/>
                </a:solidFill>
                <a:latin typeface="Aptos"/>
              </a:rPr>
              <a:t>Não precisamos abrir um navegador. O software está instalado no dispositivo e pode se integrar diretamente aos recursos do sistema operacional.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Recursos que tornam o mobile diferente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</a:rPr>
              <a:t>Um aplicativo pode conversar diretamente com o aparelho.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14400" y="1874520"/>
            <a:ext cx="1508760" cy="2834640"/>
          </a:xfrm>
          <a:prstGeom prst="roundRect">
            <a:avLst>
              <a:gd name="adj" fmla="val 13333"/>
            </a:avLst>
          </a:prstGeom>
          <a:solidFill>
            <a:srgbClr val="12161C"/>
          </a:solidFill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457554" y="1947672"/>
            <a:ext cx="422453" cy="45720"/>
          </a:xfrm>
          <a:prstGeom prst="roundRect">
            <a:avLst>
              <a:gd name="adj" fmla="val 40000"/>
            </a:avLst>
          </a:prstGeom>
          <a:solidFill>
            <a:srgbClr val="5A6472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3749040" y="1691640"/>
            <a:ext cx="1508760" cy="640080"/>
          </a:xfrm>
          <a:prstGeom prst="roundRect">
            <a:avLst>
              <a:gd name="adj" fmla="val 22857"/>
            </a:avLst>
          </a:prstGeom>
          <a:solidFill>
            <a:srgbClr val="FFF5F5"/>
          </a:solidFill>
          <a:ln w="12700">
            <a:solidFill>
              <a:srgbClr val="F2BBB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794760" y="19110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161C"/>
                </a:solidFill>
              </a:rPr>
              <a:t>Câmera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5760720" y="1691640"/>
            <a:ext cx="1508760" cy="640080"/>
          </a:xfrm>
          <a:prstGeom prst="roundRect">
            <a:avLst>
              <a:gd name="adj" fmla="val 22857"/>
            </a:avLst>
          </a:prstGeom>
          <a:solidFill>
            <a:srgbClr val="FFF9E6"/>
          </a:solidFill>
          <a:ln w="12700">
            <a:solidFill>
              <a:srgbClr val="F1D777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806440" y="19110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161C"/>
                </a:solidFill>
              </a:rPr>
              <a:t>GPS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7772400" y="1691640"/>
            <a:ext cx="1508760" cy="640080"/>
          </a:xfrm>
          <a:prstGeom prst="roundRect">
            <a:avLst>
              <a:gd name="adj" fmla="val 22857"/>
            </a:avLst>
          </a:prstGeom>
          <a:solidFill>
            <a:srgbClr val="FFF5F5"/>
          </a:solidFill>
          <a:ln w="12700">
            <a:solidFill>
              <a:srgbClr val="F2BBB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818120" y="19110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161C"/>
                </a:solidFill>
              </a:rPr>
              <a:t>Notificações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3749040" y="3063240"/>
            <a:ext cx="1508760" cy="640080"/>
          </a:xfrm>
          <a:prstGeom prst="roundRect">
            <a:avLst>
              <a:gd name="adj" fmla="val 22857"/>
            </a:avLst>
          </a:prstGeom>
          <a:solidFill>
            <a:srgbClr val="FFF9E6"/>
          </a:solidFill>
          <a:ln w="12700">
            <a:solidFill>
              <a:srgbClr val="F1D777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3794760" y="32826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161C"/>
                </a:solidFill>
              </a:rPr>
              <a:t>Biometria</a:t>
            </a:r>
            <a:endParaRPr lang="en-US" sz="1320" dirty="0"/>
          </a:p>
        </p:txBody>
      </p:sp>
      <p:sp>
        <p:nvSpPr>
          <p:cNvPr id="22" name="Shape 19"/>
          <p:cNvSpPr/>
          <p:nvPr/>
        </p:nvSpPr>
        <p:spPr>
          <a:xfrm>
            <a:off x="5760720" y="3063240"/>
            <a:ext cx="1508760" cy="640080"/>
          </a:xfrm>
          <a:prstGeom prst="roundRect">
            <a:avLst>
              <a:gd name="adj" fmla="val 22857"/>
            </a:avLst>
          </a:prstGeom>
          <a:solidFill>
            <a:srgbClr val="FFF5F5"/>
          </a:solidFill>
          <a:ln w="12700">
            <a:solidFill>
              <a:srgbClr val="F2BBBB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806440" y="32826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161C"/>
                </a:solidFill>
              </a:rPr>
              <a:t>Bluetooth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7772400" y="3063240"/>
            <a:ext cx="1508760" cy="640080"/>
          </a:xfrm>
          <a:prstGeom prst="roundRect">
            <a:avLst>
              <a:gd name="adj" fmla="val 22857"/>
            </a:avLst>
          </a:prstGeom>
          <a:solidFill>
            <a:srgbClr val="FFF9E6"/>
          </a:solidFill>
          <a:ln w="12700">
            <a:solidFill>
              <a:srgbClr val="F1D777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7818120" y="32826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161C"/>
                </a:solidFill>
              </a:rPr>
              <a:t>Armazenamento</a:t>
            </a:r>
            <a:endParaRPr lang="en-US" sz="1320" dirty="0"/>
          </a:p>
        </p:txBody>
      </p:sp>
      <p:sp>
        <p:nvSpPr>
          <p:cNvPr id="26" name="Text 23"/>
          <p:cNvSpPr/>
          <p:nvPr/>
        </p:nvSpPr>
        <p:spPr>
          <a:xfrm>
            <a:off x="3520440" y="48920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A6472"/>
                </a:solidFill>
              </a:rPr>
              <a:t>Esses recursos existem também em alguns contextos web, mas no app instalado a integração costuma ser mais direta e controlada pela plataforma.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09</a:t>
            </a:r>
            <a:endParaRPr lang="en-US" sz="850" dirty="0"/>
          </a:p>
        </p:txBody>
      </p:sp>
      <p:sp>
        <p:nvSpPr>
          <p:cNvPr id="31" name="Rounded Rectangle 30"/>
          <p:cNvSpPr/>
          <p:nvPr/>
        </p:nvSpPr>
        <p:spPr>
          <a:xfrm>
            <a:off x="1084456" y="2093976"/>
            <a:ext cx="1168647" cy="2395728"/>
          </a:xfrm>
          <a:prstGeom prst="roundRect">
            <a:avLst>
              <a:gd name="adj" fmla="val 14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42888" y="2152408"/>
            <a:ext cx="1051783" cy="2278864"/>
          </a:xfrm>
          <a:prstGeom prst="roundRect">
            <a:avLst>
              <a:gd name="adj" fmla="val 11000"/>
            </a:avLst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493482" y="2188984"/>
            <a:ext cx="350594" cy="64008"/>
          </a:xfrm>
          <a:prstGeom prst="roundRect">
            <a:avLst>
              <a:gd name="adj" fmla="val 50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andro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459" y="2764779"/>
            <a:ext cx="548640" cy="5486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93016" y="3459540"/>
            <a:ext cx="135152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016" y="3770985"/>
            <a:ext cx="135152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9AA4B2"/>
                </a:solidFill>
                <a:latin typeface="Cascadia Mono"/>
              </a:rPr>
              <a:t>Android / 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Aplicativo nativo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</a:rPr>
              <a:t>Construído para uma plataforma específica.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14400" y="1920240"/>
            <a:ext cx="4343400" cy="2697480"/>
          </a:xfrm>
          <a:prstGeom prst="roundRect">
            <a:avLst>
              <a:gd name="adj" fmla="val 5424"/>
            </a:avLst>
          </a:prstGeom>
          <a:solidFill>
            <a:srgbClr val="FFF5F5"/>
          </a:solidFill>
          <a:ln w="12700">
            <a:solidFill>
              <a:srgbClr val="F2BBB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2834640" y="23317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1920"/>
                </a:solidFill>
              </a:rPr>
              <a:t>Android nativo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852928" y="2953512"/>
            <a:ext cx="91440" cy="9144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3054096" y="2880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2161C"/>
                </a:solidFill>
              </a:rPr>
              <a:t>Kotlin ou Java</a:t>
            </a:r>
            <a:endParaRPr lang="en-US" sz="1280" dirty="0"/>
          </a:p>
        </p:txBody>
      </p:sp>
      <p:sp>
        <p:nvSpPr>
          <p:cNvPr id="18" name="Shape 15"/>
          <p:cNvSpPr/>
          <p:nvPr/>
        </p:nvSpPr>
        <p:spPr>
          <a:xfrm>
            <a:off x="2852928" y="3319272"/>
            <a:ext cx="91440" cy="9144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3054096" y="3246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2161C"/>
                </a:solidFill>
              </a:rPr>
              <a:t>Android Studio</a:t>
            </a:r>
            <a:endParaRPr lang="en-US" sz="1280" dirty="0"/>
          </a:p>
        </p:txBody>
      </p:sp>
      <p:sp>
        <p:nvSpPr>
          <p:cNvPr id="20" name="Shape 17"/>
          <p:cNvSpPr/>
          <p:nvPr/>
        </p:nvSpPr>
        <p:spPr>
          <a:xfrm>
            <a:off x="2852928" y="3685032"/>
            <a:ext cx="91440" cy="9144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3054096" y="3611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2161C"/>
                </a:solidFill>
              </a:rPr>
              <a:t>Integração direta com Android</a:t>
            </a:r>
            <a:endParaRPr lang="en-US" sz="1280" dirty="0"/>
          </a:p>
        </p:txBody>
      </p:sp>
      <p:sp>
        <p:nvSpPr>
          <p:cNvPr id="22" name="Shape 19"/>
          <p:cNvSpPr/>
          <p:nvPr/>
        </p:nvSpPr>
        <p:spPr>
          <a:xfrm>
            <a:off x="6766560" y="1920240"/>
            <a:ext cx="4343400" cy="2697480"/>
          </a:xfrm>
          <a:prstGeom prst="roundRect">
            <a:avLst>
              <a:gd name="adj" fmla="val 5424"/>
            </a:avLst>
          </a:prstGeom>
          <a:solidFill>
            <a:srgbClr val="F5F5F5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8686800" y="23317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61C"/>
                </a:solidFill>
              </a:rPr>
              <a:t>iOS nativo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8705088" y="2953512"/>
            <a:ext cx="91440" cy="9144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8906256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2161C"/>
                </a:solidFill>
              </a:rPr>
              <a:t>Swift</a:t>
            </a:r>
            <a:endParaRPr lang="en-US" sz="1280" dirty="0"/>
          </a:p>
        </p:txBody>
      </p:sp>
      <p:sp>
        <p:nvSpPr>
          <p:cNvPr id="31" name="Shape 28"/>
          <p:cNvSpPr/>
          <p:nvPr/>
        </p:nvSpPr>
        <p:spPr>
          <a:xfrm>
            <a:off x="8705088" y="3319272"/>
            <a:ext cx="91440" cy="9144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8906256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2161C"/>
                </a:solidFill>
              </a:rPr>
              <a:t>Xcode</a:t>
            </a:r>
            <a:endParaRPr lang="en-US" sz="1280" dirty="0"/>
          </a:p>
        </p:txBody>
      </p:sp>
      <p:sp>
        <p:nvSpPr>
          <p:cNvPr id="33" name="Shape 30"/>
          <p:cNvSpPr/>
          <p:nvPr/>
        </p:nvSpPr>
        <p:spPr>
          <a:xfrm>
            <a:off x="8705088" y="3685032"/>
            <a:ext cx="91440" cy="9144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8906256" y="3611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2161C"/>
                </a:solidFill>
              </a:rPr>
              <a:t>Integração direta com iOS</a:t>
            </a:r>
            <a:endParaRPr lang="en-US" sz="1280" dirty="0"/>
          </a:p>
        </p:txBody>
      </p:sp>
      <p:sp>
        <p:nvSpPr>
          <p:cNvPr id="36" name="Shape 32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37" name="Text 33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10</a:t>
            </a:r>
            <a:endParaRPr lang="en-US" sz="850" dirty="0"/>
          </a:p>
        </p:txBody>
      </p:sp>
      <p:sp>
        <p:nvSpPr>
          <p:cNvPr id="39" name="Rounded Rectangle 38"/>
          <p:cNvSpPr/>
          <p:nvPr/>
        </p:nvSpPr>
        <p:spPr>
          <a:xfrm>
            <a:off x="1554480" y="2423160"/>
            <a:ext cx="914400" cy="1874520"/>
          </a:xfrm>
          <a:prstGeom prst="roundRect">
            <a:avLst>
              <a:gd name="adj" fmla="val 14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600200" y="2468880"/>
            <a:ext cx="822960" cy="1783080"/>
          </a:xfrm>
          <a:prstGeom prst="roundRect">
            <a:avLst>
              <a:gd name="adj" fmla="val 11000"/>
            </a:avLst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874520" y="2505456"/>
            <a:ext cx="274320" cy="64008"/>
          </a:xfrm>
          <a:prstGeom prst="roundRect">
            <a:avLst>
              <a:gd name="adj" fmla="val 50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andro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224" y="2948025"/>
            <a:ext cx="438912" cy="43891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63040" y="349163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Android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373532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9AA4B2"/>
                </a:solidFill>
                <a:latin typeface="Cascadia Mono"/>
              </a:rPr>
              <a:t>Kotlin / Java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06640" y="2423160"/>
            <a:ext cx="914400" cy="1874520"/>
          </a:xfrm>
          <a:prstGeom prst="roundRect">
            <a:avLst>
              <a:gd name="adj" fmla="val 14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452360" y="2468880"/>
            <a:ext cx="822960" cy="1783080"/>
          </a:xfrm>
          <a:prstGeom prst="roundRect">
            <a:avLst>
              <a:gd name="adj" fmla="val 11000"/>
            </a:avLst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726680" y="2505456"/>
            <a:ext cx="274320" cy="64008"/>
          </a:xfrm>
          <a:prstGeom prst="roundRect">
            <a:avLst>
              <a:gd name="adj" fmla="val 50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ap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4384" y="2948025"/>
            <a:ext cx="438912" cy="43891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315200" y="349163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373532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9AA4B2"/>
                </a:solidFill>
                <a:latin typeface="Cascadia Mono"/>
              </a:rPr>
              <a:t>Swift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Aplicativo híbrido / multiplataforma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</a:rPr>
              <a:t>Uma abordagem para reaproveitar parte da base de código.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06240" y="1737360"/>
            <a:ext cx="3840480" cy="1097280"/>
          </a:xfrm>
          <a:prstGeom prst="roundRect">
            <a:avLst>
              <a:gd name="adj" fmla="val 13333"/>
            </a:avLst>
          </a:prstGeom>
          <a:solidFill>
            <a:srgbClr val="FFF9E6"/>
          </a:solidFill>
          <a:ln w="12700">
            <a:solidFill>
              <a:srgbClr val="E7C95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434840" y="2075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1C"/>
                </a:solidFill>
              </a:rPr>
              <a:t>Framework / base compartilhada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4251960" y="3063240"/>
            <a:ext cx="1371600" cy="384048"/>
          </a:xfrm>
          <a:prstGeom prst="roundRect">
            <a:avLst>
              <a:gd name="adj" fmla="val 28571"/>
            </a:avLst>
          </a:prstGeom>
          <a:solidFill>
            <a:srgbClr val="D719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379976" y="316382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React Native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806440" y="3063240"/>
            <a:ext cx="1097280" cy="384048"/>
          </a:xfrm>
          <a:prstGeom prst="roundRect">
            <a:avLst>
              <a:gd name="adj" fmla="val 28571"/>
            </a:avLst>
          </a:prstGeom>
          <a:solidFill>
            <a:srgbClr val="D719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934456" y="316382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Flutter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059168" y="3063240"/>
            <a:ext cx="822960" cy="384048"/>
          </a:xfrm>
          <a:prstGeom prst="roundRect">
            <a:avLst>
              <a:gd name="adj" fmla="val 28571"/>
            </a:avLst>
          </a:prstGeom>
          <a:solidFill>
            <a:srgbClr val="D719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7187184" y="3163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Expo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11</a:t>
            </a:r>
            <a:endParaRPr lang="en-US" sz="850" dirty="0"/>
          </a:p>
        </p:txBody>
      </p:sp>
      <p:sp>
        <p:nvSpPr>
          <p:cNvPr id="36" name="Rounded Rectangle 35"/>
          <p:cNvSpPr/>
          <p:nvPr/>
        </p:nvSpPr>
        <p:spPr>
          <a:xfrm>
            <a:off x="2128768" y="3703320"/>
            <a:ext cx="1137424" cy="2331720"/>
          </a:xfrm>
          <a:prstGeom prst="roundRect">
            <a:avLst>
              <a:gd name="adj" fmla="val 14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185639" y="3760191"/>
            <a:ext cx="1023682" cy="2217978"/>
          </a:xfrm>
          <a:prstGeom prst="roundRect">
            <a:avLst>
              <a:gd name="adj" fmla="val 11000"/>
            </a:avLst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526866" y="3796767"/>
            <a:ext cx="341227" cy="64008"/>
          </a:xfrm>
          <a:prstGeom prst="roundRect">
            <a:avLst>
              <a:gd name="adj" fmla="val 50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andro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4498" y="4356201"/>
            <a:ext cx="545963" cy="54596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037328" y="5032400"/>
            <a:ext cx="132030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Android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37328" y="5335524"/>
            <a:ext cx="13203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9AA4B2"/>
                </a:solidFill>
                <a:latin typeface="Cascadia Mono"/>
              </a:rPr>
              <a:t>App final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57768" y="3703320"/>
            <a:ext cx="1137424" cy="2331720"/>
          </a:xfrm>
          <a:prstGeom prst="roundRect">
            <a:avLst>
              <a:gd name="adj" fmla="val 14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614639" y="3760191"/>
            <a:ext cx="1023682" cy="2217978"/>
          </a:xfrm>
          <a:prstGeom prst="roundRect">
            <a:avLst>
              <a:gd name="adj" fmla="val 11000"/>
            </a:avLst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55866" y="3796767"/>
            <a:ext cx="341227" cy="64008"/>
          </a:xfrm>
          <a:prstGeom prst="roundRect">
            <a:avLst>
              <a:gd name="adj" fmla="val 50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ap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3498" y="4356201"/>
            <a:ext cx="545963" cy="54596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466328" y="5032400"/>
            <a:ext cx="132030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66328" y="5335524"/>
            <a:ext cx="13203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9AA4B2"/>
                </a:solidFill>
                <a:latin typeface="Cascadia Mono"/>
              </a:rPr>
              <a:t>App final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86768" y="3703320"/>
            <a:ext cx="1137424" cy="2331720"/>
          </a:xfrm>
          <a:prstGeom prst="roundRect">
            <a:avLst>
              <a:gd name="adj" fmla="val 14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043639" y="3760191"/>
            <a:ext cx="1023682" cy="2217978"/>
          </a:xfrm>
          <a:prstGeom prst="roundRect">
            <a:avLst>
              <a:gd name="adj" fmla="val 11000"/>
            </a:avLst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384866" y="3796767"/>
            <a:ext cx="341227" cy="64008"/>
          </a:xfrm>
          <a:prstGeom prst="roundRect">
            <a:avLst>
              <a:gd name="adj" fmla="val 50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javascrip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2498" y="4356201"/>
            <a:ext cx="545963" cy="545963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895328" y="5032400"/>
            <a:ext cx="132030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Web?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5328" y="5335524"/>
            <a:ext cx="13203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9AA4B2"/>
                </a:solidFill>
                <a:latin typeface="Cascadia Mono"/>
              </a:rPr>
              <a:t>dependendo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Comparação simples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</a:rPr>
              <a:t>A pergunta não é “qual é melhor?”, mas “qual faz sentido para o problema?”.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1755648"/>
            <a:ext cx="2057400" cy="530352"/>
          </a:xfrm>
          <a:prstGeom prst="rect">
            <a:avLst/>
          </a:prstGeom>
          <a:solidFill>
            <a:srgbClr val="12161C"/>
          </a:solidFill>
          <a:ln w="635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41248" y="1911096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Critério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91840" y="1755648"/>
            <a:ext cx="2468880" cy="530352"/>
          </a:xfrm>
          <a:prstGeom prst="rect">
            <a:avLst/>
          </a:prstGeom>
          <a:solidFill>
            <a:srgbClr val="12161C"/>
          </a:solidFill>
          <a:ln w="635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401568" y="1911096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Nativo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46520" y="1755648"/>
            <a:ext cx="3977640" cy="530352"/>
          </a:xfrm>
          <a:prstGeom prst="rect">
            <a:avLst/>
          </a:prstGeom>
          <a:solidFill>
            <a:srgbClr val="12161C"/>
          </a:solidFill>
          <a:ln w="635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556248" y="1911096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Híbrido / multiplataforma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2414016"/>
            <a:ext cx="2057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41248" y="2569464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161C"/>
                </a:solidFill>
              </a:rPr>
              <a:t>Foco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91840" y="2414016"/>
            <a:ext cx="2468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401568" y="256946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161C"/>
                </a:solidFill>
              </a:rPr>
              <a:t>Uma plataforma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46520" y="2414016"/>
            <a:ext cx="3977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556248" y="256946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161C"/>
                </a:solidFill>
              </a:rPr>
              <a:t>Mais de uma plataforma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1520" y="3072384"/>
            <a:ext cx="2057400" cy="530352"/>
          </a:xfrm>
          <a:prstGeom prst="rect">
            <a:avLst/>
          </a:prstGeom>
          <a:solidFill>
            <a:srgbClr val="F6F7F9"/>
          </a:solidFill>
          <a:ln w="635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841248" y="3227832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161C"/>
                </a:solidFill>
              </a:rPr>
              <a:t>Android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91840" y="3072384"/>
            <a:ext cx="2468880" cy="530352"/>
          </a:xfrm>
          <a:prstGeom prst="rect">
            <a:avLst/>
          </a:prstGeom>
          <a:solidFill>
            <a:srgbClr val="F6F7F9"/>
          </a:solidFill>
          <a:ln w="635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3401568" y="3227832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161C"/>
                </a:solidFill>
              </a:rPr>
              <a:t>Kotlin / Java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46520" y="3072384"/>
            <a:ext cx="3977640" cy="530352"/>
          </a:xfrm>
          <a:prstGeom prst="rect">
            <a:avLst/>
          </a:prstGeom>
          <a:solidFill>
            <a:srgbClr val="F6F7F9"/>
          </a:solidFill>
          <a:ln w="635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556248" y="3227832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161C"/>
                </a:solidFill>
              </a:rPr>
              <a:t>React Native / Flutter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31520" y="3730752"/>
            <a:ext cx="2057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841248" y="3886200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161C"/>
                </a:solidFill>
              </a:rPr>
              <a:t>iOS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91840" y="3730752"/>
            <a:ext cx="2468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3401568" y="3886200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161C"/>
                </a:solidFill>
              </a:rPr>
              <a:t>Swift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46520" y="3730752"/>
            <a:ext cx="3977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6556248" y="3886200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161C"/>
                </a:solidFill>
              </a:rPr>
              <a:t>React Native / Flutter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31520" y="4389120"/>
            <a:ext cx="2057400" cy="530352"/>
          </a:xfrm>
          <a:prstGeom prst="rect">
            <a:avLst/>
          </a:prstGeom>
          <a:solidFill>
            <a:srgbClr val="F6F7F9"/>
          </a:solidFill>
          <a:ln w="635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841248" y="4544568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161C"/>
                </a:solidFill>
              </a:rPr>
              <a:t>Código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291840" y="4389120"/>
            <a:ext cx="2468880" cy="530352"/>
          </a:xfrm>
          <a:prstGeom prst="rect">
            <a:avLst/>
          </a:prstGeom>
          <a:solidFill>
            <a:srgbClr val="F6F7F9"/>
          </a:solidFill>
          <a:ln w="635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3401568" y="454456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161C"/>
                </a:solidFill>
              </a:rPr>
              <a:t>Mais específico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446520" y="4389120"/>
            <a:ext cx="3977640" cy="530352"/>
          </a:xfrm>
          <a:prstGeom prst="rect">
            <a:avLst/>
          </a:prstGeom>
          <a:solidFill>
            <a:srgbClr val="F6F7F9"/>
          </a:solidFill>
          <a:ln w="635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6556248" y="4544568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161C"/>
                </a:solidFill>
              </a:rPr>
              <a:t>Maior reaproveitamento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31520" y="5047488"/>
            <a:ext cx="2057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841248" y="5202936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161C"/>
                </a:solidFill>
              </a:rPr>
              <a:t>Uso ideal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3291840" y="5047488"/>
            <a:ext cx="2468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3401568" y="5202936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161C"/>
                </a:solidFill>
              </a:rPr>
              <a:t>Quando a plataforma importa muito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446520" y="5047488"/>
            <a:ext cx="3977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6556248" y="5202936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2161C"/>
                </a:solidFill>
              </a:rPr>
              <a:t>Quando precisamos lançar rápido em mais plataformas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</a:rPr>
              <a:t>Desenvolvimento Mobile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3000" b="1">
                <a:solidFill>
                  <a:srgbClr val="12161C"/>
                </a:solidFill>
                <a:latin typeface="Aptos Display"/>
              </a:rPr>
              <a:t>Mitos que vamos desfazer</a:t>
            </a:r>
            <a:endParaRPr lang="en-US" sz="3000" dirty="0"/>
          </a:p>
        </p:txBody>
      </p:sp>
      <p:sp>
        <p:nvSpPr>
          <p:cNvPr id="46" name="Shape 42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13</a:t>
            </a:r>
            <a:endParaRPr lang="en-US" sz="850" dirty="0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8680" y="1371600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  <a:latin typeface="Aptos"/>
              </a:rPr>
              <a:t>Frases comuns que não sobrevivem a um projeto real.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" y="1965960"/>
            <a:ext cx="5138928" cy="1170432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69848" y="2240279"/>
            <a:ext cx="237744" cy="23774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17319" y="2148840"/>
            <a:ext cx="4361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161C"/>
                </a:solidFill>
                <a:latin typeface="Aptos"/>
              </a:rPr>
              <a:t>“Nativo é sempre mais rápido”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17319" y="2587752"/>
            <a:ext cx="436168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2"/>
                </a:solidFill>
                <a:latin typeface="Aptos"/>
              </a:rPr>
              <a:t>Depende do app e de quem escreveu.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08776" y="1965960"/>
            <a:ext cx="5138928" cy="1170432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409944" y="2240279"/>
            <a:ext cx="237744" cy="23774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57416" y="2148840"/>
            <a:ext cx="4361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161C"/>
                </a:solidFill>
                <a:latin typeface="Aptos"/>
              </a:rPr>
              <a:t>“Híbrido não acessa câmera nem GPS”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57416" y="2587752"/>
            <a:ext cx="436168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2"/>
                </a:solidFill>
                <a:latin typeface="Aptos"/>
              </a:rPr>
              <a:t>Acessa. React Native e Flutter também.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68680" y="3337560"/>
            <a:ext cx="5138928" cy="1170432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69848" y="3611879"/>
            <a:ext cx="237744" cy="23774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17319" y="3520440"/>
            <a:ext cx="4361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161C"/>
                </a:solidFill>
                <a:latin typeface="Aptos"/>
              </a:rPr>
              <a:t>“Bluetooth obriga usar nativo”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17319" y="3959352"/>
            <a:ext cx="436168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2"/>
                </a:solidFill>
                <a:latin typeface="Aptos"/>
              </a:rPr>
              <a:t>Não obriga. Muda o custo da integração.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08776" y="3337560"/>
            <a:ext cx="5138928" cy="1170432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409944" y="3611879"/>
            <a:ext cx="237744" cy="23774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57416" y="3520440"/>
            <a:ext cx="4361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161C"/>
                </a:solidFill>
                <a:latin typeface="Aptos"/>
              </a:rPr>
              <a:t>“Multiplataforma é sempre mais barato”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57416" y="3959352"/>
            <a:ext cx="436168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2"/>
                </a:solidFill>
                <a:latin typeface="Aptos"/>
              </a:rPr>
              <a:t>Só se a equipe já dominar o framework.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68680" y="4709160"/>
            <a:ext cx="5138928" cy="1170432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9848" y="4983480"/>
            <a:ext cx="237744" cy="23774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17319" y="4892040"/>
            <a:ext cx="4361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161C"/>
                </a:solidFill>
                <a:latin typeface="Aptos"/>
              </a:rPr>
              <a:t>“Site no celular vira app”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17319" y="5330952"/>
            <a:ext cx="436168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2"/>
                </a:solidFill>
                <a:latin typeface="Aptos"/>
              </a:rPr>
              <a:t>O ambiente de execução continua sendo o navegador.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08776" y="4709160"/>
            <a:ext cx="5138928" cy="1170432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409944" y="4983480"/>
            <a:ext cx="237744" cy="23774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57416" y="4892040"/>
            <a:ext cx="4361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161C"/>
                </a:solidFill>
                <a:latin typeface="Aptos"/>
              </a:rPr>
              <a:t>“Multiplataforma = 100% do código”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57416" y="5330952"/>
            <a:ext cx="436168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2"/>
                </a:solidFill>
                <a:latin typeface="Aptos"/>
              </a:rPr>
              <a:t>Quase sempre sobra código por plataforma.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" y="6108192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D71920"/>
                </a:solidFill>
                <a:latin typeface="Aptos"/>
              </a:rPr>
              <a:t>Nenhuma dessas frases é regra. Todas são trade-offs que dependem do contexto.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relâmpago antes do intervalo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</a:rPr>
              <a:t>Pensar como equipe de desenvolvimento.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68680" y="1874520"/>
            <a:ext cx="4983480" cy="2423160"/>
          </a:xfrm>
          <a:prstGeom prst="roundRect">
            <a:avLst>
              <a:gd name="adj" fmla="val 6038"/>
            </a:avLst>
          </a:prstGeom>
          <a:solidFill>
            <a:srgbClr val="FFF5F5"/>
          </a:solidFill>
          <a:ln w="12700">
            <a:solidFill>
              <a:srgbClr val="F2BBB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143000" y="2148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1920"/>
                </a:solidFill>
              </a:rPr>
              <a:t>Cenário 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3000" y="2651760"/>
            <a:ext cx="4343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161C"/>
                </a:solidFill>
              </a:rPr>
              <a:t>Uma pequena empresa quer lançar um app de delivery para Android e iPhone em pouco tempo.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3657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1C"/>
                </a:solidFill>
              </a:rPr>
              <a:t>Qual caminho você escolheria?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00800" y="1874520"/>
            <a:ext cx="4983480" cy="2423160"/>
          </a:xfrm>
          <a:prstGeom prst="roundRect">
            <a:avLst>
              <a:gd name="adj" fmla="val 6038"/>
            </a:avLst>
          </a:prstGeom>
          <a:solidFill>
            <a:srgbClr val="FFF9E6"/>
          </a:solidFill>
          <a:ln w="12700">
            <a:solidFill>
              <a:srgbClr val="F1D77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675120" y="2148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1920"/>
                </a:solidFill>
              </a:rPr>
              <a:t>Cenário B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75120" y="2651760"/>
            <a:ext cx="4343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161C"/>
                </a:solidFill>
              </a:rPr>
              <a:t>Uma empresa precisa usar câmera, sensores, Bluetooth e recursos específicos do aparelho.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75120" y="3657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1C"/>
                </a:solidFill>
              </a:rPr>
              <a:t>Você manteria a mesma escolha?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237744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161C"/>
                </a:solidFill>
              </a:rPr>
              <a:t>Anote 3 argumentos. Não existe resposta única.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057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161C"/>
                </a:solidFill>
              </a:rPr>
              <a:t>Intervalo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71920"/>
                </a:solidFill>
              </a:rPr>
              <a:t>Na volta: laboratório prático no computador.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498080" y="1828800"/>
            <a:ext cx="2834640" cy="2194560"/>
          </a:xfrm>
          <a:prstGeom prst="roundRect">
            <a:avLst>
              <a:gd name="adj" fmla="val 7500"/>
            </a:avLst>
          </a:prstGeom>
          <a:solidFill>
            <a:srgbClr val="F7F7F5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955280" y="24505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71920"/>
                </a:solidFill>
              </a:rPr>
              <a:t>10–15 min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909560" y="3035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6472"/>
                </a:solidFill>
              </a:rPr>
              <a:t>Retorno direto para o laboratório.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Laboratório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Laboratório 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</a:rPr>
              <a:t>Primeiro contato com ambientes de desenvolvimento mobile.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1920"/>
                </a:solidFill>
              </a:rPr>
              <a:t>Objetivo: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148840" y="19385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2161C"/>
                </a:solidFill>
              </a:rPr>
              <a:t>comparar, na prática, a criação inicial de um projeto nativo e de um projeto híbrido/multiplataforma.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960120" y="2834640"/>
            <a:ext cx="4389120" cy="1645920"/>
          </a:xfrm>
          <a:prstGeom prst="roundRect">
            <a:avLst>
              <a:gd name="adj" fmla="val 8889"/>
            </a:avLst>
          </a:prstGeom>
          <a:solidFill>
            <a:srgbClr val="FFF5F5"/>
          </a:solidFill>
          <a:ln w="12700">
            <a:solidFill>
              <a:srgbClr val="F2BBB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298448" y="3154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71920"/>
                </a:solidFill>
              </a:rPr>
              <a:t>Parte A — Nativo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298448" y="3611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61C"/>
                </a:solidFill>
              </a:rPr>
              <a:t>Android Studio + Kotlin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46520" y="2834640"/>
            <a:ext cx="4389120" cy="1645920"/>
          </a:xfrm>
          <a:prstGeom prst="roundRect">
            <a:avLst>
              <a:gd name="adj" fmla="val 8889"/>
            </a:avLst>
          </a:prstGeom>
          <a:solidFill>
            <a:srgbClr val="FFF9E6"/>
          </a:solidFill>
          <a:ln w="12700">
            <a:solidFill>
              <a:srgbClr val="F1D777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784848" y="3154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71920"/>
                </a:solidFill>
              </a:rPr>
              <a:t>Parte B — Híbrido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784848" y="3611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61C"/>
                </a:solidFill>
              </a:rPr>
              <a:t>React Native + Expo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901952" y="5230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2161C"/>
                </a:solidFill>
              </a:rPr>
              <a:t>Hoje não vamos aprofundar sintaxe. Vamos criar, rodar e comparar.</a:t>
            </a:r>
            <a:endParaRPr lang="en-US" sz="1650" dirty="0"/>
          </a:p>
        </p:txBody>
      </p:sp>
      <p:sp>
        <p:nvSpPr>
          <p:cNvPr id="19" name="Shape 15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Laboratório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começar: checklist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</a:rPr>
              <a:t>Evita perder a aula inteira com instalação.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14400" y="1874520"/>
            <a:ext cx="43891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078992" y="2039112"/>
            <a:ext cx="237744" cy="237744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83564" y="2043684"/>
            <a:ext cx="228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444752" y="20025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2161C"/>
                </a:solidFill>
              </a:rPr>
              <a:t>Android Studio</a:t>
            </a:r>
            <a:endParaRPr lang="en-US" sz="1420" dirty="0"/>
          </a:p>
        </p:txBody>
      </p:sp>
      <p:sp>
        <p:nvSpPr>
          <p:cNvPr id="13" name="Text 10"/>
          <p:cNvSpPr/>
          <p:nvPr/>
        </p:nvSpPr>
        <p:spPr>
          <a:xfrm>
            <a:off x="1444752" y="22402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A6472"/>
                </a:solidFill>
              </a:rPr>
              <a:t>para criar projeto Android nativo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914400" y="2834640"/>
            <a:ext cx="43891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1078992" y="2999232"/>
            <a:ext cx="237744" cy="237744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083564" y="3003804"/>
            <a:ext cx="228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444752" y="29626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2161C"/>
                </a:solidFill>
              </a:rPr>
              <a:t>Android SDK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1444752" y="32004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A6472"/>
                </a:solidFill>
              </a:rPr>
              <a:t>componentes da plataforma Android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914400" y="3794760"/>
            <a:ext cx="43891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78992" y="3959352"/>
            <a:ext cx="237744" cy="237744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083564" y="3963924"/>
            <a:ext cx="228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444752" y="39227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2161C"/>
                </a:solidFill>
              </a:rPr>
              <a:t>Node.js LTS</a:t>
            </a:r>
            <a:endParaRPr lang="en-US" sz="1420" dirty="0"/>
          </a:p>
        </p:txBody>
      </p:sp>
      <p:sp>
        <p:nvSpPr>
          <p:cNvPr id="23" name="Text 20"/>
          <p:cNvSpPr/>
          <p:nvPr/>
        </p:nvSpPr>
        <p:spPr>
          <a:xfrm>
            <a:off x="1444752" y="41605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A6472"/>
                </a:solidFill>
              </a:rPr>
              <a:t>necessário para projetos Expo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6400800" y="1874520"/>
            <a:ext cx="43891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6565392" y="2039112"/>
            <a:ext cx="237744" cy="237744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569964" y="2043684"/>
            <a:ext cx="228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931152" y="20025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2161C"/>
                </a:solidFill>
              </a:rPr>
              <a:t>VS Code</a:t>
            </a:r>
            <a:endParaRPr lang="en-US" sz="1420" dirty="0"/>
          </a:p>
        </p:txBody>
      </p:sp>
      <p:sp>
        <p:nvSpPr>
          <p:cNvPr id="28" name="Text 25"/>
          <p:cNvSpPr/>
          <p:nvPr/>
        </p:nvSpPr>
        <p:spPr>
          <a:xfrm>
            <a:off x="6931152" y="22402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A6472"/>
                </a:solidFill>
              </a:rPr>
              <a:t>editor para projeto React Native / Expo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6400800" y="2834640"/>
            <a:ext cx="43891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6565392" y="2999232"/>
            <a:ext cx="237744" cy="237744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6569964" y="3003804"/>
            <a:ext cx="228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931152" y="29626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2161C"/>
                </a:solidFill>
              </a:rPr>
              <a:t>Celular ou emulador</a:t>
            </a:r>
            <a:endParaRPr lang="en-US" sz="1420" dirty="0"/>
          </a:p>
        </p:txBody>
      </p:sp>
      <p:sp>
        <p:nvSpPr>
          <p:cNvPr id="33" name="Text 30"/>
          <p:cNvSpPr/>
          <p:nvPr/>
        </p:nvSpPr>
        <p:spPr>
          <a:xfrm>
            <a:off x="6931152" y="32004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A6472"/>
                </a:solidFill>
              </a:rPr>
              <a:t>para executar e visualizar o app</a:t>
            </a:r>
            <a:endParaRPr lang="en-US" sz="980" dirty="0"/>
          </a:p>
        </p:txBody>
      </p:sp>
      <p:sp>
        <p:nvSpPr>
          <p:cNvPr id="34" name="Shape 31"/>
          <p:cNvSpPr/>
          <p:nvPr/>
        </p:nvSpPr>
        <p:spPr>
          <a:xfrm>
            <a:off x="6400800" y="3794760"/>
            <a:ext cx="43891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6565392" y="3959352"/>
            <a:ext cx="237744" cy="237744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569964" y="3963924"/>
            <a:ext cx="228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931152" y="39227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2161C"/>
                </a:solidFill>
              </a:rPr>
              <a:t>Internet</a:t>
            </a:r>
            <a:endParaRPr lang="en-US" sz="1420" dirty="0"/>
          </a:p>
        </p:txBody>
      </p:sp>
      <p:sp>
        <p:nvSpPr>
          <p:cNvPr id="38" name="Text 35"/>
          <p:cNvSpPr/>
          <p:nvPr/>
        </p:nvSpPr>
        <p:spPr>
          <a:xfrm>
            <a:off x="6931152" y="41605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A6472"/>
                </a:solidFill>
              </a:rPr>
              <a:t>para criação do projeto Expo, se necessário</a:t>
            </a:r>
            <a:endParaRPr lang="en-US" sz="980" dirty="0"/>
          </a:p>
        </p:txBody>
      </p:sp>
      <p:sp>
        <p:nvSpPr>
          <p:cNvPr id="39" name="Shape 36"/>
          <p:cNvSpPr/>
          <p:nvPr/>
        </p:nvSpPr>
        <p:spPr>
          <a:xfrm>
            <a:off x="1463040" y="5257800"/>
            <a:ext cx="9235440" cy="502920"/>
          </a:xfrm>
          <a:prstGeom prst="roundRect">
            <a:avLst>
              <a:gd name="adj" fmla="val 21818"/>
            </a:avLst>
          </a:prstGeom>
          <a:solidFill>
            <a:srgbClr val="FFF9E6"/>
          </a:solidFill>
          <a:ln w="12700">
            <a:solidFill>
              <a:srgbClr val="F1D777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1737360" y="5413248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161C"/>
                </a:solidFill>
              </a:rPr>
              <a:t>Com turma grande, o ideal é deixar tudo instalado antes da aula.</a:t>
            </a:r>
            <a:endParaRPr lang="en-US" sz="1350" dirty="0"/>
          </a:p>
        </p:txBody>
      </p:sp>
      <p:sp>
        <p:nvSpPr>
          <p:cNvPr id="42" name="Shape 38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43" name="Text 39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Laboratório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Parte A — Criando um app nativo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</a:rPr>
              <a:t>Caminho mínimo no Android Studio.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180136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234440" y="190195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691640" y="17830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2161C"/>
                </a:solidFill>
              </a:rPr>
              <a:t>Abrir Android Studio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68680" y="230428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234440" y="240487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691640" y="22860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2161C"/>
                </a:solidFill>
              </a:rPr>
              <a:t>New Project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68680" y="280720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234440" y="290779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691640" y="27889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2161C"/>
                </a:solidFill>
              </a:rPr>
              <a:t>Empty Activity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68680" y="331012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234440" y="341071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691640" y="32918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2161C"/>
                </a:solidFill>
              </a:rPr>
              <a:t>Nome: PrimeiroAppNativo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868680" y="381304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234440" y="391363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691640" y="37947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2161C"/>
                </a:solidFill>
              </a:rPr>
              <a:t>Linguagem: Kotlin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868680" y="431596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6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234440" y="441655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691640" y="42976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2161C"/>
                </a:solidFill>
              </a:rPr>
              <a:t>Executar no emulador ou celular</a:t>
            </a:r>
            <a:endParaRPr lang="en-US" sz="1550" dirty="0"/>
          </a:p>
        </p:txBody>
      </p:sp>
      <p:sp>
        <p:nvSpPr>
          <p:cNvPr id="27" name="Shape 24"/>
          <p:cNvSpPr/>
          <p:nvPr/>
        </p:nvSpPr>
        <p:spPr>
          <a:xfrm>
            <a:off x="6812280" y="1828800"/>
            <a:ext cx="4160520" cy="2880360"/>
          </a:xfrm>
          <a:prstGeom prst="roundRect">
            <a:avLst>
              <a:gd name="adj" fmla="val 317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6995160" y="19568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F3D0"/>
                </a:solidFill>
              </a:rPr>
              <a:t>Kotlin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013448" y="2240280"/>
            <a:ext cx="37581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20">
                <a:solidFill>
                  <a:srgbClr val="E3E7EC"/>
                </a:solidFill>
                <a:latin typeface="Cascadia Mono"/>
              </a:rPr>
              <a:t>@Composable</a:t>
            </a:r>
            <a:endParaRPr lang="en-US" sz="1120" dirty="0"/>
          </a:p>
          <a:p>
            <a:r>
              <a:rPr sz="1120">
                <a:solidFill>
                  <a:srgbClr val="E3E7EC"/>
                </a:solidFill>
                <a:latin typeface="Cascadia Mono"/>
              </a:rPr>
              <a:t>fun Greeting(name: String) {</a:t>
            </a:r>
          </a:p>
          <a:p>
            <a:r>
              <a:rPr sz="1120">
                <a:solidFill>
                  <a:srgbClr val="E3E7EC"/>
                </a:solidFill>
                <a:latin typeface="Cascadia Mono"/>
              </a:rPr>
              <a:t>    Text(</a:t>
            </a:r>
          </a:p>
          <a:p>
            <a:r>
              <a:rPr sz="1120">
                <a:solidFill>
                  <a:srgbClr val="E3E7EC"/>
                </a:solidFill>
                <a:latin typeface="Cascadia Mono"/>
              </a:rPr>
              <a:t>        text = "Olá, $name!"</a:t>
            </a:r>
          </a:p>
          <a:p>
            <a:r>
              <a:rPr sz="1120">
                <a:solidFill>
                  <a:srgbClr val="E3E7EC"/>
                </a:solidFill>
                <a:latin typeface="Cascadia Mono"/>
              </a:rPr>
              <a:t>    )</a:t>
            </a:r>
          </a:p>
          <a:p>
            <a:r>
              <a:rPr sz="1120">
                <a:solidFill>
                  <a:srgbClr val="E3E7EC"/>
                </a:solidFill>
                <a:latin typeface="Cascadia Mono"/>
              </a:rPr>
              <a:t>}</a:t>
            </a:r>
          </a:p>
        </p:txBody>
      </p:sp>
      <p:sp>
        <p:nvSpPr>
          <p:cNvPr id="30" name="Text 27"/>
          <p:cNvSpPr/>
          <p:nvPr/>
        </p:nvSpPr>
        <p:spPr>
          <a:xfrm>
            <a:off x="6812280" y="49834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71920"/>
                </a:solidFill>
              </a:rPr>
              <a:t>Hoje: reconhecer a estrutura. Depois: entender cada parte.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Laboratório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Parte B — Criando um app híbrido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</a:rPr>
              <a:t>Caminho mínimo com React Native + Expo.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180136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234440" y="190195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691640" y="17830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2161C"/>
                </a:solidFill>
              </a:rPr>
              <a:t>Abrir terminal na pasta de projetos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68680" y="230428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234440" y="240487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691640" y="22860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550">
                <a:solidFill>
                  <a:srgbClr val="12161C"/>
                </a:solidFill>
              </a:rPr>
              <a:t>Executar: npx create-expo-app@latest</a:t>
            </a:r>
            <a:endParaRPr lang="en-US" sz="1550" dirty="0"/>
          </a:p>
          <a:p>
            <a:r>
              <a:rPr sz="1550">
                <a:solidFill>
                  <a:srgbClr val="12161C"/>
                </a:solidFill>
              </a:rPr>
              <a:t>--template blank</a:t>
            </a:r>
          </a:p>
        </p:txBody>
      </p:sp>
      <p:sp>
        <p:nvSpPr>
          <p:cNvPr id="15" name="Text 12"/>
          <p:cNvSpPr/>
          <p:nvPr/>
        </p:nvSpPr>
        <p:spPr>
          <a:xfrm>
            <a:off x="868680" y="280720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234440" y="290779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691640" y="27889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2161C"/>
                </a:solidFill>
              </a:rPr>
              <a:t>Abrir a pasta no VS Code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68680" y="331012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234440" y="341071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691640" y="32918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2161C"/>
                </a:solidFill>
              </a:rPr>
              <a:t>Executar: npx expo start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868680" y="381304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234440" y="391363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691640" y="37947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2161C"/>
                </a:solidFill>
              </a:rPr>
              <a:t>Abrir no celular com Expo Go ou emulador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868680" y="431596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920"/>
                </a:solidFill>
              </a:rPr>
              <a:t>6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234440" y="4416552"/>
            <a:ext cx="320040" cy="0"/>
          </a:xfrm>
          <a:prstGeom prst="line">
            <a:avLst/>
          </a:prstGeom>
          <a:noFill/>
          <a:ln w="1905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691640" y="42976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2161C"/>
                </a:solidFill>
              </a:rPr>
              <a:t>Observar estrutura e comparar</a:t>
            </a:r>
            <a:endParaRPr lang="en-US" sz="1550" dirty="0"/>
          </a:p>
        </p:txBody>
      </p:sp>
      <p:sp>
        <p:nvSpPr>
          <p:cNvPr id="27" name="Shape 24"/>
          <p:cNvSpPr/>
          <p:nvPr/>
        </p:nvSpPr>
        <p:spPr>
          <a:xfrm>
            <a:off x="6812280" y="1828800"/>
            <a:ext cx="4160520" cy="2880360"/>
          </a:xfrm>
          <a:prstGeom prst="roundRect">
            <a:avLst>
              <a:gd name="adj" fmla="val 317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6995160" y="19568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F3D0"/>
                </a:solidFill>
              </a:rPr>
              <a:t>React Native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013448" y="2240280"/>
            <a:ext cx="37581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3E7E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import { Text, View } from 'react-native';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3E7E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export default function App() 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3E7E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return (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3E7E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&lt;View&gt;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3E7E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&lt;Text&gt;Olá, Mobile!&lt;/Text&gt;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3E7E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&lt;/View&gt;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3E7E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);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3E7E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120" dirty="0"/>
          </a:p>
        </p:txBody>
      </p:sp>
      <p:sp>
        <p:nvSpPr>
          <p:cNvPr id="30" name="Text 27"/>
          <p:cNvSpPr/>
          <p:nvPr/>
        </p:nvSpPr>
        <p:spPr>
          <a:xfrm>
            <a:off x="6812280" y="49834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71920"/>
                </a:solidFill>
              </a:rPr>
              <a:t>Hoje: executar e comparar. Depois: componentes, estado e eventos.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Laboratório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Comparando os dois projetos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</a:rPr>
              <a:t>O usuário pode ver algo parecido. O desenvolvedor vê caminhos diferentes.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2880360" y="1828800"/>
            <a:ext cx="24688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3127248" y="21214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71920"/>
                </a:solidFill>
              </a:rPr>
              <a:t>Projeto nativo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3154680" y="267004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2161C"/>
                </a:solidFill>
              </a:rPr>
              <a:t>Android Studio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161C"/>
                </a:solidFill>
              </a:rPr>
              <a:t>Kotlin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161C"/>
                </a:solidFill>
              </a:rPr>
              <a:t>Android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903720" y="1828800"/>
            <a:ext cx="24688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150608" y="21214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71920"/>
                </a:solidFill>
              </a:rPr>
              <a:t>Projeto híbrido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7178040" y="263347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2161C"/>
                </a:solidFill>
              </a:rPr>
              <a:t>VS Code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161C"/>
                </a:solidFill>
              </a:rPr>
              <a:t>JavaScript/TS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161C"/>
                </a:solidFill>
              </a:rPr>
              <a:t>React Native / Expo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468880" y="3200400"/>
            <a:ext cx="411480" cy="0"/>
          </a:xfrm>
          <a:prstGeom prst="line">
            <a:avLst/>
          </a:prstGeom>
          <a:noFill/>
          <a:ln w="25400">
            <a:solidFill>
              <a:srgbClr val="5D667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5349240" y="3200400"/>
            <a:ext cx="1554480" cy="0"/>
          </a:xfrm>
          <a:prstGeom prst="line">
            <a:avLst/>
          </a:prstGeom>
          <a:noFill/>
          <a:ln w="25400">
            <a:solidFill>
              <a:srgbClr val="5D667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372600" y="3200400"/>
            <a:ext cx="274320" cy="0"/>
          </a:xfrm>
          <a:prstGeom prst="line">
            <a:avLst/>
          </a:prstGeom>
          <a:noFill/>
          <a:ln w="25400">
            <a:solidFill>
              <a:srgbClr val="5D667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234440" y="51663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161C"/>
                </a:solidFill>
              </a:rPr>
              <a:t>Pergunta final: se o resultado visual é parecido, o que muda para quem desenvolve?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20</a:t>
            </a:r>
            <a:endParaRPr lang="en-US" sz="850" dirty="0"/>
          </a:p>
        </p:txBody>
      </p:sp>
      <p:sp>
        <p:nvSpPr>
          <p:cNvPr id="33" name="Rounded Rectangle 32"/>
          <p:cNvSpPr/>
          <p:nvPr/>
        </p:nvSpPr>
        <p:spPr>
          <a:xfrm>
            <a:off x="1112892" y="1920240"/>
            <a:ext cx="1248936" cy="2560320"/>
          </a:xfrm>
          <a:prstGeom prst="roundRect">
            <a:avLst>
              <a:gd name="adj" fmla="val 14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175338" y="1982686"/>
            <a:ext cx="1124044" cy="2435428"/>
          </a:xfrm>
          <a:prstGeom prst="roundRect">
            <a:avLst>
              <a:gd name="adj" fmla="val 11000"/>
            </a:avLst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50020" y="2019262"/>
            <a:ext cx="374680" cy="64008"/>
          </a:xfrm>
          <a:prstGeom prst="roundRect">
            <a:avLst>
              <a:gd name="adj" fmla="val 50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1452" y="3379622"/>
            <a:ext cx="14318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Olá, Mobile!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452" y="3712464"/>
            <a:ext cx="14318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9AA4B2"/>
                </a:solidFill>
                <a:latin typeface="Cascadia Mono"/>
              </a:rPr>
              <a:t>Nativo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08252" y="1920240"/>
            <a:ext cx="1248936" cy="2560320"/>
          </a:xfrm>
          <a:prstGeom prst="roundRect">
            <a:avLst>
              <a:gd name="adj" fmla="val 14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770698" y="1982686"/>
            <a:ext cx="1124044" cy="2435428"/>
          </a:xfrm>
          <a:prstGeom prst="roundRect">
            <a:avLst>
              <a:gd name="adj" fmla="val 11000"/>
            </a:avLst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145380" y="2019262"/>
            <a:ext cx="374680" cy="64008"/>
          </a:xfrm>
          <a:prstGeom prst="roundRect">
            <a:avLst>
              <a:gd name="adj" fmla="val 50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16812" y="3379622"/>
            <a:ext cx="14318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Olá, Mobile!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16812" y="3712464"/>
            <a:ext cx="14318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9AA4B2"/>
                </a:solidFill>
                <a:latin typeface="Cascadia Mono"/>
              </a:rPr>
              <a:t>Híbrido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5138928"/>
            <a:ext cx="10469880" cy="786384"/>
          </a:xfrm>
          <a:prstGeom prst="roundRect">
            <a:avLst>
              <a:gd name="adj" fmla="val 6000"/>
            </a:avLst>
          </a:prstGeom>
          <a:solidFill>
            <a:srgbClr val="FFF6F6"/>
          </a:solidFill>
          <a:ln w="12700">
            <a:solidFill>
              <a:srgbClr val="F3C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7280" y="526694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71920"/>
                </a:solidFill>
                <a:latin typeface="Cascadia Mono"/>
              </a:rPr>
              <a:t>TEMPO ATÉ A PRIMEIRA TELA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5522976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61C"/>
                </a:solidFill>
                <a:latin typeface="Aptos"/>
              </a:rPr>
              <a:t>Nativo: minutos (build do Gradle)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5522976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61C"/>
                </a:solidFill>
                <a:latin typeface="Aptos"/>
              </a:rPr>
              <a:t>Expo: segundos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526694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A6472"/>
                </a:solidFill>
                <a:latin typeface="Cascadia Mono"/>
              </a:rPr>
              <a:t>É O QUE VOCÊS SENTIRAM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38912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88920" y="210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</a:rPr>
              <a:t>Desenvolvimento Mobile</a:t>
            </a:r>
            <a:endParaRPr lang="en-US" sz="950" dirty="0"/>
          </a:p>
        </p:txBody>
      </p:sp>
      <p:pic>
        <p:nvPicPr>
          <p:cNvPr id="6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28016"/>
            <a:ext cx="987552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Fechamento da aula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1325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</a:rPr>
              <a:t>Registrar o que ficou claro e preparar a próxima aula.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1920"/>
                </a:solidFill>
              </a:rPr>
              <a:t>Responda individualmente: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60120" y="2432304"/>
            <a:ext cx="109728" cy="109728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188720" y="23774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2161C"/>
                </a:solidFill>
              </a:rPr>
              <a:t>Qual diferença você percebeu entre web e mobile?</a:t>
            </a:r>
            <a:endParaRPr lang="en-US" sz="1520" dirty="0"/>
          </a:p>
        </p:txBody>
      </p:sp>
      <p:sp>
        <p:nvSpPr>
          <p:cNvPr id="12" name="Shape 9"/>
          <p:cNvSpPr/>
          <p:nvPr/>
        </p:nvSpPr>
        <p:spPr>
          <a:xfrm>
            <a:off x="960120" y="2935224"/>
            <a:ext cx="109728" cy="109728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188720" y="28803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2161C"/>
                </a:solidFill>
              </a:rPr>
              <a:t>O que é um aplicativo nativo?</a:t>
            </a:r>
            <a:endParaRPr lang="en-US" sz="1520" dirty="0"/>
          </a:p>
        </p:txBody>
      </p:sp>
      <p:sp>
        <p:nvSpPr>
          <p:cNvPr id="14" name="Shape 11"/>
          <p:cNvSpPr/>
          <p:nvPr/>
        </p:nvSpPr>
        <p:spPr>
          <a:xfrm>
            <a:off x="960120" y="3438144"/>
            <a:ext cx="109728" cy="109728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88720" y="33832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2161C"/>
                </a:solidFill>
              </a:rPr>
              <a:t>O que é um aplicativo híbrido/multiplataforma?</a:t>
            </a:r>
            <a:endParaRPr lang="en-US" sz="1520" dirty="0"/>
          </a:p>
        </p:txBody>
      </p:sp>
      <p:sp>
        <p:nvSpPr>
          <p:cNvPr id="16" name="Shape 13"/>
          <p:cNvSpPr/>
          <p:nvPr/>
        </p:nvSpPr>
        <p:spPr>
          <a:xfrm>
            <a:off x="960120" y="3941064"/>
            <a:ext cx="109728" cy="109728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188720" y="3886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2161C"/>
                </a:solidFill>
              </a:rPr>
              <a:t>Qual parte do laboratório gerou mais dúvida?</a:t>
            </a:r>
            <a:endParaRPr lang="en-US" sz="1520" dirty="0"/>
          </a:p>
        </p:txBody>
      </p:sp>
      <p:sp>
        <p:nvSpPr>
          <p:cNvPr id="18" name="Shape 15"/>
          <p:cNvSpPr/>
          <p:nvPr/>
        </p:nvSpPr>
        <p:spPr>
          <a:xfrm>
            <a:off x="960120" y="4443984"/>
            <a:ext cx="109728" cy="109728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188720" y="43891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2161C"/>
                </a:solidFill>
              </a:rPr>
              <a:t>Que tipo de app você gostaria de desenvolver durante a disciplina?</a:t>
            </a:r>
            <a:endParaRPr lang="en-US" sz="1520" dirty="0"/>
          </a:p>
        </p:txBody>
      </p:sp>
      <p:sp>
        <p:nvSpPr>
          <p:cNvPr id="20" name="Shape 17"/>
          <p:cNvSpPr/>
          <p:nvPr/>
        </p:nvSpPr>
        <p:spPr>
          <a:xfrm>
            <a:off x="9098280" y="1783080"/>
            <a:ext cx="2011680" cy="3566160"/>
          </a:xfrm>
          <a:prstGeom prst="roundRect">
            <a:avLst>
              <a:gd name="adj" fmla="val 8182"/>
            </a:avLst>
          </a:prstGeom>
          <a:solidFill>
            <a:srgbClr val="FFF9E6"/>
          </a:solidFill>
          <a:ln w="12700">
            <a:solidFill>
              <a:srgbClr val="F1D777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937260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71920"/>
                </a:solidFill>
              </a:rPr>
              <a:t>Próxima aula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9372600" y="2743200"/>
            <a:ext cx="14630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2161C"/>
                </a:solidFill>
              </a:rPr>
              <a:t>Fundamentos para começar a desenvolver no ecossistema Android.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D322"/>
          </a:solidFill>
          <a:ln w="12700">
            <a:solidFill>
              <a:srgbClr val="FFD322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mnt/data/logo_mesquita_sty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502920"/>
            <a:ext cx="2103120" cy="146304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21792" y="6455664"/>
            <a:ext cx="11018520" cy="0"/>
          </a:xfrm>
          <a:prstGeom prst="line">
            <a:avLst/>
          </a:prstGeom>
          <a:noFill/>
          <a:ln w="12700">
            <a:solidFill>
              <a:srgbClr val="E7E4DE"/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621792" y="6537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Emanuel Nascente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1106424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850" b="1">
                <a:solidFill>
                  <a:srgbClr val="5A6472"/>
                </a:solidFill>
              </a:rPr>
              <a:t>22</a:t>
            </a:r>
            <a:endParaRPr lang="en-US" sz="850" dirty="0"/>
          </a:p>
        </p:txBody>
      </p:sp>
      <p:pic>
        <p:nvPicPr>
          <p:cNvPr id="31" name="Picture 30" descr="javascri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213" y="2770632"/>
            <a:ext cx="481732" cy="481732"/>
          </a:xfrm>
          <a:prstGeom prst="rect">
            <a:avLst/>
          </a:prstGeom>
        </p:spPr>
      </p:pic>
      <p:pic>
        <p:nvPicPr>
          <p:cNvPr id="37" name="Picture 36" descr="kotl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373" y="2770632"/>
            <a:ext cx="481732" cy="481732"/>
          </a:xfrm>
          <a:prstGeom prst="rect">
            <a:avLst/>
          </a:prstGeom>
        </p:spPr>
      </p:pic>
      <p:pic>
        <p:nvPicPr>
          <p:cNvPr id="43" name="Picture 42" descr="rea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7533" y="2770632"/>
            <a:ext cx="481732" cy="48173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68680" y="123444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2161C"/>
                </a:solidFill>
                <a:latin typeface="Aptos"/>
              </a:rPr>
              <a:t>Obrigado!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205740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6472"/>
                </a:solidFill>
                <a:latin typeface="Aptos"/>
              </a:rPr>
              <a:t>Dúvidas, comentários ou dificuldades do laboratório?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" y="2788920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29992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71920"/>
                </a:solidFill>
                <a:latin typeface="Cascadia Mono"/>
              </a:rPr>
              <a:t>NA PRÓXIMA AULA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3337560"/>
            <a:ext cx="45720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2161C"/>
                </a:solidFill>
                <a:latin typeface="Aptos"/>
              </a:rPr>
              <a:t>Fundamentos do ecossistema Android</a:t>
            </a:r>
          </a:p>
          <a:p>
            <a:pPr algn="l"/>
            <a:r>
              <a:rPr sz="1250" b="0">
                <a:solidFill>
                  <a:srgbClr val="12161C"/>
                </a:solidFill>
                <a:latin typeface="Aptos"/>
              </a:rPr>
              <a:t/>
            </a:r>
          </a:p>
          <a:p>
            <a:pPr algn="l"/>
            <a:r>
              <a:rPr sz="1250" b="0">
                <a:solidFill>
                  <a:srgbClr val="12161C"/>
                </a:solidFill>
                <a:latin typeface="Aptos"/>
              </a:rPr>
              <a:t>• Estrutura de um projeto</a:t>
            </a:r>
          </a:p>
          <a:p>
            <a:pPr algn="l"/>
            <a:r>
              <a:rPr sz="1250" b="0">
                <a:solidFill>
                  <a:srgbClr val="12161C"/>
                </a:solidFill>
                <a:latin typeface="Aptos"/>
              </a:rPr>
              <a:t>• Kotlin: o básico que vamos usar</a:t>
            </a:r>
          </a:p>
          <a:p>
            <a:pPr algn="l"/>
            <a:r>
              <a:rPr sz="1250" b="0">
                <a:solidFill>
                  <a:srgbClr val="12161C"/>
                </a:solidFill>
                <a:latin typeface="Aptos"/>
              </a:rPr>
              <a:t>• Primeira tela de verdade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2788920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FFF9E6"/>
          </a:solidFill>
          <a:ln w="12700">
            <a:solidFill>
              <a:srgbClr val="F1D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60" y="29992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8A6D00"/>
                </a:solidFill>
                <a:latin typeface="Cascadia Mono"/>
              </a:rPr>
              <a:t>PARA PENSAR ATÉ LÁ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3337560"/>
            <a:ext cx="45720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2161C"/>
                </a:solidFill>
                <a:latin typeface="Aptos"/>
              </a:rPr>
              <a:t>Escolha um app que você usa todo dia.</a:t>
            </a:r>
          </a:p>
          <a:p>
            <a:pPr algn="l"/>
            <a:r>
              <a:rPr sz="1250" b="0">
                <a:solidFill>
                  <a:srgbClr val="12161C"/>
                </a:solidFill>
                <a:latin typeface="Aptos"/>
              </a:rPr>
              <a:t/>
            </a:r>
          </a:p>
          <a:p>
            <a:pPr algn="l"/>
            <a:r>
              <a:rPr sz="1250" b="0">
                <a:solidFill>
                  <a:srgbClr val="12161C"/>
                </a:solidFill>
                <a:latin typeface="Aptos"/>
              </a:rPr>
              <a:t>Ele precisaria ser nativo?</a:t>
            </a:r>
          </a:p>
          <a:p>
            <a:pPr algn="l"/>
            <a:r>
              <a:rPr sz="1250" b="0">
                <a:solidFill>
                  <a:srgbClr val="12161C"/>
                </a:solidFill>
                <a:latin typeface="Aptos"/>
              </a:rPr>
              <a:t>Qual requisito faria você mudar</a:t>
            </a:r>
          </a:p>
          <a:p>
            <a:pPr algn="l"/>
            <a:r>
              <a:rPr sz="1250" b="0">
                <a:solidFill>
                  <a:srgbClr val="12161C"/>
                </a:solidFill>
                <a:latin typeface="Aptos"/>
              </a:rPr>
              <a:t>de ideia?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Escola Técnica Mesquita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01 — Introdução ao Desenvolvimento Mobile</dc:title>
  <dc:subject>Aula 01 - Desenvolvimento Mobile</dc:subject>
  <dc:creator>Emanuel Nascente</dc:creator>
  <cp:lastModifiedBy>Emanuel Nascente</cp:lastModifiedBy>
  <cp:revision>1</cp:revision>
  <dcterms:created xsi:type="dcterms:W3CDTF">2026-08-28T16:19:05Z</dcterms:created>
  <dcterms:modified xsi:type="dcterms:W3CDTF">2026-08-28T16:19:05Z</dcterms:modified>
</cp:coreProperties>
</file>